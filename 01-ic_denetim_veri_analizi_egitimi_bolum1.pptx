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Açılışta şunu söyleyin: Bu eğitim iki günde kimseyi veri bilimci yapma iddiasında değil. Ama iki gün sonunda denetçinin kafasında çok net bir rota oluşabilir: hangi veri nerede duruyor, Python/Jupyter ile nasıl izlenebilir bir analiz zinciri kurulur, yapay zekâdan hangi noktada destek alınır, hangi noktada denetçi muhakemesi gerekir. Bugünkü bölüm uygulamasız; kavramları ve zihni modeli kuruyoruz.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beklentiyi doğru ayarlayın. Katılımcıların çoğu 'kod' kelimesiyle ürkebilir. Vurgu şu olsun: Amaç kod yazarı olmak değil, denetim muhakemesini verinin üzerine daha sistematik bindirmek. Bu iki günde yöntemleri tanıyıp, sonraki pratiklerde Python/Jupyter ile adım adım uygulayacağız.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 istatistiği küçümsemeyin. Tam tersine: istatistik denetçiye şüpheciliği öğretir. Veri analizi ise ham kayıttan kanıt zinciri kurmayı öğretir. Denetimde çoğu zaman ilk ihtiyaç “p değeri” değil, veri kaynaklarını birleştirip istisnayı görülebilir hale getirmektir.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ilgiyi artırmak için. ACFE raporundaki sayılar, suistimalin soyut değil çok yaygın ve gerçek bir denetim konusu olduğunu gösterir. Benford örneği “matematik işe yarar mı?” sorusuna iyi cevap verir. ATO örneği ise kendi çalışmanızdan somut görsel köprü sağlar.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Denetimde veri analizini “bulgu makinesi” diye sunmak risklidir. Daha doğru ifade: veri analizi denetçiye nereye bakacağını daha iyi gösterir. Şüpheyi ispat etmez; ama şüpheyi akıllı ve belgelenebilir hale getirir.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Python’un gücünü anlatırken “zor bir yazılım dili” değil, denetçinin masasına koyduğu çok amaçlı bir tezgâh gibi anlatın. Excel hâlâ değerli; ama Python, adımları kaydedilebilir ve tekrar edilebilir hale getirir. Yapay zekâ çağında Python ayrıca yapay zekânın ürettiği kodları çalıştırabileceğimiz, test edebileceğimiz ve kurumsal hale getirebileceğimiz bir alan sunar.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Kütüphane isimleri katılımcıyı boğmasın. Bu slaytta her şey iş akışı üzerinden anlatılmalı. Pandas veri tablosu gibi düşünülür. RapidFuzz benzer isimleri yakalar. NetworkX ilişki ağı kurar. Matplotlib/Plotly görsel üretir. LLM/AI ise kod yazma ve ilk yorum taslağında destek olur; karar mercii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 dengeli konuşun. “AI her şeyi çözer” demek de yanlış, “AI tehlikelidir uzak duralım” demek de eksik. En iyi çerçeve: AI taslak ve hız sağlar; denetçi ise veri güvenliği, iş kuralı, kanıt standardı ve nihai yorumdan sorumludur.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Jupyter için en kritik vurgu izlenebilirlik. Markdown gibi detayları uygulamalı kısımda anlatacağınızı söyleyin. Bugün kavram önemli: Jupyter, analiz sürecinin defteri ve kanıt yoludur. Denetim açısından “hangi adımı neden yaptın?” sorusuna cevap üretir.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Colab'ı “kolay deneme alanı” olarak anlatın. Kurulum gerektirmemesi büyük avantajdır. Ancak kurum verisi, kişisel veri ve gizli belge varsa doğrudan buluta yüklemek doğru olmayabilir. Bu yüzden eğitimde bazı örnekleri Colab mantığıyla anlatabiliriz, ama gerçek denetim verisinde kurum politikasına bağlı kalacağız.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görsel sizin eski ATO dış ticaret analizi çalışmanızdan. Gmail’de “ATO Dış Ticaret Analizi” başlıklı 2023 tarihli gönderide ağ diyagramı ve interaktif ihracat haritası eki bulundu. Harita ekinde Ashgabat, Baku, Riyadh, Tbilisi, Erbil, Tehran, Baghdad, Doha, Dubai gibi şehirler görülüyor. Buradan denetime geçiş: aynı mantık firma-ülke yerine tedarikçi-ortak-yönetici-ödeme-sözleşme ilişkilerine uygulanır.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Eğer sözlü bölüm kısa kalırsa bu slayttan sonra ilk denetim tekniklerine giriş yapılabilir. Bu eğitimde bu tekniklerin tamamını kodlayarak göstermek mümkün olmayabilir; ama yol haritasını verirseniz katılımcı “ben bunu kendi denetimimde hangi veriye uygularım?” diye düşünmeye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Aykırı değer anlatımında önemli cümle: anomali suç değildir. Ama denetim kaynakları sınırlıysa, anomali önceliklendirme sağlar. Harcama, ödeme, izin, stok, fiyat, zaman damgası ve onay zinciri gibi alanlarda iyi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 “Bernard” değil Benford Yasası olduğunu yumuşakça doğru kullanın. Benford, tek başına hile ispatı değildir. Denetim testidir; beklenen dağılımla gözlenen dağılım arasındaki sapma, daha fazla inceleme gerektiren alanı gösterir. Kısıtları özellikle söylemek güven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Fuzzy match, yazım farklılıklarını yakalamak için; semantic search ise anlamca yakın metinleri bulmak için kullanılır. Denetimde sözleşme, açıklama, açıklamalı ödeme, tedarikçi adı, adres ve unvan alanlarında çok değerlidir.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 analizinde düğüm kişi, firma, adres, banka hesabı, telefon, ihale, fatura olabilir. Kenar ise ortaklık, yönetim, ödeme, aynı adres, aynı IBAN, aynı telefon gibi ilişkilerdir. Denetçi açısından en kıymetli nokta: tekil işlem normal görünürken ilişki ağı olağandışı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Kapanışta katılımcılara güven verin. “Bütün konular bugün bitmeyecek. Ama bugün zihinsel haritayı kuracağız. Uygulama bölümünde küçük adımlarla Python ve Jupyter kullanarak bu teknikleri çalıştıracağız. Yapay zekâyı da hem öğrenme hem geliştirme yardımcısı olarak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sunum sırasında geçilmeyebilir; ancak dosyada kalması yararlı. Kaynakları son slaytta tutmak sunumun güvenilirliğini artırır ve “AI kokusu” yerine emek verilmiş, derli toplu bir eğitim materyali izlenimi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85800" y="731520"/>
            <a:ext cx="6217920" cy="1417320"/>
          </a:xfrm>
          <a:prstGeom prst="rect">
            <a:avLst/>
          </a:prstGeom>
          <a:noFill/>
          <a:ln/>
        </p:spPr>
        <p:txBody>
          <a:bodyPr wrap="square" lIns="0" tIns="0" rIns="0" bIns="0" rtlCol="0" anchor="ctr">
            <a:normAutofit/>
          </a:bodyPr>
          <a:lstStyle/>
          <a:p>
            <a:pPr indent="0" marL="0">
              <a:buNone/>
            </a:pPr>
            <a:r>
              <a:rPr lang="en-US" sz="4900" b="1" dirty="0">
                <a:solidFill>
                  <a:srgbClr val="FFFFFF"/>
                </a:solidFill>
                <a:latin typeface="Aptos Display" pitchFamily="34" charset="0"/>
                <a:ea typeface="Aptos Display" pitchFamily="34" charset="-122"/>
                <a:cs typeface="Aptos Display" pitchFamily="34" charset="-120"/>
              </a:rPr>
              <a:t>Denetimde</a:t>
            </a:r>
            <a:endParaRPr lang="en-US" sz="4900" dirty="0"/>
          </a:p>
          <a:p>
            <a:pPr indent="0" marL="0">
              <a:buNone/>
            </a:pPr>
            <a:r>
              <a:rPr lang="en-US" sz="4900" b="1" dirty="0">
                <a:solidFill>
                  <a:srgbClr val="FFFFFF"/>
                </a:solidFill>
                <a:latin typeface="Aptos Display" pitchFamily="34" charset="0"/>
                <a:ea typeface="Aptos Display" pitchFamily="34" charset="-122"/>
                <a:cs typeface="Aptos Display" pitchFamily="34" charset="-120"/>
              </a:rPr>
              <a:t>Veri Analizi</a:t>
            </a:r>
            <a:endParaRPr lang="en-US" sz="4900" dirty="0"/>
          </a:p>
        </p:txBody>
      </p:sp>
      <p:sp>
        <p:nvSpPr>
          <p:cNvPr id="3" name="Shape 1"/>
          <p:cNvSpPr/>
          <p:nvPr/>
        </p:nvSpPr>
        <p:spPr>
          <a:xfrm>
            <a:off x="713232" y="2487168"/>
            <a:ext cx="1920240" cy="0"/>
          </a:xfrm>
          <a:prstGeom prst="line">
            <a:avLst/>
          </a:prstGeom>
          <a:noFill/>
          <a:ln w="50800">
            <a:solidFill>
              <a:srgbClr val="079EA4"/>
            </a:solidFill>
            <a:prstDash val="solid"/>
          </a:ln>
        </p:spPr>
      </p:sp>
      <p:sp>
        <p:nvSpPr>
          <p:cNvPr id="4" name="Text 2"/>
          <p:cNvSpPr/>
          <p:nvPr/>
        </p:nvSpPr>
        <p:spPr>
          <a:xfrm>
            <a:off x="731520" y="2816352"/>
            <a:ext cx="5943600" cy="310896"/>
          </a:xfrm>
          <a:prstGeom prst="rect">
            <a:avLst/>
          </a:prstGeom>
          <a:noFill/>
          <a:ln/>
        </p:spPr>
        <p:txBody>
          <a:bodyPr wrap="square" lIns="0" tIns="0" rIns="0" bIns="0" rtlCol="0" anchor="ctr"/>
          <a:lstStyle/>
          <a:p>
            <a:pPr indent="0" marL="0">
              <a:buNone/>
            </a:pPr>
            <a:r>
              <a:rPr lang="en-US" sz="1800" dirty="0">
                <a:solidFill>
                  <a:srgbClr val="DFF6F4"/>
                </a:solidFill>
              </a:rPr>
              <a:t>Python, Jupyter ve yeni denetçi kasları</a:t>
            </a:r>
            <a:endParaRPr lang="en-US" sz="1800" dirty="0"/>
          </a:p>
        </p:txBody>
      </p:sp>
      <p:sp>
        <p:nvSpPr>
          <p:cNvPr id="5" name="Text 3"/>
          <p:cNvSpPr/>
          <p:nvPr/>
        </p:nvSpPr>
        <p:spPr>
          <a:xfrm>
            <a:off x="731520" y="5349240"/>
            <a:ext cx="5669280" cy="594360"/>
          </a:xfrm>
          <a:prstGeom prst="rect">
            <a:avLst/>
          </a:prstGeom>
          <a:noFill/>
          <a:ln/>
        </p:spPr>
        <p:txBody>
          <a:bodyPr wrap="square" lIns="0" tIns="0" rIns="0" bIns="0" rtlCol="0" anchor="ctr">
            <a:normAutofit/>
          </a:bodyPr>
          <a:lstStyle/>
          <a:p>
            <a:pPr indent="0" marL="0">
              <a:buNone/>
            </a:pPr>
            <a:r>
              <a:rPr lang="en-US" sz="1350" dirty="0">
                <a:solidFill>
                  <a:srgbClr val="C6D3E1"/>
                </a:solidFill>
              </a:rPr>
              <a:t>İç Denetim Koordinatörlüğü</a:t>
            </a:r>
            <a:endParaRPr lang="en-US" sz="1350" dirty="0"/>
          </a:p>
          <a:p>
            <a:pPr indent="0" marL="0">
              <a:buNone/>
            </a:pPr>
            <a:r>
              <a:rPr lang="en-US" sz="1350" dirty="0">
                <a:solidFill>
                  <a:srgbClr val="C6D3E1"/>
                </a:solidFill>
              </a:rPr>
              <a:t>2 günlük eğitim — 1. bölüm / uygulamasız sözel açılış</a:t>
            </a:r>
            <a:endParaRPr lang="en-US" sz="1350" dirty="0"/>
          </a:p>
        </p:txBody>
      </p:sp>
      <p:sp>
        <p:nvSpPr>
          <p:cNvPr id="6" name="Shape 4"/>
          <p:cNvSpPr/>
          <p:nvPr/>
        </p:nvSpPr>
        <p:spPr>
          <a:xfrm>
            <a:off x="8156448" y="1161288"/>
            <a:ext cx="2423160" cy="640080"/>
          </a:xfrm>
          <a:prstGeom prst="line">
            <a:avLst/>
          </a:prstGeom>
          <a:noFill/>
          <a:ln w="17780">
            <a:solidFill>
              <a:srgbClr val="85E4DF">
                <a:alpha val="65000"/>
              </a:srgbClr>
            </a:solidFill>
            <a:prstDash val="solid"/>
            <a:headEnd type="none"/>
            <a:tailEnd type="triangle"/>
          </a:ln>
        </p:spPr>
      </p:sp>
      <p:sp>
        <p:nvSpPr>
          <p:cNvPr id="7" name="Shape 5"/>
          <p:cNvSpPr/>
          <p:nvPr/>
        </p:nvSpPr>
        <p:spPr>
          <a:xfrm>
            <a:off x="10579608" y="1801368"/>
            <a:ext cx="-1325880" cy="1463040"/>
          </a:xfrm>
          <a:prstGeom prst="line">
            <a:avLst/>
          </a:prstGeom>
          <a:noFill/>
          <a:ln w="17780">
            <a:solidFill>
              <a:srgbClr val="85E4DF">
                <a:alpha val="65000"/>
              </a:srgbClr>
            </a:solidFill>
            <a:prstDash val="solid"/>
            <a:headEnd type="none"/>
            <a:tailEnd type="triangle"/>
          </a:ln>
        </p:spPr>
      </p:sp>
      <p:sp>
        <p:nvSpPr>
          <p:cNvPr id="8" name="Shape 6"/>
          <p:cNvSpPr/>
          <p:nvPr/>
        </p:nvSpPr>
        <p:spPr>
          <a:xfrm>
            <a:off x="9253728" y="3264408"/>
            <a:ext cx="1554480" cy="1554480"/>
          </a:xfrm>
          <a:prstGeom prst="line">
            <a:avLst/>
          </a:prstGeom>
          <a:noFill/>
          <a:ln w="17780">
            <a:solidFill>
              <a:srgbClr val="85E4DF">
                <a:alpha val="65000"/>
              </a:srgbClr>
            </a:solidFill>
            <a:prstDash val="solid"/>
            <a:headEnd type="none"/>
            <a:tailEnd type="triangle"/>
          </a:ln>
        </p:spPr>
      </p:sp>
      <p:sp>
        <p:nvSpPr>
          <p:cNvPr id="9" name="Shape 7"/>
          <p:cNvSpPr/>
          <p:nvPr/>
        </p:nvSpPr>
        <p:spPr>
          <a:xfrm>
            <a:off x="9253728" y="3264408"/>
            <a:ext cx="-1463040" cy="2011680"/>
          </a:xfrm>
          <a:prstGeom prst="line">
            <a:avLst/>
          </a:prstGeom>
          <a:noFill/>
          <a:ln w="17780">
            <a:solidFill>
              <a:srgbClr val="85E4DF">
                <a:alpha val="65000"/>
              </a:srgbClr>
            </a:solidFill>
            <a:prstDash val="solid"/>
            <a:headEnd type="none"/>
            <a:tailEnd type="triangle"/>
          </a:ln>
        </p:spPr>
      </p:sp>
      <p:sp>
        <p:nvSpPr>
          <p:cNvPr id="10" name="Shape 8"/>
          <p:cNvSpPr/>
          <p:nvPr/>
        </p:nvSpPr>
        <p:spPr>
          <a:xfrm>
            <a:off x="8156448" y="1161288"/>
            <a:ext cx="1097280" cy="2103120"/>
          </a:xfrm>
          <a:prstGeom prst="line">
            <a:avLst/>
          </a:prstGeom>
          <a:noFill/>
          <a:ln w="17780">
            <a:solidFill>
              <a:srgbClr val="85E4DF">
                <a:alpha val="65000"/>
              </a:srgbClr>
            </a:solidFill>
            <a:prstDash val="solid"/>
            <a:headEnd type="none"/>
            <a:tailEnd type="triangle"/>
          </a:ln>
        </p:spPr>
      </p:sp>
      <p:sp>
        <p:nvSpPr>
          <p:cNvPr id="11" name="Shape 9"/>
          <p:cNvSpPr/>
          <p:nvPr/>
        </p:nvSpPr>
        <p:spPr>
          <a:xfrm>
            <a:off x="7790688" y="5276088"/>
            <a:ext cx="3017520" cy="-457200"/>
          </a:xfrm>
          <a:prstGeom prst="line">
            <a:avLst/>
          </a:prstGeom>
          <a:noFill/>
          <a:ln w="17780">
            <a:solidFill>
              <a:srgbClr val="85E4DF">
                <a:alpha val="65000"/>
              </a:srgbClr>
            </a:solidFill>
            <a:prstDash val="solid"/>
            <a:headEnd type="none"/>
            <a:tailEnd type="triangle"/>
          </a:ln>
        </p:spPr>
      </p:sp>
      <p:sp>
        <p:nvSpPr>
          <p:cNvPr id="12" name="Shape 10"/>
          <p:cNvSpPr/>
          <p:nvPr/>
        </p:nvSpPr>
        <p:spPr>
          <a:xfrm>
            <a:off x="7635240" y="960120"/>
            <a:ext cx="1051560" cy="402336"/>
          </a:xfrm>
          <a:prstGeom prst="roundRect">
            <a:avLst>
              <a:gd name="adj" fmla="val 27273"/>
            </a:avLst>
          </a:prstGeom>
          <a:solidFill>
            <a:srgbClr val="079EA4"/>
          </a:solidFill>
          <a:ln w="12700">
            <a:solidFill>
              <a:srgbClr val="079EA4"/>
            </a:solidFill>
            <a:prstDash val="solid"/>
          </a:ln>
        </p:spPr>
      </p:sp>
      <p:sp>
        <p:nvSpPr>
          <p:cNvPr id="13" name="Text 11"/>
          <p:cNvSpPr/>
          <p:nvPr/>
        </p:nvSpPr>
        <p:spPr>
          <a:xfrm>
            <a:off x="7680960" y="1069848"/>
            <a:ext cx="960120" cy="13716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Python</a:t>
            </a:r>
            <a:endParaRPr lang="en-US" sz="860" dirty="0"/>
          </a:p>
        </p:txBody>
      </p:sp>
      <p:sp>
        <p:nvSpPr>
          <p:cNvPr id="14" name="Shape 12"/>
          <p:cNvSpPr/>
          <p:nvPr/>
        </p:nvSpPr>
        <p:spPr>
          <a:xfrm>
            <a:off x="10058400" y="1600200"/>
            <a:ext cx="1051560" cy="402336"/>
          </a:xfrm>
          <a:prstGeom prst="roundRect">
            <a:avLst>
              <a:gd name="adj" fmla="val 27273"/>
            </a:avLst>
          </a:prstGeom>
          <a:solidFill>
            <a:srgbClr val="F2B84B"/>
          </a:solidFill>
          <a:ln w="12700">
            <a:solidFill>
              <a:srgbClr val="F2B84B"/>
            </a:solidFill>
            <a:prstDash val="solid"/>
          </a:ln>
        </p:spPr>
      </p:sp>
      <p:sp>
        <p:nvSpPr>
          <p:cNvPr id="15" name="Text 13"/>
          <p:cNvSpPr/>
          <p:nvPr/>
        </p:nvSpPr>
        <p:spPr>
          <a:xfrm>
            <a:off x="10104120" y="1709928"/>
            <a:ext cx="960120" cy="13716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Jupyter</a:t>
            </a:r>
            <a:endParaRPr lang="en-US" sz="860" dirty="0"/>
          </a:p>
        </p:txBody>
      </p:sp>
      <p:sp>
        <p:nvSpPr>
          <p:cNvPr id="16" name="Shape 14"/>
          <p:cNvSpPr/>
          <p:nvPr/>
        </p:nvSpPr>
        <p:spPr>
          <a:xfrm>
            <a:off x="8732520" y="3063240"/>
            <a:ext cx="1051560" cy="402336"/>
          </a:xfrm>
          <a:prstGeom prst="roundRect">
            <a:avLst>
              <a:gd name="adj" fmla="val 27273"/>
            </a:avLst>
          </a:prstGeom>
          <a:solidFill>
            <a:srgbClr val="D9294F"/>
          </a:solidFill>
          <a:ln w="12700">
            <a:solidFill>
              <a:srgbClr val="D9294F"/>
            </a:solidFill>
            <a:prstDash val="solid"/>
          </a:ln>
        </p:spPr>
      </p:sp>
      <p:sp>
        <p:nvSpPr>
          <p:cNvPr id="17" name="Text 15"/>
          <p:cNvSpPr/>
          <p:nvPr/>
        </p:nvSpPr>
        <p:spPr>
          <a:xfrm>
            <a:off x="8778240" y="3172968"/>
            <a:ext cx="960120" cy="13716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AI</a:t>
            </a:r>
            <a:endParaRPr lang="en-US" sz="860" dirty="0"/>
          </a:p>
        </p:txBody>
      </p:sp>
      <p:sp>
        <p:nvSpPr>
          <p:cNvPr id="18" name="Shape 16"/>
          <p:cNvSpPr/>
          <p:nvPr/>
        </p:nvSpPr>
        <p:spPr>
          <a:xfrm>
            <a:off x="10287000" y="4617720"/>
            <a:ext cx="1051560" cy="402336"/>
          </a:xfrm>
          <a:prstGeom prst="roundRect">
            <a:avLst>
              <a:gd name="adj" fmla="val 27273"/>
            </a:avLst>
          </a:prstGeom>
          <a:solidFill>
            <a:srgbClr val="079EA4"/>
          </a:solidFill>
          <a:ln w="12700">
            <a:solidFill>
              <a:srgbClr val="079EA4"/>
            </a:solidFill>
            <a:prstDash val="solid"/>
          </a:ln>
        </p:spPr>
      </p:sp>
      <p:sp>
        <p:nvSpPr>
          <p:cNvPr id="19" name="Text 17"/>
          <p:cNvSpPr/>
          <p:nvPr/>
        </p:nvSpPr>
        <p:spPr>
          <a:xfrm>
            <a:off x="10332720" y="4727448"/>
            <a:ext cx="960120" cy="13716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Denetim izi</a:t>
            </a:r>
            <a:endParaRPr lang="en-US" sz="860" dirty="0"/>
          </a:p>
        </p:txBody>
      </p:sp>
      <p:sp>
        <p:nvSpPr>
          <p:cNvPr id="20" name="Shape 18"/>
          <p:cNvSpPr/>
          <p:nvPr/>
        </p:nvSpPr>
        <p:spPr>
          <a:xfrm>
            <a:off x="7269480" y="5074920"/>
            <a:ext cx="1051560" cy="402336"/>
          </a:xfrm>
          <a:prstGeom prst="roundRect">
            <a:avLst>
              <a:gd name="adj" fmla="val 27273"/>
            </a:avLst>
          </a:prstGeom>
          <a:solidFill>
            <a:srgbClr val="079EA4"/>
          </a:solidFill>
          <a:ln w="12700">
            <a:solidFill>
              <a:srgbClr val="079EA4"/>
            </a:solidFill>
            <a:prstDash val="solid"/>
          </a:ln>
        </p:spPr>
      </p:sp>
      <p:sp>
        <p:nvSpPr>
          <p:cNvPr id="21" name="Text 19"/>
          <p:cNvSpPr/>
          <p:nvPr/>
        </p:nvSpPr>
        <p:spPr>
          <a:xfrm>
            <a:off x="7315200" y="5184648"/>
            <a:ext cx="960120" cy="13716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Bulgular</a:t>
            </a:r>
            <a:endParaRPr lang="en-US" sz="8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Bugünkü sözümüz</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2 gün yetmez; ama doğru başlangıç çok şey değiştirir.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Text 3"/>
          <p:cNvSpPr/>
          <p:nvPr/>
        </p:nvSpPr>
        <p:spPr>
          <a:xfrm>
            <a:off x="685800" y="1389888"/>
            <a:ext cx="6766560" cy="877824"/>
          </a:xfrm>
          <a:prstGeom prst="rect">
            <a:avLst/>
          </a:prstGeom>
          <a:noFill/>
          <a:ln/>
        </p:spPr>
        <p:txBody>
          <a:bodyPr wrap="square" lIns="0" tIns="0" rIns="0" bIns="0" rtlCol="0" anchor="ctr">
            <a:normAutofit/>
          </a:bodyPr>
          <a:lstStyle/>
          <a:p>
            <a:pPr indent="0" marL="0">
              <a:buNone/>
            </a:pPr>
            <a:r>
              <a:rPr lang="en-US" sz="2700" b="1" dirty="0">
                <a:solidFill>
                  <a:srgbClr val="15202B"/>
                </a:solidFill>
              </a:rPr>
              <a:t>Denetimde veri analizi, “rapora grafik eklemek” değil; kanıta giden yolu yeniden tasarlamaktır.</a:t>
            </a:r>
            <a:endParaRPr lang="en-US" sz="2700" dirty="0"/>
          </a:p>
        </p:txBody>
      </p:sp>
      <p:sp>
        <p:nvSpPr>
          <p:cNvPr id="6" name="Shape 4"/>
          <p:cNvSpPr/>
          <p:nvPr/>
        </p:nvSpPr>
        <p:spPr>
          <a:xfrm>
            <a:off x="713232" y="2651760"/>
            <a:ext cx="2743200" cy="0"/>
          </a:xfrm>
          <a:prstGeom prst="line">
            <a:avLst/>
          </a:prstGeom>
          <a:noFill/>
          <a:ln w="50800">
            <a:solidFill>
              <a:srgbClr val="079EA4"/>
            </a:solidFill>
            <a:prstDash val="solid"/>
          </a:ln>
        </p:spPr>
      </p:sp>
      <p:sp>
        <p:nvSpPr>
          <p:cNvPr id="7" name="Shape 5"/>
          <p:cNvSpPr/>
          <p:nvPr/>
        </p:nvSpPr>
        <p:spPr>
          <a:xfrm>
            <a:off x="758952" y="3127248"/>
            <a:ext cx="411480" cy="411480"/>
          </a:xfrm>
          <a:prstGeom prst="ellipse">
            <a:avLst/>
          </a:prstGeom>
          <a:solidFill>
            <a:srgbClr val="079EA4"/>
          </a:solidFill>
          <a:ln w="12700">
            <a:solidFill>
              <a:srgbClr val="079EA4"/>
            </a:solidFill>
            <a:prstDash val="solid"/>
          </a:ln>
        </p:spPr>
      </p:sp>
      <p:sp>
        <p:nvSpPr>
          <p:cNvPr id="8" name="Text 6"/>
          <p:cNvSpPr/>
          <p:nvPr/>
        </p:nvSpPr>
        <p:spPr>
          <a:xfrm>
            <a:off x="758952" y="3232404"/>
            <a:ext cx="411480" cy="10972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9" name="Text 7"/>
          <p:cNvSpPr/>
          <p:nvPr/>
        </p:nvSpPr>
        <p:spPr>
          <a:xfrm>
            <a:off x="1325880" y="3108960"/>
            <a:ext cx="2286000" cy="210312"/>
          </a:xfrm>
          <a:prstGeom prst="rect">
            <a:avLst/>
          </a:prstGeom>
          <a:noFill/>
          <a:ln/>
        </p:spPr>
        <p:txBody>
          <a:bodyPr wrap="square" lIns="0" tIns="0" rIns="0" bIns="0" rtlCol="0" anchor="ctr"/>
          <a:lstStyle/>
          <a:p>
            <a:pPr indent="0" marL="0">
              <a:buNone/>
            </a:pPr>
            <a:r>
              <a:rPr lang="en-US" sz="1600" b="1" dirty="0">
                <a:solidFill>
                  <a:srgbClr val="15202B"/>
                </a:solidFill>
              </a:rPr>
              <a:t>Görmek</a:t>
            </a:r>
            <a:endParaRPr lang="en-US" sz="1600" dirty="0"/>
          </a:p>
        </p:txBody>
      </p:sp>
      <p:sp>
        <p:nvSpPr>
          <p:cNvPr id="10" name="Text 8"/>
          <p:cNvSpPr/>
          <p:nvPr/>
        </p:nvSpPr>
        <p:spPr>
          <a:xfrm>
            <a:off x="1325880" y="3383280"/>
            <a:ext cx="4343400" cy="438912"/>
          </a:xfrm>
          <a:prstGeom prst="rect">
            <a:avLst/>
          </a:prstGeom>
          <a:noFill/>
          <a:ln/>
        </p:spPr>
        <p:txBody>
          <a:bodyPr wrap="square" lIns="0" tIns="0" rIns="0" bIns="0" rtlCol="0" anchor="ctr">
            <a:normAutofit/>
          </a:bodyPr>
          <a:lstStyle/>
          <a:p>
            <a:pPr indent="0" marL="0">
              <a:buNone/>
            </a:pPr>
            <a:r>
              <a:rPr lang="en-US" sz="1250" dirty="0">
                <a:solidFill>
                  <a:srgbClr val="334155"/>
                </a:solidFill>
              </a:rPr>
              <a:t>Veriyi sadece örneklemle değil, mümkünse tüm evreniyle taramak.</a:t>
            </a:r>
            <a:endParaRPr lang="en-US" sz="1250" dirty="0"/>
          </a:p>
        </p:txBody>
      </p:sp>
      <p:sp>
        <p:nvSpPr>
          <p:cNvPr id="11" name="Shape 9"/>
          <p:cNvSpPr/>
          <p:nvPr/>
        </p:nvSpPr>
        <p:spPr>
          <a:xfrm>
            <a:off x="6245352" y="3127248"/>
            <a:ext cx="411480" cy="411480"/>
          </a:xfrm>
          <a:prstGeom prst="ellipse">
            <a:avLst/>
          </a:prstGeom>
          <a:solidFill>
            <a:srgbClr val="079EA4"/>
          </a:solidFill>
          <a:ln w="12700">
            <a:solidFill>
              <a:srgbClr val="079EA4"/>
            </a:solidFill>
            <a:prstDash val="solid"/>
          </a:ln>
        </p:spPr>
      </p:sp>
      <p:sp>
        <p:nvSpPr>
          <p:cNvPr id="12" name="Text 10"/>
          <p:cNvSpPr/>
          <p:nvPr/>
        </p:nvSpPr>
        <p:spPr>
          <a:xfrm>
            <a:off x="6245352" y="3232404"/>
            <a:ext cx="411480" cy="10972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3" name="Text 11"/>
          <p:cNvSpPr/>
          <p:nvPr/>
        </p:nvSpPr>
        <p:spPr>
          <a:xfrm>
            <a:off x="6812280" y="3108960"/>
            <a:ext cx="2286000" cy="210312"/>
          </a:xfrm>
          <a:prstGeom prst="rect">
            <a:avLst/>
          </a:prstGeom>
          <a:noFill/>
          <a:ln/>
        </p:spPr>
        <p:txBody>
          <a:bodyPr wrap="square" lIns="0" tIns="0" rIns="0" bIns="0" rtlCol="0" anchor="ctr"/>
          <a:lstStyle/>
          <a:p>
            <a:pPr indent="0" marL="0">
              <a:buNone/>
            </a:pPr>
            <a:r>
              <a:rPr lang="en-US" sz="1600" b="1" dirty="0">
                <a:solidFill>
                  <a:srgbClr val="15202B"/>
                </a:solidFill>
              </a:rPr>
              <a:t>Açıklamak</a:t>
            </a:r>
            <a:endParaRPr lang="en-US" sz="1600" dirty="0"/>
          </a:p>
        </p:txBody>
      </p:sp>
      <p:sp>
        <p:nvSpPr>
          <p:cNvPr id="14" name="Text 12"/>
          <p:cNvSpPr/>
          <p:nvPr/>
        </p:nvSpPr>
        <p:spPr>
          <a:xfrm>
            <a:off x="6812280" y="3383280"/>
            <a:ext cx="4343400" cy="438912"/>
          </a:xfrm>
          <a:prstGeom prst="rect">
            <a:avLst/>
          </a:prstGeom>
          <a:noFill/>
          <a:ln/>
        </p:spPr>
        <p:txBody>
          <a:bodyPr wrap="square" lIns="0" tIns="0" rIns="0" bIns="0" rtlCol="0" anchor="ctr">
            <a:normAutofit/>
          </a:bodyPr>
          <a:lstStyle/>
          <a:p>
            <a:pPr indent="0" marL="0">
              <a:buNone/>
            </a:pPr>
            <a:r>
              <a:rPr lang="en-US" sz="1250" dirty="0">
                <a:solidFill>
                  <a:srgbClr val="334155"/>
                </a:solidFill>
              </a:rPr>
              <a:t>Bulguyu kod, grafik, tablo ve notlarla geriye dönük izlenebilir kılmak.</a:t>
            </a:r>
            <a:endParaRPr lang="en-US" sz="1250" dirty="0"/>
          </a:p>
        </p:txBody>
      </p:sp>
      <p:sp>
        <p:nvSpPr>
          <p:cNvPr id="15" name="Shape 13"/>
          <p:cNvSpPr/>
          <p:nvPr/>
        </p:nvSpPr>
        <p:spPr>
          <a:xfrm>
            <a:off x="758952" y="4178808"/>
            <a:ext cx="411480" cy="411480"/>
          </a:xfrm>
          <a:prstGeom prst="ellipse">
            <a:avLst/>
          </a:prstGeom>
          <a:solidFill>
            <a:srgbClr val="079EA4"/>
          </a:solidFill>
          <a:ln w="12700">
            <a:solidFill>
              <a:srgbClr val="079EA4"/>
            </a:solidFill>
            <a:prstDash val="solid"/>
          </a:ln>
        </p:spPr>
      </p:sp>
      <p:sp>
        <p:nvSpPr>
          <p:cNvPr id="16" name="Text 14"/>
          <p:cNvSpPr/>
          <p:nvPr/>
        </p:nvSpPr>
        <p:spPr>
          <a:xfrm>
            <a:off x="758952" y="4283964"/>
            <a:ext cx="411480" cy="10972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7" name="Text 15"/>
          <p:cNvSpPr/>
          <p:nvPr/>
        </p:nvSpPr>
        <p:spPr>
          <a:xfrm>
            <a:off x="1325880" y="4160520"/>
            <a:ext cx="2286000" cy="210312"/>
          </a:xfrm>
          <a:prstGeom prst="rect">
            <a:avLst/>
          </a:prstGeom>
          <a:noFill/>
          <a:ln/>
        </p:spPr>
        <p:txBody>
          <a:bodyPr wrap="square" lIns="0" tIns="0" rIns="0" bIns="0" rtlCol="0" anchor="ctr"/>
          <a:lstStyle/>
          <a:p>
            <a:pPr indent="0" marL="0">
              <a:buNone/>
            </a:pPr>
            <a:r>
              <a:rPr lang="en-US" sz="1600" b="1" dirty="0">
                <a:solidFill>
                  <a:srgbClr val="15202B"/>
                </a:solidFill>
              </a:rPr>
              <a:t>Tekrarlamak</a:t>
            </a:r>
            <a:endParaRPr lang="en-US" sz="1600" dirty="0"/>
          </a:p>
        </p:txBody>
      </p:sp>
      <p:sp>
        <p:nvSpPr>
          <p:cNvPr id="18" name="Text 16"/>
          <p:cNvSpPr/>
          <p:nvPr/>
        </p:nvSpPr>
        <p:spPr>
          <a:xfrm>
            <a:off x="1325880" y="4434840"/>
            <a:ext cx="4343400" cy="438912"/>
          </a:xfrm>
          <a:prstGeom prst="rect">
            <a:avLst/>
          </a:prstGeom>
          <a:noFill/>
          <a:ln/>
        </p:spPr>
        <p:txBody>
          <a:bodyPr wrap="square" lIns="0" tIns="0" rIns="0" bIns="0" rtlCol="0" anchor="ctr">
            <a:normAutofit/>
          </a:bodyPr>
          <a:lstStyle/>
          <a:p>
            <a:pPr indent="0" marL="0">
              <a:buNone/>
            </a:pPr>
            <a:r>
              <a:rPr lang="en-US" sz="1250" dirty="0">
                <a:solidFill>
                  <a:srgbClr val="334155"/>
                </a:solidFill>
              </a:rPr>
              <a:t>Aynı testi gelecek ay/yıl yeniden çalıştırabilecek hale getirmek.</a:t>
            </a:r>
            <a:endParaRPr lang="en-US" sz="1250" dirty="0"/>
          </a:p>
        </p:txBody>
      </p:sp>
      <p:sp>
        <p:nvSpPr>
          <p:cNvPr id="19" name="Shape 17"/>
          <p:cNvSpPr/>
          <p:nvPr/>
        </p:nvSpPr>
        <p:spPr>
          <a:xfrm>
            <a:off x="6245352" y="4178808"/>
            <a:ext cx="411480" cy="411480"/>
          </a:xfrm>
          <a:prstGeom prst="ellipse">
            <a:avLst/>
          </a:prstGeom>
          <a:solidFill>
            <a:srgbClr val="D9294F"/>
          </a:solidFill>
          <a:ln w="12700">
            <a:solidFill>
              <a:srgbClr val="D9294F"/>
            </a:solidFill>
            <a:prstDash val="solid"/>
          </a:ln>
        </p:spPr>
      </p:sp>
      <p:sp>
        <p:nvSpPr>
          <p:cNvPr id="20" name="Text 18"/>
          <p:cNvSpPr/>
          <p:nvPr/>
        </p:nvSpPr>
        <p:spPr>
          <a:xfrm>
            <a:off x="6245352" y="4283964"/>
            <a:ext cx="411480" cy="10972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1" name="Text 19"/>
          <p:cNvSpPr/>
          <p:nvPr/>
        </p:nvSpPr>
        <p:spPr>
          <a:xfrm>
            <a:off x="6812280" y="4160520"/>
            <a:ext cx="2286000" cy="210312"/>
          </a:xfrm>
          <a:prstGeom prst="rect">
            <a:avLst/>
          </a:prstGeom>
          <a:noFill/>
          <a:ln/>
        </p:spPr>
        <p:txBody>
          <a:bodyPr wrap="square" lIns="0" tIns="0" rIns="0" bIns="0" rtlCol="0" anchor="ctr"/>
          <a:lstStyle/>
          <a:p>
            <a:pPr indent="0" marL="0">
              <a:buNone/>
            </a:pPr>
            <a:r>
              <a:rPr lang="en-US" sz="1600" b="1" dirty="0">
                <a:solidFill>
                  <a:srgbClr val="15202B"/>
                </a:solidFill>
              </a:rPr>
              <a:t>AI ile hızlanmak</a:t>
            </a:r>
            <a:endParaRPr lang="en-US" sz="1600" dirty="0"/>
          </a:p>
        </p:txBody>
      </p:sp>
      <p:sp>
        <p:nvSpPr>
          <p:cNvPr id="22" name="Text 20"/>
          <p:cNvSpPr/>
          <p:nvPr/>
        </p:nvSpPr>
        <p:spPr>
          <a:xfrm>
            <a:off x="6812280" y="4434840"/>
            <a:ext cx="4343400" cy="438912"/>
          </a:xfrm>
          <a:prstGeom prst="rect">
            <a:avLst/>
          </a:prstGeom>
          <a:noFill/>
          <a:ln/>
        </p:spPr>
        <p:txBody>
          <a:bodyPr wrap="square" lIns="0" tIns="0" rIns="0" bIns="0" rtlCol="0" anchor="ctr">
            <a:normAutofit/>
          </a:bodyPr>
          <a:lstStyle/>
          <a:p>
            <a:pPr indent="0" marL="0">
              <a:buNone/>
            </a:pPr>
            <a:r>
              <a:rPr lang="en-US" sz="1250" dirty="0">
                <a:solidFill>
                  <a:srgbClr val="334155"/>
                </a:solidFill>
              </a:rPr>
              <a:t>Kod yazma, hata ayıklama ve ilk analiz taslağında yapay zekâdan yararlanmak.</a:t>
            </a:r>
            <a:endParaRPr lang="en-US" sz="1250" dirty="0"/>
          </a:p>
        </p:txBody>
      </p:sp>
      <p:sp>
        <p:nvSpPr>
          <p:cNvPr id="23" name="Text 21"/>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İstatistik ile veri analizi aynı şey değil</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Birbirini tamamlar; fakat denetimde vurgu çoğu zaman farklıdır.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Text 3"/>
          <p:cNvSpPr/>
          <p:nvPr/>
        </p:nvSpPr>
        <p:spPr>
          <a:xfrm>
            <a:off x="786384" y="1417320"/>
            <a:ext cx="2194560" cy="329184"/>
          </a:xfrm>
          <a:prstGeom prst="rect">
            <a:avLst/>
          </a:prstGeom>
          <a:noFill/>
          <a:ln/>
        </p:spPr>
        <p:txBody>
          <a:bodyPr wrap="square" lIns="0" tIns="0" rIns="0" bIns="0" rtlCol="0" anchor="ctr"/>
          <a:lstStyle/>
          <a:p>
            <a:pPr indent="0" marL="0">
              <a:buNone/>
            </a:pPr>
            <a:r>
              <a:rPr lang="en-US" sz="2400" b="1" dirty="0">
                <a:solidFill>
                  <a:srgbClr val="079EA4"/>
                </a:solidFill>
              </a:rPr>
              <a:t>İstatistik</a:t>
            </a:r>
            <a:endParaRPr lang="en-US" sz="2400" dirty="0"/>
          </a:p>
        </p:txBody>
      </p:sp>
      <p:sp>
        <p:nvSpPr>
          <p:cNvPr id="6" name="Text 4"/>
          <p:cNvSpPr/>
          <p:nvPr/>
        </p:nvSpPr>
        <p:spPr>
          <a:xfrm>
            <a:off x="804672" y="1901952"/>
            <a:ext cx="3794760" cy="1005840"/>
          </a:xfrm>
          <a:prstGeom prst="rect">
            <a:avLst/>
          </a:prstGeom>
          <a:noFill/>
          <a:ln/>
        </p:spPr>
        <p:txBody>
          <a:bodyPr wrap="square" lIns="0" tIns="0" rIns="0" bIns="0" rtlCol="0" anchor="ctr">
            <a:normAutofit/>
          </a:bodyPr>
          <a:lstStyle/>
          <a:p>
            <a:pPr indent="0" marL="0">
              <a:buNone/>
            </a:pPr>
            <a:r>
              <a:rPr lang="en-US" sz="1900" dirty="0">
                <a:solidFill>
                  <a:srgbClr val="15202B"/>
                </a:solidFill>
              </a:rPr>
              <a:t>“Bu sonuç genellenebilir mi?”</a:t>
            </a:r>
            <a:endParaRPr lang="en-US" sz="1900" dirty="0"/>
          </a:p>
          <a:p>
            <a:pPr indent="0" marL="0">
              <a:buNone/>
            </a:pPr>
            <a:r>
              <a:rPr lang="en-US" sz="1900" dirty="0">
                <a:solidFill>
                  <a:srgbClr val="15202B"/>
                </a:solidFill>
              </a:rPr>
              <a:t>“Belirsizlik ne kadar?”</a:t>
            </a:r>
            <a:endParaRPr lang="en-US" sz="1900" dirty="0"/>
          </a:p>
          <a:p>
            <a:pPr indent="0" marL="0">
              <a:buNone/>
            </a:pPr>
            <a:r>
              <a:rPr lang="en-US" sz="1900" dirty="0">
                <a:solidFill>
                  <a:srgbClr val="15202B"/>
                </a:solidFill>
              </a:rPr>
              <a:t>“Varsayımım tutuyor mu?”</a:t>
            </a:r>
            <a:endParaRPr lang="en-US" sz="1900" dirty="0"/>
          </a:p>
        </p:txBody>
      </p:sp>
      <p:sp>
        <p:nvSpPr>
          <p:cNvPr id="7" name="Shape 5"/>
          <p:cNvSpPr/>
          <p:nvPr/>
        </p:nvSpPr>
        <p:spPr>
          <a:xfrm>
            <a:off x="5257800" y="1444752"/>
            <a:ext cx="0" cy="4160520"/>
          </a:xfrm>
          <a:prstGeom prst="line">
            <a:avLst/>
          </a:prstGeom>
          <a:noFill/>
          <a:ln w="25400">
            <a:solidFill>
              <a:srgbClr val="EFEAE0"/>
            </a:solidFill>
            <a:prstDash val="solid"/>
          </a:ln>
        </p:spPr>
      </p:sp>
      <p:sp>
        <p:nvSpPr>
          <p:cNvPr id="8" name="Text 6"/>
          <p:cNvSpPr/>
          <p:nvPr/>
        </p:nvSpPr>
        <p:spPr>
          <a:xfrm>
            <a:off x="5806440" y="1417320"/>
            <a:ext cx="2743200" cy="329184"/>
          </a:xfrm>
          <a:prstGeom prst="rect">
            <a:avLst/>
          </a:prstGeom>
          <a:noFill/>
          <a:ln/>
        </p:spPr>
        <p:txBody>
          <a:bodyPr wrap="square" lIns="0" tIns="0" rIns="0" bIns="0" rtlCol="0" anchor="ctr"/>
          <a:lstStyle/>
          <a:p>
            <a:pPr indent="0" marL="0">
              <a:buNone/>
            </a:pPr>
            <a:r>
              <a:rPr lang="en-US" sz="2400" b="1" dirty="0">
                <a:solidFill>
                  <a:srgbClr val="D9294F"/>
                </a:solidFill>
              </a:rPr>
              <a:t>Veri analizi</a:t>
            </a:r>
            <a:endParaRPr lang="en-US" sz="2400" dirty="0"/>
          </a:p>
        </p:txBody>
      </p:sp>
      <p:sp>
        <p:nvSpPr>
          <p:cNvPr id="9" name="Text 7"/>
          <p:cNvSpPr/>
          <p:nvPr/>
        </p:nvSpPr>
        <p:spPr>
          <a:xfrm>
            <a:off x="5806440" y="1901952"/>
            <a:ext cx="4892040" cy="1005840"/>
          </a:xfrm>
          <a:prstGeom prst="rect">
            <a:avLst/>
          </a:prstGeom>
          <a:noFill/>
          <a:ln/>
        </p:spPr>
        <p:txBody>
          <a:bodyPr wrap="square" lIns="0" tIns="0" rIns="0" bIns="0" rtlCol="0" anchor="ctr">
            <a:normAutofit/>
          </a:bodyPr>
          <a:lstStyle/>
          <a:p>
            <a:pPr indent="0" marL="0">
              <a:buNone/>
            </a:pPr>
            <a:r>
              <a:rPr lang="en-US" sz="1900" dirty="0">
                <a:solidFill>
                  <a:srgbClr val="15202B"/>
                </a:solidFill>
              </a:rPr>
              <a:t>“Kayıtların içinde ne olmuş?”</a:t>
            </a:r>
            <a:endParaRPr lang="en-US" sz="1900" dirty="0"/>
          </a:p>
          <a:p>
            <a:pPr indent="0" marL="0">
              <a:buNone/>
            </a:pPr>
            <a:r>
              <a:rPr lang="en-US" sz="1900" dirty="0">
                <a:solidFill>
                  <a:srgbClr val="15202B"/>
                </a:solidFill>
              </a:rPr>
              <a:t>“Bunu nasıl temizler, birleştirir, görürüz?”</a:t>
            </a:r>
            <a:endParaRPr lang="en-US" sz="1900" dirty="0"/>
          </a:p>
          <a:p>
            <a:pPr indent="0" marL="0">
              <a:buNone/>
            </a:pPr>
            <a:r>
              <a:rPr lang="en-US" sz="1900" dirty="0">
                <a:solidFill>
                  <a:srgbClr val="15202B"/>
                </a:solidFill>
              </a:rPr>
              <a:t>“Bulgu yolu tekrar çalışır mı?”</a:t>
            </a:r>
            <a:endParaRPr lang="en-US" sz="1900" dirty="0"/>
          </a:p>
        </p:txBody>
      </p:sp>
      <p:sp>
        <p:nvSpPr>
          <p:cNvPr id="10" name="Shape 8"/>
          <p:cNvSpPr/>
          <p:nvPr/>
        </p:nvSpPr>
        <p:spPr>
          <a:xfrm>
            <a:off x="914400" y="3858768"/>
            <a:ext cx="10012680" cy="822960"/>
          </a:xfrm>
          <a:prstGeom prst="roundRect">
            <a:avLst>
              <a:gd name="adj" fmla="val 15556"/>
            </a:avLst>
          </a:prstGeom>
          <a:solidFill>
            <a:srgbClr val="FFFFFF"/>
          </a:solidFill>
          <a:ln w="12700">
            <a:solidFill>
              <a:srgbClr val="EFEAE0"/>
            </a:solidFill>
            <a:prstDash val="solid"/>
          </a:ln>
        </p:spPr>
      </p:sp>
      <p:sp>
        <p:nvSpPr>
          <p:cNvPr id="11" name="Text 9"/>
          <p:cNvSpPr/>
          <p:nvPr/>
        </p:nvSpPr>
        <p:spPr>
          <a:xfrm>
            <a:off x="1143000" y="4123944"/>
            <a:ext cx="9509760" cy="246888"/>
          </a:xfrm>
          <a:prstGeom prst="rect">
            <a:avLst/>
          </a:prstGeom>
          <a:noFill/>
          <a:ln/>
        </p:spPr>
        <p:txBody>
          <a:bodyPr wrap="square" lIns="0" tIns="0" rIns="0" bIns="0" rtlCol="0" anchor="ctr"/>
          <a:lstStyle/>
          <a:p>
            <a:pPr algn="ctr" indent="0" marL="0">
              <a:buNone/>
            </a:pPr>
            <a:r>
              <a:rPr lang="en-US" sz="1700" b="1" dirty="0">
                <a:solidFill>
                  <a:srgbClr val="15202B"/>
                </a:solidFill>
              </a:rPr>
              <a:t>Denetimde ikisi birleşir: istatistik bize dikkatli olmayı, veri analizi ise kayıtların tamamında iz sürmeyi öğretir.</a:t>
            </a:r>
            <a:endParaRPr lang="en-US" sz="1700" dirty="0"/>
          </a:p>
        </p:txBody>
      </p:sp>
      <p:sp>
        <p:nvSpPr>
          <p:cNvPr id="12" name="Shape 10"/>
          <p:cNvSpPr/>
          <p:nvPr/>
        </p:nvSpPr>
        <p:spPr>
          <a:xfrm>
            <a:off x="1143000" y="5266944"/>
            <a:ext cx="868680" cy="301752"/>
          </a:xfrm>
          <a:prstGeom prst="rect">
            <a:avLst/>
          </a:prstGeom>
          <a:solidFill>
            <a:srgbClr val="EFEAE0"/>
          </a:solidFill>
          <a:ln w="12700">
            <a:solidFill>
              <a:srgbClr val="DDD6CA"/>
            </a:solidFill>
            <a:prstDash val="solid"/>
          </a:ln>
        </p:spPr>
      </p:sp>
      <p:sp>
        <p:nvSpPr>
          <p:cNvPr id="13" name="Text 11"/>
          <p:cNvSpPr/>
          <p:nvPr/>
        </p:nvSpPr>
        <p:spPr>
          <a:xfrm>
            <a:off x="1216152" y="5358384"/>
            <a:ext cx="731520" cy="91440"/>
          </a:xfrm>
          <a:prstGeom prst="rect">
            <a:avLst/>
          </a:prstGeom>
          <a:noFill/>
          <a:ln/>
        </p:spPr>
        <p:txBody>
          <a:bodyPr wrap="square" lIns="0" tIns="0" rIns="0" bIns="0" rtlCol="0" anchor="ctr"/>
          <a:lstStyle/>
          <a:p>
            <a:pPr algn="ctr" indent="0" marL="0">
              <a:buNone/>
            </a:pPr>
            <a:r>
              <a:rPr lang="en-US" sz="750" dirty="0">
                <a:solidFill>
                  <a:srgbClr val="64748B"/>
                </a:solidFill>
              </a:rPr>
              <a:t>fatura</a:t>
            </a:r>
            <a:endParaRPr lang="en-US" sz="750" dirty="0"/>
          </a:p>
        </p:txBody>
      </p:sp>
      <p:sp>
        <p:nvSpPr>
          <p:cNvPr id="14" name="Shape 12"/>
          <p:cNvSpPr/>
          <p:nvPr/>
        </p:nvSpPr>
        <p:spPr>
          <a:xfrm>
            <a:off x="2286000" y="5330952"/>
            <a:ext cx="868680" cy="301752"/>
          </a:xfrm>
          <a:prstGeom prst="rect">
            <a:avLst/>
          </a:prstGeom>
          <a:solidFill>
            <a:srgbClr val="EFEAE0"/>
          </a:solidFill>
          <a:ln w="12700">
            <a:solidFill>
              <a:srgbClr val="DDD6CA"/>
            </a:solidFill>
            <a:prstDash val="solid"/>
          </a:ln>
        </p:spPr>
      </p:sp>
      <p:sp>
        <p:nvSpPr>
          <p:cNvPr id="15" name="Text 13"/>
          <p:cNvSpPr/>
          <p:nvPr/>
        </p:nvSpPr>
        <p:spPr>
          <a:xfrm>
            <a:off x="2359152" y="5422392"/>
            <a:ext cx="731520" cy="91440"/>
          </a:xfrm>
          <a:prstGeom prst="rect">
            <a:avLst/>
          </a:prstGeom>
          <a:noFill/>
          <a:ln/>
        </p:spPr>
        <p:txBody>
          <a:bodyPr wrap="square" lIns="0" tIns="0" rIns="0" bIns="0" rtlCol="0" anchor="ctr"/>
          <a:lstStyle/>
          <a:p>
            <a:pPr algn="ctr" indent="0" marL="0">
              <a:buNone/>
            </a:pPr>
            <a:r>
              <a:rPr lang="en-US" sz="750" dirty="0">
                <a:solidFill>
                  <a:srgbClr val="64748B"/>
                </a:solidFill>
              </a:rPr>
              <a:t>sözleşme</a:t>
            </a:r>
            <a:endParaRPr lang="en-US" sz="750" dirty="0"/>
          </a:p>
        </p:txBody>
      </p:sp>
      <p:sp>
        <p:nvSpPr>
          <p:cNvPr id="16" name="Shape 14"/>
          <p:cNvSpPr/>
          <p:nvPr/>
        </p:nvSpPr>
        <p:spPr>
          <a:xfrm>
            <a:off x="3429000" y="5266944"/>
            <a:ext cx="868680" cy="301752"/>
          </a:xfrm>
          <a:prstGeom prst="rect">
            <a:avLst/>
          </a:prstGeom>
          <a:solidFill>
            <a:srgbClr val="EFEAE0"/>
          </a:solidFill>
          <a:ln w="12700">
            <a:solidFill>
              <a:srgbClr val="DDD6CA"/>
            </a:solidFill>
            <a:prstDash val="solid"/>
          </a:ln>
        </p:spPr>
      </p:sp>
      <p:sp>
        <p:nvSpPr>
          <p:cNvPr id="17" name="Text 15"/>
          <p:cNvSpPr/>
          <p:nvPr/>
        </p:nvSpPr>
        <p:spPr>
          <a:xfrm>
            <a:off x="3502152" y="5358384"/>
            <a:ext cx="731520" cy="91440"/>
          </a:xfrm>
          <a:prstGeom prst="rect">
            <a:avLst/>
          </a:prstGeom>
          <a:noFill/>
          <a:ln/>
        </p:spPr>
        <p:txBody>
          <a:bodyPr wrap="square" lIns="0" tIns="0" rIns="0" bIns="0" rtlCol="0" anchor="ctr"/>
          <a:lstStyle/>
          <a:p>
            <a:pPr algn="ctr" indent="0" marL="0">
              <a:buNone/>
            </a:pPr>
            <a:r>
              <a:rPr lang="en-US" sz="750" dirty="0">
                <a:solidFill>
                  <a:srgbClr val="64748B"/>
                </a:solidFill>
              </a:rPr>
              <a:t>ödeme</a:t>
            </a:r>
            <a:endParaRPr lang="en-US" sz="750" dirty="0"/>
          </a:p>
        </p:txBody>
      </p:sp>
      <p:sp>
        <p:nvSpPr>
          <p:cNvPr id="18" name="Shape 16"/>
          <p:cNvSpPr/>
          <p:nvPr/>
        </p:nvSpPr>
        <p:spPr>
          <a:xfrm>
            <a:off x="4572000" y="5330952"/>
            <a:ext cx="868680" cy="301752"/>
          </a:xfrm>
          <a:prstGeom prst="rect">
            <a:avLst/>
          </a:prstGeom>
          <a:solidFill>
            <a:srgbClr val="EFEAE0"/>
          </a:solidFill>
          <a:ln w="12700">
            <a:solidFill>
              <a:srgbClr val="DDD6CA"/>
            </a:solidFill>
            <a:prstDash val="solid"/>
          </a:ln>
        </p:spPr>
      </p:sp>
      <p:sp>
        <p:nvSpPr>
          <p:cNvPr id="19" name="Text 17"/>
          <p:cNvSpPr/>
          <p:nvPr/>
        </p:nvSpPr>
        <p:spPr>
          <a:xfrm>
            <a:off x="4645152" y="5422392"/>
            <a:ext cx="731520" cy="91440"/>
          </a:xfrm>
          <a:prstGeom prst="rect">
            <a:avLst/>
          </a:prstGeom>
          <a:noFill/>
          <a:ln/>
        </p:spPr>
        <p:txBody>
          <a:bodyPr wrap="square" lIns="0" tIns="0" rIns="0" bIns="0" rtlCol="0" anchor="ctr"/>
          <a:lstStyle/>
          <a:p>
            <a:pPr algn="ctr" indent="0" marL="0">
              <a:buNone/>
            </a:pPr>
            <a:r>
              <a:rPr lang="en-US" sz="750" dirty="0">
                <a:solidFill>
                  <a:srgbClr val="64748B"/>
                </a:solidFill>
              </a:rPr>
              <a:t>tedarikçi</a:t>
            </a:r>
            <a:endParaRPr lang="en-US" sz="750" dirty="0"/>
          </a:p>
        </p:txBody>
      </p:sp>
      <p:sp>
        <p:nvSpPr>
          <p:cNvPr id="20" name="Shape 18"/>
          <p:cNvSpPr/>
          <p:nvPr/>
        </p:nvSpPr>
        <p:spPr>
          <a:xfrm>
            <a:off x="5852160" y="5431536"/>
            <a:ext cx="1051560" cy="0"/>
          </a:xfrm>
          <a:prstGeom prst="line">
            <a:avLst/>
          </a:prstGeom>
          <a:noFill/>
          <a:ln w="25400">
            <a:solidFill>
              <a:srgbClr val="079EA4"/>
            </a:solidFill>
            <a:prstDash val="solid"/>
            <a:tailEnd type="triangle"/>
          </a:ln>
        </p:spPr>
      </p:sp>
      <p:sp>
        <p:nvSpPr>
          <p:cNvPr id="21" name="Text 19"/>
          <p:cNvSpPr/>
          <p:nvPr/>
        </p:nvSpPr>
        <p:spPr>
          <a:xfrm>
            <a:off x="7132320" y="5266944"/>
            <a:ext cx="3383280" cy="301752"/>
          </a:xfrm>
          <a:prstGeom prst="rect">
            <a:avLst/>
          </a:prstGeom>
          <a:noFill/>
          <a:ln/>
        </p:spPr>
        <p:txBody>
          <a:bodyPr wrap="square" lIns="0" tIns="0" rIns="0" bIns="0" rtlCol="0" anchor="ctr"/>
          <a:lstStyle/>
          <a:p>
            <a:pPr indent="0" marL="0">
              <a:buNone/>
            </a:pPr>
            <a:r>
              <a:rPr lang="en-US" sz="1700" b="1" dirty="0">
                <a:solidFill>
                  <a:srgbClr val="15202B"/>
                </a:solidFill>
              </a:rPr>
              <a:t>temizle → bağla → test et → anlat</a:t>
            </a:r>
            <a:endParaRPr lang="en-US" sz="1700" dirty="0"/>
          </a:p>
        </p:txBody>
      </p:sp>
      <p:sp>
        <p:nvSpPr>
          <p:cNvPr id="22" name="Text 20"/>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3</a:t>
            </a:r>
            <a:endParaRPr lang="en-US" sz="800" dirty="0"/>
          </a:p>
        </p:txBody>
      </p:sp>
      <p:sp>
        <p:nvSpPr>
          <p:cNvPr id="23" name="Text 21"/>
          <p:cNvSpPr/>
          <p:nvPr/>
        </p:nvSpPr>
        <p:spPr>
          <a:xfrm>
            <a:off x="502920" y="6419088"/>
            <a:ext cx="9875520" cy="228600"/>
          </a:xfrm>
          <a:prstGeom prst="rect">
            <a:avLst/>
          </a:prstGeom>
          <a:noFill/>
          <a:ln/>
        </p:spPr>
        <p:txBody>
          <a:bodyPr wrap="square" lIns="0" tIns="0" rIns="0" bIns="0" rtlCol="0" anchor="ctr"/>
          <a:lstStyle/>
          <a:p>
            <a:pPr indent="0" marL="0">
              <a:buNone/>
            </a:pPr>
            <a:r>
              <a:rPr lang="en-US" sz="720" dirty="0">
                <a:solidFill>
                  <a:srgbClr val="64748B"/>
                </a:solidFill>
              </a:rPr>
              <a:t>Kaynak notu: Tukey’nin “Exploratory Data Analysis” yaklaşımı bu ayrımı anlatmak için iyi bir köprü sunar.</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İnsanı yakalayan birkaç hikâye</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Veri analizi soyut bir disiplin değil; çok somut iz sürme becerisi.</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868680" y="1600200"/>
            <a:ext cx="530352" cy="0"/>
          </a:xfrm>
          <a:prstGeom prst="line">
            <a:avLst/>
          </a:prstGeom>
          <a:noFill/>
          <a:ln w="38100">
            <a:solidFill>
              <a:srgbClr val="079EA4"/>
            </a:solidFill>
            <a:prstDash val="solid"/>
          </a:ln>
        </p:spPr>
      </p:sp>
      <p:sp>
        <p:nvSpPr>
          <p:cNvPr id="6" name="Text 4"/>
          <p:cNvSpPr/>
          <p:nvPr/>
        </p:nvSpPr>
        <p:spPr>
          <a:xfrm>
            <a:off x="1572768" y="1417320"/>
            <a:ext cx="2240280" cy="210312"/>
          </a:xfrm>
          <a:prstGeom prst="rect">
            <a:avLst/>
          </a:prstGeom>
          <a:noFill/>
          <a:ln/>
        </p:spPr>
        <p:txBody>
          <a:bodyPr wrap="square" lIns="0" tIns="0" rIns="0" bIns="0" rtlCol="0" anchor="ctr">
            <a:normAutofit/>
          </a:bodyPr>
          <a:lstStyle/>
          <a:p>
            <a:pPr indent="0" marL="0">
              <a:buNone/>
            </a:pPr>
            <a:r>
              <a:rPr lang="en-US" sz="1580" b="1" dirty="0">
                <a:solidFill>
                  <a:srgbClr val="15202B"/>
                </a:solidFill>
              </a:rPr>
              <a:t>Tukey ve EDA</a:t>
            </a:r>
            <a:endParaRPr lang="en-US" sz="1580" dirty="0"/>
          </a:p>
        </p:txBody>
      </p:sp>
      <p:sp>
        <p:nvSpPr>
          <p:cNvPr id="7" name="Text 5"/>
          <p:cNvSpPr/>
          <p:nvPr/>
        </p:nvSpPr>
        <p:spPr>
          <a:xfrm>
            <a:off x="4343400" y="1417320"/>
            <a:ext cx="5943600" cy="246888"/>
          </a:xfrm>
          <a:prstGeom prst="rect">
            <a:avLst/>
          </a:prstGeom>
          <a:noFill/>
          <a:ln/>
        </p:spPr>
        <p:txBody>
          <a:bodyPr wrap="square" lIns="0" tIns="0" rIns="0" bIns="0" rtlCol="0" anchor="ctr">
            <a:normAutofit/>
          </a:bodyPr>
          <a:lstStyle/>
          <a:p>
            <a:pPr indent="0" marL="0">
              <a:buNone/>
            </a:pPr>
            <a:r>
              <a:rPr lang="en-US" sz="1480" dirty="0">
                <a:solidFill>
                  <a:srgbClr val="334155"/>
                </a:solidFill>
              </a:rPr>
              <a:t>Grafiklere bakmak, verinin kendisine soru sormaktır.</a:t>
            </a:r>
            <a:endParaRPr lang="en-US" sz="1480" dirty="0"/>
          </a:p>
        </p:txBody>
      </p:sp>
      <p:sp>
        <p:nvSpPr>
          <p:cNvPr id="8" name="Shape 6"/>
          <p:cNvSpPr/>
          <p:nvPr/>
        </p:nvSpPr>
        <p:spPr>
          <a:xfrm>
            <a:off x="868680" y="2386584"/>
            <a:ext cx="530352" cy="0"/>
          </a:xfrm>
          <a:prstGeom prst="line">
            <a:avLst/>
          </a:prstGeom>
          <a:noFill/>
          <a:ln w="38100">
            <a:solidFill>
              <a:srgbClr val="079EA4"/>
            </a:solidFill>
            <a:prstDash val="solid"/>
          </a:ln>
        </p:spPr>
      </p:sp>
      <p:sp>
        <p:nvSpPr>
          <p:cNvPr id="9" name="Text 7"/>
          <p:cNvSpPr/>
          <p:nvPr/>
        </p:nvSpPr>
        <p:spPr>
          <a:xfrm>
            <a:off x="1572768" y="2203704"/>
            <a:ext cx="2240280" cy="210312"/>
          </a:xfrm>
          <a:prstGeom prst="rect">
            <a:avLst/>
          </a:prstGeom>
          <a:noFill/>
          <a:ln/>
        </p:spPr>
        <p:txBody>
          <a:bodyPr wrap="square" lIns="0" tIns="0" rIns="0" bIns="0" rtlCol="0" anchor="ctr">
            <a:normAutofit/>
          </a:bodyPr>
          <a:lstStyle/>
          <a:p>
            <a:pPr indent="0" marL="0">
              <a:buNone/>
            </a:pPr>
            <a:r>
              <a:rPr lang="en-US" sz="1580" b="1" dirty="0">
                <a:solidFill>
                  <a:srgbClr val="15202B"/>
                </a:solidFill>
              </a:rPr>
              <a:t>ACFE 2024</a:t>
            </a:r>
            <a:endParaRPr lang="en-US" sz="1580" dirty="0"/>
          </a:p>
        </p:txBody>
      </p:sp>
      <p:sp>
        <p:nvSpPr>
          <p:cNvPr id="10" name="Text 8"/>
          <p:cNvSpPr/>
          <p:nvPr/>
        </p:nvSpPr>
        <p:spPr>
          <a:xfrm>
            <a:off x="4343400" y="2203704"/>
            <a:ext cx="5943600" cy="246888"/>
          </a:xfrm>
          <a:prstGeom prst="rect">
            <a:avLst/>
          </a:prstGeom>
          <a:noFill/>
          <a:ln/>
        </p:spPr>
        <p:txBody>
          <a:bodyPr wrap="square" lIns="0" tIns="0" rIns="0" bIns="0" rtlCol="0" anchor="ctr">
            <a:normAutofit/>
          </a:bodyPr>
          <a:lstStyle/>
          <a:p>
            <a:pPr indent="0" marL="0">
              <a:buNone/>
            </a:pPr>
            <a:r>
              <a:rPr lang="en-US" sz="1480" dirty="0">
                <a:solidFill>
                  <a:srgbClr val="334155"/>
                </a:solidFill>
              </a:rPr>
              <a:t>1.921 gerçek vaka, 138 ülke/bölge: suistimal küresel ve veri bırakıyor.</a:t>
            </a:r>
            <a:endParaRPr lang="en-US" sz="1480" dirty="0"/>
          </a:p>
        </p:txBody>
      </p:sp>
      <p:sp>
        <p:nvSpPr>
          <p:cNvPr id="11" name="Shape 9"/>
          <p:cNvSpPr/>
          <p:nvPr/>
        </p:nvSpPr>
        <p:spPr>
          <a:xfrm>
            <a:off x="868680" y="3172968"/>
            <a:ext cx="530352" cy="0"/>
          </a:xfrm>
          <a:prstGeom prst="line">
            <a:avLst/>
          </a:prstGeom>
          <a:noFill/>
          <a:ln w="38100">
            <a:solidFill>
              <a:srgbClr val="079EA4"/>
            </a:solidFill>
            <a:prstDash val="solid"/>
          </a:ln>
        </p:spPr>
      </p:sp>
      <p:sp>
        <p:nvSpPr>
          <p:cNvPr id="12" name="Text 10"/>
          <p:cNvSpPr/>
          <p:nvPr/>
        </p:nvSpPr>
        <p:spPr>
          <a:xfrm>
            <a:off x="1572768" y="2990088"/>
            <a:ext cx="2240280" cy="210312"/>
          </a:xfrm>
          <a:prstGeom prst="rect">
            <a:avLst/>
          </a:prstGeom>
          <a:noFill/>
          <a:ln/>
        </p:spPr>
        <p:txBody>
          <a:bodyPr wrap="square" lIns="0" tIns="0" rIns="0" bIns="0" rtlCol="0" anchor="ctr">
            <a:normAutofit/>
          </a:bodyPr>
          <a:lstStyle/>
          <a:p>
            <a:pPr indent="0" marL="0">
              <a:buNone/>
            </a:pPr>
            <a:r>
              <a:rPr lang="en-US" sz="1580" b="1" dirty="0">
                <a:solidFill>
                  <a:srgbClr val="15202B"/>
                </a:solidFill>
              </a:rPr>
              <a:t>Nigrini ve Benford</a:t>
            </a:r>
            <a:endParaRPr lang="en-US" sz="1580" dirty="0"/>
          </a:p>
        </p:txBody>
      </p:sp>
      <p:sp>
        <p:nvSpPr>
          <p:cNvPr id="13" name="Text 11"/>
          <p:cNvSpPr/>
          <p:nvPr/>
        </p:nvSpPr>
        <p:spPr>
          <a:xfrm>
            <a:off x="4343400" y="2990088"/>
            <a:ext cx="5943600" cy="246888"/>
          </a:xfrm>
          <a:prstGeom prst="rect">
            <a:avLst/>
          </a:prstGeom>
          <a:noFill/>
          <a:ln/>
        </p:spPr>
        <p:txBody>
          <a:bodyPr wrap="square" lIns="0" tIns="0" rIns="0" bIns="0" rtlCol="0" anchor="ctr">
            <a:normAutofit/>
          </a:bodyPr>
          <a:lstStyle/>
          <a:p>
            <a:pPr indent="0" marL="0">
              <a:buNone/>
            </a:pPr>
            <a:r>
              <a:rPr lang="en-US" sz="1480" dirty="0">
                <a:solidFill>
                  <a:srgbClr val="334155"/>
                </a:solidFill>
              </a:rPr>
              <a:t>İlk rakamlar bazen muhasebe kayıtlarındaki yapaylığı ele verir.</a:t>
            </a:r>
            <a:endParaRPr lang="en-US" sz="1480" dirty="0"/>
          </a:p>
        </p:txBody>
      </p:sp>
      <p:sp>
        <p:nvSpPr>
          <p:cNvPr id="14" name="Shape 12"/>
          <p:cNvSpPr/>
          <p:nvPr/>
        </p:nvSpPr>
        <p:spPr>
          <a:xfrm>
            <a:off x="868680" y="3959352"/>
            <a:ext cx="530352" cy="0"/>
          </a:xfrm>
          <a:prstGeom prst="line">
            <a:avLst/>
          </a:prstGeom>
          <a:noFill/>
          <a:ln w="38100">
            <a:solidFill>
              <a:srgbClr val="079EA4"/>
            </a:solidFill>
            <a:prstDash val="solid"/>
          </a:ln>
        </p:spPr>
      </p:sp>
      <p:sp>
        <p:nvSpPr>
          <p:cNvPr id="15" name="Text 13"/>
          <p:cNvSpPr/>
          <p:nvPr/>
        </p:nvSpPr>
        <p:spPr>
          <a:xfrm>
            <a:off x="1572768" y="3776472"/>
            <a:ext cx="2240280" cy="210312"/>
          </a:xfrm>
          <a:prstGeom prst="rect">
            <a:avLst/>
          </a:prstGeom>
          <a:noFill/>
          <a:ln/>
        </p:spPr>
        <p:txBody>
          <a:bodyPr wrap="square" lIns="0" tIns="0" rIns="0" bIns="0" rtlCol="0" anchor="ctr">
            <a:normAutofit/>
          </a:bodyPr>
          <a:lstStyle/>
          <a:p>
            <a:pPr indent="0" marL="0">
              <a:buNone/>
            </a:pPr>
            <a:r>
              <a:rPr lang="en-US" sz="1580" b="1" dirty="0">
                <a:solidFill>
                  <a:srgbClr val="15202B"/>
                </a:solidFill>
              </a:rPr>
              <a:t>Enron e-postaları</a:t>
            </a:r>
            <a:endParaRPr lang="en-US" sz="1580" dirty="0"/>
          </a:p>
        </p:txBody>
      </p:sp>
      <p:sp>
        <p:nvSpPr>
          <p:cNvPr id="16" name="Text 14"/>
          <p:cNvSpPr/>
          <p:nvPr/>
        </p:nvSpPr>
        <p:spPr>
          <a:xfrm>
            <a:off x="4343400" y="3776472"/>
            <a:ext cx="5943600" cy="246888"/>
          </a:xfrm>
          <a:prstGeom prst="rect">
            <a:avLst/>
          </a:prstGeom>
          <a:noFill/>
          <a:ln/>
        </p:spPr>
        <p:txBody>
          <a:bodyPr wrap="square" lIns="0" tIns="0" rIns="0" bIns="0" rtlCol="0" anchor="ctr">
            <a:normAutofit/>
          </a:bodyPr>
          <a:lstStyle/>
          <a:p>
            <a:pPr indent="0" marL="0">
              <a:buNone/>
            </a:pPr>
            <a:r>
              <a:rPr lang="en-US" sz="1480" dirty="0">
                <a:solidFill>
                  <a:srgbClr val="334155"/>
                </a:solidFill>
              </a:rPr>
              <a:t>İlişkiler ve iletişim ağları, kurum içi dinamikleri görünür kılar.</a:t>
            </a:r>
            <a:endParaRPr lang="en-US" sz="1480" dirty="0"/>
          </a:p>
        </p:txBody>
      </p:sp>
      <p:sp>
        <p:nvSpPr>
          <p:cNvPr id="17" name="Shape 15"/>
          <p:cNvSpPr/>
          <p:nvPr/>
        </p:nvSpPr>
        <p:spPr>
          <a:xfrm>
            <a:off x="868680" y="4745736"/>
            <a:ext cx="530352" cy="0"/>
          </a:xfrm>
          <a:prstGeom prst="line">
            <a:avLst/>
          </a:prstGeom>
          <a:noFill/>
          <a:ln w="38100">
            <a:solidFill>
              <a:srgbClr val="D9294F"/>
            </a:solidFill>
            <a:prstDash val="solid"/>
          </a:ln>
        </p:spPr>
      </p:sp>
      <p:sp>
        <p:nvSpPr>
          <p:cNvPr id="18" name="Text 16"/>
          <p:cNvSpPr/>
          <p:nvPr/>
        </p:nvSpPr>
        <p:spPr>
          <a:xfrm>
            <a:off x="1572768" y="4562856"/>
            <a:ext cx="2240280" cy="210312"/>
          </a:xfrm>
          <a:prstGeom prst="rect">
            <a:avLst/>
          </a:prstGeom>
          <a:noFill/>
          <a:ln/>
        </p:spPr>
        <p:txBody>
          <a:bodyPr wrap="square" lIns="0" tIns="0" rIns="0" bIns="0" rtlCol="0" anchor="ctr">
            <a:normAutofit/>
          </a:bodyPr>
          <a:lstStyle/>
          <a:p>
            <a:pPr indent="0" marL="0">
              <a:buNone/>
            </a:pPr>
            <a:r>
              <a:rPr lang="en-US" sz="1580" b="1" dirty="0">
                <a:solidFill>
                  <a:srgbClr val="15202B"/>
                </a:solidFill>
              </a:rPr>
              <a:t>ATO ticaret ağı</a:t>
            </a:r>
            <a:endParaRPr lang="en-US" sz="1580" dirty="0"/>
          </a:p>
        </p:txBody>
      </p:sp>
      <p:sp>
        <p:nvSpPr>
          <p:cNvPr id="19" name="Text 17"/>
          <p:cNvSpPr/>
          <p:nvPr/>
        </p:nvSpPr>
        <p:spPr>
          <a:xfrm>
            <a:off x="4343400" y="4562856"/>
            <a:ext cx="5943600" cy="246888"/>
          </a:xfrm>
          <a:prstGeom prst="rect">
            <a:avLst/>
          </a:prstGeom>
          <a:noFill/>
          <a:ln/>
        </p:spPr>
        <p:txBody>
          <a:bodyPr wrap="square" lIns="0" tIns="0" rIns="0" bIns="0" rtlCol="0" anchor="ctr">
            <a:normAutofit/>
          </a:bodyPr>
          <a:lstStyle/>
          <a:p>
            <a:pPr indent="0" marL="0">
              <a:buNone/>
            </a:pPr>
            <a:r>
              <a:rPr lang="en-US" sz="1480" dirty="0">
                <a:solidFill>
                  <a:srgbClr val="334155"/>
                </a:solidFill>
              </a:rPr>
              <a:t>Firma–ülke bağlantıları bir harita ve ağ diyagramına dönüşebilir.</a:t>
            </a:r>
            <a:endParaRPr lang="en-US" sz="1480" dirty="0"/>
          </a:p>
        </p:txBody>
      </p:sp>
      <p:sp>
        <p:nvSpPr>
          <p:cNvPr id="20" name="Shape 18"/>
          <p:cNvSpPr/>
          <p:nvPr/>
        </p:nvSpPr>
        <p:spPr>
          <a:xfrm>
            <a:off x="7772400" y="5440680"/>
            <a:ext cx="3291840" cy="502920"/>
          </a:xfrm>
          <a:prstGeom prst="roundRect">
            <a:avLst>
              <a:gd name="adj" fmla="val 18182"/>
            </a:avLst>
          </a:prstGeom>
          <a:solidFill>
            <a:srgbClr val="DBF2EF"/>
          </a:solidFill>
          <a:ln w="12700">
            <a:solidFill>
              <a:srgbClr val="DBF2EF"/>
            </a:solidFill>
            <a:prstDash val="solid"/>
          </a:ln>
        </p:spPr>
      </p:sp>
      <p:sp>
        <p:nvSpPr>
          <p:cNvPr id="21" name="Text 19"/>
          <p:cNvSpPr/>
          <p:nvPr/>
        </p:nvSpPr>
        <p:spPr>
          <a:xfrm>
            <a:off x="7973568" y="5596128"/>
            <a:ext cx="2880360" cy="146304"/>
          </a:xfrm>
          <a:prstGeom prst="rect">
            <a:avLst/>
          </a:prstGeom>
          <a:noFill/>
          <a:ln/>
        </p:spPr>
        <p:txBody>
          <a:bodyPr wrap="square" lIns="0" tIns="0" rIns="0" bIns="0" rtlCol="0" anchor="ctr">
            <a:normAutofit/>
          </a:bodyPr>
          <a:lstStyle/>
          <a:p>
            <a:pPr algn="ctr" indent="0" marL="0">
              <a:buNone/>
            </a:pPr>
            <a:r>
              <a:rPr lang="en-US" sz="1150" b="1" dirty="0">
                <a:solidFill>
                  <a:srgbClr val="08747A"/>
                </a:solidFill>
              </a:rPr>
              <a:t>Denetçinin sorusu: “Bu izleri nerede ararım?”</a:t>
            </a:r>
            <a:endParaRPr lang="en-US" sz="1150" dirty="0"/>
          </a:p>
        </p:txBody>
      </p:sp>
      <p:sp>
        <p:nvSpPr>
          <p:cNvPr id="22" name="Text 20"/>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4</a:t>
            </a:r>
            <a:endParaRPr lang="en-US" sz="800" dirty="0"/>
          </a:p>
        </p:txBody>
      </p:sp>
      <p:sp>
        <p:nvSpPr>
          <p:cNvPr id="23" name="Text 21"/>
          <p:cNvSpPr/>
          <p:nvPr/>
        </p:nvSpPr>
        <p:spPr>
          <a:xfrm>
            <a:off x="502920" y="6419088"/>
            <a:ext cx="9875520" cy="228600"/>
          </a:xfrm>
          <a:prstGeom prst="rect">
            <a:avLst/>
          </a:prstGeom>
          <a:noFill/>
          <a:ln/>
        </p:spPr>
        <p:txBody>
          <a:bodyPr wrap="square" lIns="0" tIns="0" rIns="0" bIns="0" rtlCol="0" anchor="ctr"/>
          <a:lstStyle/>
          <a:p>
            <a:pPr indent="0" marL="0">
              <a:buNone/>
            </a:pPr>
            <a:r>
              <a:rPr lang="en-US" sz="720" dirty="0">
                <a:solidFill>
                  <a:srgbClr val="64748B"/>
                </a:solidFill>
              </a:rPr>
              <a:t>Kaynaklar: ACFE 2024 Report to the Nations; Nigrini/Benford literatürü; J. W. Tukey, Exploratory Data Analysis.</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İç denetimde veri analizi ne sağlar?</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En büyük katkı: denetim kuyruğunu akıllıca daraltmak.</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868680" y="1463040"/>
            <a:ext cx="3931920" cy="914400"/>
          </a:xfrm>
          <a:prstGeom prst="trapezoid">
            <a:avLst/>
          </a:prstGeom>
          <a:solidFill>
            <a:srgbClr val="DBF2EF"/>
          </a:solidFill>
          <a:ln w="12700">
            <a:solidFill>
              <a:srgbClr val="DBF2EF"/>
            </a:solidFill>
            <a:prstDash val="solid"/>
          </a:ln>
        </p:spPr>
      </p:sp>
      <p:sp>
        <p:nvSpPr>
          <p:cNvPr id="6" name="Text 4"/>
          <p:cNvSpPr/>
          <p:nvPr/>
        </p:nvSpPr>
        <p:spPr>
          <a:xfrm>
            <a:off x="1325880" y="1810512"/>
            <a:ext cx="2971800" cy="201168"/>
          </a:xfrm>
          <a:prstGeom prst="rect">
            <a:avLst/>
          </a:prstGeom>
          <a:noFill/>
          <a:ln/>
        </p:spPr>
        <p:txBody>
          <a:bodyPr wrap="square" lIns="0" tIns="0" rIns="0" bIns="0" rtlCol="0" anchor="ctr"/>
          <a:lstStyle/>
          <a:p>
            <a:pPr algn="ctr" indent="0" marL="0">
              <a:buNone/>
            </a:pPr>
            <a:r>
              <a:rPr lang="en-US" sz="2000" b="1" dirty="0">
                <a:solidFill>
                  <a:srgbClr val="08747A"/>
                </a:solidFill>
              </a:rPr>
              <a:t>Tüm kayıt evreni</a:t>
            </a:r>
            <a:endParaRPr lang="en-US" sz="2000" dirty="0"/>
          </a:p>
        </p:txBody>
      </p:sp>
      <p:sp>
        <p:nvSpPr>
          <p:cNvPr id="7" name="Shape 5"/>
          <p:cNvSpPr/>
          <p:nvPr/>
        </p:nvSpPr>
        <p:spPr>
          <a:xfrm>
            <a:off x="1234440" y="2606040"/>
            <a:ext cx="3200400" cy="822960"/>
          </a:xfrm>
          <a:prstGeom prst="trapezoid">
            <a:avLst/>
          </a:prstGeom>
          <a:solidFill>
            <a:srgbClr val="C9E7E5"/>
          </a:solidFill>
          <a:ln w="12700">
            <a:solidFill>
              <a:srgbClr val="C9E7E5"/>
            </a:solidFill>
            <a:prstDash val="solid"/>
          </a:ln>
        </p:spPr>
      </p:sp>
      <p:sp>
        <p:nvSpPr>
          <p:cNvPr id="8" name="Text 6"/>
          <p:cNvSpPr/>
          <p:nvPr/>
        </p:nvSpPr>
        <p:spPr>
          <a:xfrm>
            <a:off x="1645920" y="2907792"/>
            <a:ext cx="2423160" cy="201168"/>
          </a:xfrm>
          <a:prstGeom prst="rect">
            <a:avLst/>
          </a:prstGeom>
          <a:noFill/>
          <a:ln/>
        </p:spPr>
        <p:txBody>
          <a:bodyPr wrap="square" lIns="0" tIns="0" rIns="0" bIns="0" rtlCol="0" anchor="ctr"/>
          <a:lstStyle/>
          <a:p>
            <a:pPr algn="ctr" indent="0" marL="0">
              <a:buNone/>
            </a:pPr>
            <a:r>
              <a:rPr lang="en-US" sz="1800" b="1" dirty="0">
                <a:solidFill>
                  <a:srgbClr val="08747A"/>
                </a:solidFill>
              </a:rPr>
              <a:t>Önceliklendirme</a:t>
            </a:r>
            <a:endParaRPr lang="en-US" sz="1800" dirty="0"/>
          </a:p>
        </p:txBody>
      </p:sp>
      <p:sp>
        <p:nvSpPr>
          <p:cNvPr id="9" name="Shape 7"/>
          <p:cNvSpPr/>
          <p:nvPr/>
        </p:nvSpPr>
        <p:spPr>
          <a:xfrm>
            <a:off x="1600200" y="3657600"/>
            <a:ext cx="2468880" cy="749808"/>
          </a:xfrm>
          <a:prstGeom prst="trapezoid">
            <a:avLst/>
          </a:prstGeom>
          <a:solidFill>
            <a:srgbClr val="D9294F"/>
          </a:solidFill>
          <a:ln w="12700">
            <a:solidFill>
              <a:srgbClr val="D9294F"/>
            </a:solidFill>
            <a:prstDash val="solid"/>
          </a:ln>
        </p:spPr>
      </p:sp>
      <p:sp>
        <p:nvSpPr>
          <p:cNvPr id="10" name="Text 8"/>
          <p:cNvSpPr/>
          <p:nvPr/>
        </p:nvSpPr>
        <p:spPr>
          <a:xfrm>
            <a:off x="1920240" y="3931920"/>
            <a:ext cx="1828800" cy="182880"/>
          </a:xfrm>
          <a:prstGeom prst="rect">
            <a:avLst/>
          </a:prstGeom>
          <a:noFill/>
          <a:ln/>
        </p:spPr>
        <p:txBody>
          <a:bodyPr wrap="square" lIns="0" tIns="0" rIns="0" bIns="0" rtlCol="0" anchor="ctr"/>
          <a:lstStyle/>
          <a:p>
            <a:pPr algn="ctr" indent="0" marL="0">
              <a:buNone/>
            </a:pPr>
            <a:r>
              <a:rPr lang="en-US" sz="1800" b="1" dirty="0">
                <a:solidFill>
                  <a:srgbClr val="FFFFFF"/>
                </a:solidFill>
              </a:rPr>
              <a:t>Bulgular</a:t>
            </a:r>
            <a:endParaRPr lang="en-US" sz="1800" dirty="0"/>
          </a:p>
        </p:txBody>
      </p:sp>
      <p:sp>
        <p:nvSpPr>
          <p:cNvPr id="11" name="Shape 9"/>
          <p:cNvSpPr/>
          <p:nvPr/>
        </p:nvSpPr>
        <p:spPr>
          <a:xfrm>
            <a:off x="5577840" y="1444752"/>
            <a:ext cx="219456" cy="219456"/>
          </a:xfrm>
          <a:prstGeom prst="ellipse">
            <a:avLst/>
          </a:prstGeom>
          <a:solidFill>
            <a:srgbClr val="D9294F"/>
          </a:solidFill>
          <a:ln w="12700">
            <a:solidFill>
              <a:srgbClr val="D9294F"/>
            </a:solidFill>
            <a:prstDash val="solid"/>
          </a:ln>
        </p:spPr>
      </p:sp>
      <p:sp>
        <p:nvSpPr>
          <p:cNvPr id="12" name="Text 10"/>
          <p:cNvSpPr/>
          <p:nvPr/>
        </p:nvSpPr>
        <p:spPr>
          <a:xfrm>
            <a:off x="5989320" y="1399032"/>
            <a:ext cx="3291840" cy="201168"/>
          </a:xfrm>
          <a:prstGeom prst="rect">
            <a:avLst/>
          </a:prstGeom>
          <a:noFill/>
          <a:ln/>
        </p:spPr>
        <p:txBody>
          <a:bodyPr wrap="square" lIns="0" tIns="0" rIns="0" bIns="0" rtlCol="0" anchor="ctr"/>
          <a:lstStyle/>
          <a:p>
            <a:pPr indent="0" marL="0">
              <a:buNone/>
            </a:pPr>
            <a:r>
              <a:rPr lang="en-US" sz="1600" b="1" dirty="0">
                <a:solidFill>
                  <a:srgbClr val="15202B"/>
                </a:solidFill>
              </a:rPr>
              <a:t>%100’e yakın tarama</a:t>
            </a:r>
            <a:endParaRPr lang="en-US" sz="1600" dirty="0"/>
          </a:p>
        </p:txBody>
      </p:sp>
      <p:sp>
        <p:nvSpPr>
          <p:cNvPr id="13" name="Text 11"/>
          <p:cNvSpPr/>
          <p:nvPr/>
        </p:nvSpPr>
        <p:spPr>
          <a:xfrm>
            <a:off x="5989320" y="1700784"/>
            <a:ext cx="4754880" cy="256032"/>
          </a:xfrm>
          <a:prstGeom prst="rect">
            <a:avLst/>
          </a:prstGeom>
          <a:noFill/>
          <a:ln/>
        </p:spPr>
        <p:txBody>
          <a:bodyPr wrap="square" lIns="0" tIns="0" rIns="0" bIns="0" rtlCol="0" anchor="ctr">
            <a:normAutofit/>
          </a:bodyPr>
          <a:lstStyle/>
          <a:p>
            <a:pPr indent="0" marL="0">
              <a:buNone/>
            </a:pPr>
            <a:r>
              <a:rPr lang="en-US" sz="1270" dirty="0">
                <a:solidFill>
                  <a:srgbClr val="334155"/>
                </a:solidFill>
              </a:rPr>
              <a:t>Örneklemden önce evrenin genel fotoğrafı çıkar.</a:t>
            </a:r>
            <a:endParaRPr lang="en-US" sz="1270" dirty="0"/>
          </a:p>
        </p:txBody>
      </p:sp>
      <p:sp>
        <p:nvSpPr>
          <p:cNvPr id="14" name="Shape 12"/>
          <p:cNvSpPr/>
          <p:nvPr/>
        </p:nvSpPr>
        <p:spPr>
          <a:xfrm>
            <a:off x="5577840" y="2404872"/>
            <a:ext cx="219456" cy="219456"/>
          </a:xfrm>
          <a:prstGeom prst="ellipse">
            <a:avLst/>
          </a:prstGeom>
          <a:solidFill>
            <a:srgbClr val="079EA4"/>
          </a:solidFill>
          <a:ln w="12700">
            <a:solidFill>
              <a:srgbClr val="079EA4"/>
            </a:solidFill>
            <a:prstDash val="solid"/>
          </a:ln>
        </p:spPr>
      </p:sp>
      <p:sp>
        <p:nvSpPr>
          <p:cNvPr id="15" name="Text 13"/>
          <p:cNvSpPr/>
          <p:nvPr/>
        </p:nvSpPr>
        <p:spPr>
          <a:xfrm>
            <a:off x="5989320" y="2359152"/>
            <a:ext cx="3291840" cy="201168"/>
          </a:xfrm>
          <a:prstGeom prst="rect">
            <a:avLst/>
          </a:prstGeom>
          <a:noFill/>
          <a:ln/>
        </p:spPr>
        <p:txBody>
          <a:bodyPr wrap="square" lIns="0" tIns="0" rIns="0" bIns="0" rtlCol="0" anchor="ctr"/>
          <a:lstStyle/>
          <a:p>
            <a:pPr indent="0" marL="0">
              <a:buNone/>
            </a:pPr>
            <a:r>
              <a:rPr lang="en-US" sz="1600" b="1" dirty="0">
                <a:solidFill>
                  <a:srgbClr val="15202B"/>
                </a:solidFill>
              </a:rPr>
              <a:t>İzlenebilirlik</a:t>
            </a:r>
            <a:endParaRPr lang="en-US" sz="1600" dirty="0"/>
          </a:p>
        </p:txBody>
      </p:sp>
      <p:sp>
        <p:nvSpPr>
          <p:cNvPr id="16" name="Text 14"/>
          <p:cNvSpPr/>
          <p:nvPr/>
        </p:nvSpPr>
        <p:spPr>
          <a:xfrm>
            <a:off x="5989320" y="2660904"/>
            <a:ext cx="4754880" cy="256032"/>
          </a:xfrm>
          <a:prstGeom prst="rect">
            <a:avLst/>
          </a:prstGeom>
          <a:noFill/>
          <a:ln/>
        </p:spPr>
        <p:txBody>
          <a:bodyPr wrap="square" lIns="0" tIns="0" rIns="0" bIns="0" rtlCol="0" anchor="ctr">
            <a:normAutofit/>
          </a:bodyPr>
          <a:lstStyle/>
          <a:p>
            <a:pPr indent="0" marL="0">
              <a:buNone/>
            </a:pPr>
            <a:r>
              <a:rPr lang="en-US" sz="1270" dirty="0">
                <a:solidFill>
                  <a:srgbClr val="334155"/>
                </a:solidFill>
              </a:rPr>
              <a:t>Temizlik, filtre, test ve görsel aynı zincirde kalır.</a:t>
            </a:r>
            <a:endParaRPr lang="en-US" sz="1270" dirty="0"/>
          </a:p>
        </p:txBody>
      </p:sp>
      <p:sp>
        <p:nvSpPr>
          <p:cNvPr id="17" name="Shape 15"/>
          <p:cNvSpPr/>
          <p:nvPr/>
        </p:nvSpPr>
        <p:spPr>
          <a:xfrm>
            <a:off x="5577840" y="3364992"/>
            <a:ext cx="219456" cy="219456"/>
          </a:xfrm>
          <a:prstGeom prst="ellipse">
            <a:avLst/>
          </a:prstGeom>
          <a:solidFill>
            <a:srgbClr val="079EA4"/>
          </a:solidFill>
          <a:ln w="12700">
            <a:solidFill>
              <a:srgbClr val="079EA4"/>
            </a:solidFill>
            <a:prstDash val="solid"/>
          </a:ln>
        </p:spPr>
      </p:sp>
      <p:sp>
        <p:nvSpPr>
          <p:cNvPr id="18" name="Text 16"/>
          <p:cNvSpPr/>
          <p:nvPr/>
        </p:nvSpPr>
        <p:spPr>
          <a:xfrm>
            <a:off x="5989320" y="3319272"/>
            <a:ext cx="3291840" cy="201168"/>
          </a:xfrm>
          <a:prstGeom prst="rect">
            <a:avLst/>
          </a:prstGeom>
          <a:noFill/>
          <a:ln/>
        </p:spPr>
        <p:txBody>
          <a:bodyPr wrap="square" lIns="0" tIns="0" rIns="0" bIns="0" rtlCol="0" anchor="ctr"/>
          <a:lstStyle/>
          <a:p>
            <a:pPr indent="0" marL="0">
              <a:buNone/>
            </a:pPr>
            <a:r>
              <a:rPr lang="en-US" sz="1600" b="1" dirty="0">
                <a:solidFill>
                  <a:srgbClr val="15202B"/>
                </a:solidFill>
              </a:rPr>
              <a:t>Tekrar çalıştırma</a:t>
            </a:r>
            <a:endParaRPr lang="en-US" sz="1600" dirty="0"/>
          </a:p>
        </p:txBody>
      </p:sp>
      <p:sp>
        <p:nvSpPr>
          <p:cNvPr id="19" name="Text 17"/>
          <p:cNvSpPr/>
          <p:nvPr/>
        </p:nvSpPr>
        <p:spPr>
          <a:xfrm>
            <a:off x="5989320" y="3621024"/>
            <a:ext cx="4754880" cy="256032"/>
          </a:xfrm>
          <a:prstGeom prst="rect">
            <a:avLst/>
          </a:prstGeom>
          <a:noFill/>
          <a:ln/>
        </p:spPr>
        <p:txBody>
          <a:bodyPr wrap="square" lIns="0" tIns="0" rIns="0" bIns="0" rtlCol="0" anchor="ctr">
            <a:normAutofit/>
          </a:bodyPr>
          <a:lstStyle/>
          <a:p>
            <a:pPr indent="0" marL="0">
              <a:buNone/>
            </a:pPr>
            <a:r>
              <a:rPr lang="en-US" sz="1270" dirty="0">
                <a:solidFill>
                  <a:srgbClr val="334155"/>
                </a:solidFill>
              </a:rPr>
              <a:t>Aynı kontrol periyodik denetim testine dönüşebilir.</a:t>
            </a:r>
            <a:endParaRPr lang="en-US" sz="1270" dirty="0"/>
          </a:p>
        </p:txBody>
      </p:sp>
      <p:sp>
        <p:nvSpPr>
          <p:cNvPr id="20" name="Shape 18"/>
          <p:cNvSpPr/>
          <p:nvPr/>
        </p:nvSpPr>
        <p:spPr>
          <a:xfrm>
            <a:off x="5577840" y="4325112"/>
            <a:ext cx="219456" cy="219456"/>
          </a:xfrm>
          <a:prstGeom prst="ellipse">
            <a:avLst/>
          </a:prstGeom>
          <a:solidFill>
            <a:srgbClr val="079EA4"/>
          </a:solidFill>
          <a:ln w="12700">
            <a:solidFill>
              <a:srgbClr val="079EA4"/>
            </a:solidFill>
            <a:prstDash val="solid"/>
          </a:ln>
        </p:spPr>
      </p:sp>
      <p:sp>
        <p:nvSpPr>
          <p:cNvPr id="21" name="Text 19"/>
          <p:cNvSpPr/>
          <p:nvPr/>
        </p:nvSpPr>
        <p:spPr>
          <a:xfrm>
            <a:off x="5989320" y="4279392"/>
            <a:ext cx="3291840" cy="201168"/>
          </a:xfrm>
          <a:prstGeom prst="rect">
            <a:avLst/>
          </a:prstGeom>
          <a:noFill/>
          <a:ln/>
        </p:spPr>
        <p:txBody>
          <a:bodyPr wrap="square" lIns="0" tIns="0" rIns="0" bIns="0" rtlCol="0" anchor="ctr"/>
          <a:lstStyle/>
          <a:p>
            <a:pPr indent="0" marL="0">
              <a:buNone/>
            </a:pPr>
            <a:r>
              <a:rPr lang="en-US" sz="1600" b="1" dirty="0">
                <a:solidFill>
                  <a:srgbClr val="15202B"/>
                </a:solidFill>
              </a:rPr>
              <a:t>Daha iyi soru</a:t>
            </a:r>
            <a:endParaRPr lang="en-US" sz="1600" dirty="0"/>
          </a:p>
        </p:txBody>
      </p:sp>
      <p:sp>
        <p:nvSpPr>
          <p:cNvPr id="22" name="Text 20"/>
          <p:cNvSpPr/>
          <p:nvPr/>
        </p:nvSpPr>
        <p:spPr>
          <a:xfrm>
            <a:off x="5989320" y="4581144"/>
            <a:ext cx="4754880" cy="256032"/>
          </a:xfrm>
          <a:prstGeom prst="rect">
            <a:avLst/>
          </a:prstGeom>
          <a:noFill/>
          <a:ln/>
        </p:spPr>
        <p:txBody>
          <a:bodyPr wrap="square" lIns="0" tIns="0" rIns="0" bIns="0" rtlCol="0" anchor="ctr">
            <a:normAutofit/>
          </a:bodyPr>
          <a:lstStyle/>
          <a:p>
            <a:pPr indent="0" marL="0">
              <a:buNone/>
            </a:pPr>
            <a:r>
              <a:rPr lang="en-US" sz="1270" dirty="0">
                <a:solidFill>
                  <a:srgbClr val="334155"/>
                </a:solidFill>
              </a:rPr>
              <a:t>“Kim yaptı?”dan önce “Nerede olağandışı davranış var?” denir.</a:t>
            </a:r>
            <a:endParaRPr lang="en-US" sz="1270" dirty="0"/>
          </a:p>
        </p:txBody>
      </p:sp>
      <p:sp>
        <p:nvSpPr>
          <p:cNvPr id="23" name="Text 21"/>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Python: artık sadece “programlama dili” değil</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Veri, otomasyon ve yapay zekâ için ortak çalışma tezgâhı.</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Text 3"/>
          <p:cNvSpPr/>
          <p:nvPr/>
        </p:nvSpPr>
        <p:spPr>
          <a:xfrm>
            <a:off x="713232" y="1417320"/>
            <a:ext cx="3657600" cy="640080"/>
          </a:xfrm>
          <a:prstGeom prst="rect">
            <a:avLst/>
          </a:prstGeom>
          <a:noFill/>
          <a:ln/>
        </p:spPr>
        <p:txBody>
          <a:bodyPr wrap="square" lIns="0" tIns="0" rIns="0" bIns="0" rtlCol="0" anchor="ctr"/>
          <a:lstStyle/>
          <a:p>
            <a:pPr indent="0" marL="0">
              <a:buNone/>
            </a:pPr>
            <a:r>
              <a:rPr lang="en-US" sz="5400" b="1" dirty="0">
                <a:solidFill>
                  <a:srgbClr val="079EA4"/>
                </a:solidFill>
                <a:latin typeface="Aptos Display" pitchFamily="34" charset="0"/>
                <a:ea typeface="Aptos Display" pitchFamily="34" charset="-122"/>
                <a:cs typeface="Aptos Display" pitchFamily="34" charset="-120"/>
              </a:rPr>
              <a:t>Python</a:t>
            </a:r>
            <a:endParaRPr lang="en-US" sz="5400" dirty="0"/>
          </a:p>
        </p:txBody>
      </p:sp>
      <p:sp>
        <p:nvSpPr>
          <p:cNvPr id="6" name="Text 4"/>
          <p:cNvSpPr/>
          <p:nvPr/>
        </p:nvSpPr>
        <p:spPr>
          <a:xfrm>
            <a:off x="768096" y="2377440"/>
            <a:ext cx="4892040" cy="1078992"/>
          </a:xfrm>
          <a:prstGeom prst="rect">
            <a:avLst/>
          </a:prstGeom>
          <a:noFill/>
          <a:ln/>
        </p:spPr>
        <p:txBody>
          <a:bodyPr wrap="square" lIns="0" tIns="0" rIns="0" bIns="0" rtlCol="0" anchor="ctr">
            <a:normAutofit/>
          </a:bodyPr>
          <a:lstStyle/>
          <a:p>
            <a:pPr indent="0" marL="0">
              <a:buNone/>
            </a:pPr>
            <a:r>
              <a:rPr lang="en-US" sz="2000" b="1" dirty="0">
                <a:solidFill>
                  <a:srgbClr val="15202B"/>
                </a:solidFill>
              </a:rPr>
              <a:t>Denetçi için anlamı: veri kaynağından bulguya giden yolu, tek tek tıklamalar yerine açık ve tekrar edilebilir adımlara çevirmek.</a:t>
            </a:r>
            <a:endParaRPr lang="en-US" sz="2000" dirty="0"/>
          </a:p>
        </p:txBody>
      </p:sp>
      <p:sp>
        <p:nvSpPr>
          <p:cNvPr id="7" name="Shape 5"/>
          <p:cNvSpPr/>
          <p:nvPr/>
        </p:nvSpPr>
        <p:spPr>
          <a:xfrm>
            <a:off x="6446520" y="1463040"/>
            <a:ext cx="1920240" cy="621792"/>
          </a:xfrm>
          <a:prstGeom prst="roundRect">
            <a:avLst>
              <a:gd name="adj" fmla="val 14706"/>
            </a:avLst>
          </a:prstGeom>
          <a:solidFill>
            <a:srgbClr val="FFFFFF"/>
          </a:solidFill>
          <a:ln w="12700">
            <a:solidFill>
              <a:srgbClr val="EFEAE0"/>
            </a:solidFill>
            <a:prstDash val="solid"/>
          </a:ln>
        </p:spPr>
      </p:sp>
      <p:sp>
        <p:nvSpPr>
          <p:cNvPr id="8" name="Text 6"/>
          <p:cNvSpPr/>
          <p:nvPr/>
        </p:nvSpPr>
        <p:spPr>
          <a:xfrm>
            <a:off x="6574536" y="1581912"/>
            <a:ext cx="1645920" cy="164592"/>
          </a:xfrm>
          <a:prstGeom prst="rect">
            <a:avLst/>
          </a:prstGeom>
          <a:noFill/>
          <a:ln/>
        </p:spPr>
        <p:txBody>
          <a:bodyPr wrap="square" lIns="0" tIns="0" rIns="0" bIns="0" rtlCol="0" anchor="ctr">
            <a:normAutofit/>
          </a:bodyPr>
          <a:lstStyle/>
          <a:p>
            <a:pPr algn="ctr" indent="0" marL="0">
              <a:buNone/>
            </a:pPr>
            <a:r>
              <a:rPr lang="en-US" sz="1250" b="1" dirty="0">
                <a:solidFill>
                  <a:srgbClr val="15202B"/>
                </a:solidFill>
              </a:rPr>
              <a:t>Excel/CSV/ERP</a:t>
            </a:r>
            <a:endParaRPr lang="en-US" sz="1250" dirty="0"/>
          </a:p>
        </p:txBody>
      </p:sp>
      <p:sp>
        <p:nvSpPr>
          <p:cNvPr id="9" name="Text 7"/>
          <p:cNvSpPr/>
          <p:nvPr/>
        </p:nvSpPr>
        <p:spPr>
          <a:xfrm>
            <a:off x="6574536" y="1819656"/>
            <a:ext cx="1645920" cy="128016"/>
          </a:xfrm>
          <a:prstGeom prst="rect">
            <a:avLst/>
          </a:prstGeom>
          <a:noFill/>
          <a:ln/>
        </p:spPr>
        <p:txBody>
          <a:bodyPr wrap="square" lIns="0" tIns="0" rIns="0" bIns="0" rtlCol="0" anchor="ctr">
            <a:normAutofit/>
          </a:bodyPr>
          <a:lstStyle/>
          <a:p>
            <a:pPr algn="ctr" indent="0" marL="0">
              <a:buNone/>
            </a:pPr>
            <a:r>
              <a:rPr lang="en-US" sz="880" dirty="0">
                <a:solidFill>
                  <a:srgbClr val="64748B"/>
                </a:solidFill>
              </a:rPr>
              <a:t>okuma</a:t>
            </a:r>
            <a:endParaRPr lang="en-US" sz="880" dirty="0"/>
          </a:p>
        </p:txBody>
      </p:sp>
      <p:sp>
        <p:nvSpPr>
          <p:cNvPr id="10" name="Shape 8"/>
          <p:cNvSpPr/>
          <p:nvPr/>
        </p:nvSpPr>
        <p:spPr>
          <a:xfrm>
            <a:off x="8778240" y="1463040"/>
            <a:ext cx="1920240" cy="621792"/>
          </a:xfrm>
          <a:prstGeom prst="roundRect">
            <a:avLst>
              <a:gd name="adj" fmla="val 14706"/>
            </a:avLst>
          </a:prstGeom>
          <a:solidFill>
            <a:srgbClr val="FFFFFF"/>
          </a:solidFill>
          <a:ln w="12700">
            <a:solidFill>
              <a:srgbClr val="EFEAE0"/>
            </a:solidFill>
            <a:prstDash val="solid"/>
          </a:ln>
        </p:spPr>
      </p:sp>
      <p:sp>
        <p:nvSpPr>
          <p:cNvPr id="11" name="Text 9"/>
          <p:cNvSpPr/>
          <p:nvPr/>
        </p:nvSpPr>
        <p:spPr>
          <a:xfrm>
            <a:off x="8906256" y="1581912"/>
            <a:ext cx="1645920" cy="164592"/>
          </a:xfrm>
          <a:prstGeom prst="rect">
            <a:avLst/>
          </a:prstGeom>
          <a:noFill/>
          <a:ln/>
        </p:spPr>
        <p:txBody>
          <a:bodyPr wrap="square" lIns="0" tIns="0" rIns="0" bIns="0" rtlCol="0" anchor="ctr">
            <a:normAutofit/>
          </a:bodyPr>
          <a:lstStyle/>
          <a:p>
            <a:pPr algn="ctr" indent="0" marL="0">
              <a:buNone/>
            </a:pPr>
            <a:r>
              <a:rPr lang="en-US" sz="1250" b="1" dirty="0">
                <a:solidFill>
                  <a:srgbClr val="15202B"/>
                </a:solidFill>
              </a:rPr>
              <a:t>temizleme</a:t>
            </a:r>
            <a:endParaRPr lang="en-US" sz="1250" dirty="0"/>
          </a:p>
        </p:txBody>
      </p:sp>
      <p:sp>
        <p:nvSpPr>
          <p:cNvPr id="12" name="Text 10"/>
          <p:cNvSpPr/>
          <p:nvPr/>
        </p:nvSpPr>
        <p:spPr>
          <a:xfrm>
            <a:off x="8906256" y="1819656"/>
            <a:ext cx="1645920" cy="128016"/>
          </a:xfrm>
          <a:prstGeom prst="rect">
            <a:avLst/>
          </a:prstGeom>
          <a:noFill/>
          <a:ln/>
        </p:spPr>
        <p:txBody>
          <a:bodyPr wrap="square" lIns="0" tIns="0" rIns="0" bIns="0" rtlCol="0" anchor="ctr">
            <a:normAutofit/>
          </a:bodyPr>
          <a:lstStyle/>
          <a:p>
            <a:pPr algn="ctr" indent="0" marL="0">
              <a:buNone/>
            </a:pPr>
            <a:r>
              <a:rPr lang="en-US" sz="880" dirty="0">
                <a:solidFill>
                  <a:srgbClr val="64748B"/>
                </a:solidFill>
              </a:rPr>
              <a:t>standartlaştırma</a:t>
            </a:r>
            <a:endParaRPr lang="en-US" sz="880" dirty="0"/>
          </a:p>
        </p:txBody>
      </p:sp>
      <p:sp>
        <p:nvSpPr>
          <p:cNvPr id="13" name="Shape 11"/>
          <p:cNvSpPr/>
          <p:nvPr/>
        </p:nvSpPr>
        <p:spPr>
          <a:xfrm>
            <a:off x="6446520" y="2560320"/>
            <a:ext cx="1920240" cy="621792"/>
          </a:xfrm>
          <a:prstGeom prst="roundRect">
            <a:avLst>
              <a:gd name="adj" fmla="val 14706"/>
            </a:avLst>
          </a:prstGeom>
          <a:solidFill>
            <a:srgbClr val="FFFFFF"/>
          </a:solidFill>
          <a:ln w="12700">
            <a:solidFill>
              <a:srgbClr val="EFEAE0"/>
            </a:solidFill>
            <a:prstDash val="solid"/>
          </a:ln>
        </p:spPr>
      </p:sp>
      <p:sp>
        <p:nvSpPr>
          <p:cNvPr id="14" name="Text 12"/>
          <p:cNvSpPr/>
          <p:nvPr/>
        </p:nvSpPr>
        <p:spPr>
          <a:xfrm>
            <a:off x="6574536" y="2679192"/>
            <a:ext cx="1645920" cy="164592"/>
          </a:xfrm>
          <a:prstGeom prst="rect">
            <a:avLst/>
          </a:prstGeom>
          <a:noFill/>
          <a:ln/>
        </p:spPr>
        <p:txBody>
          <a:bodyPr wrap="square" lIns="0" tIns="0" rIns="0" bIns="0" rtlCol="0" anchor="ctr">
            <a:normAutofit/>
          </a:bodyPr>
          <a:lstStyle/>
          <a:p>
            <a:pPr algn="ctr" indent="0" marL="0">
              <a:buNone/>
            </a:pPr>
            <a:r>
              <a:rPr lang="en-US" sz="1250" b="1" dirty="0">
                <a:solidFill>
                  <a:srgbClr val="15202B"/>
                </a:solidFill>
              </a:rPr>
              <a:t>analiz</a:t>
            </a:r>
            <a:endParaRPr lang="en-US" sz="1250" dirty="0"/>
          </a:p>
        </p:txBody>
      </p:sp>
      <p:sp>
        <p:nvSpPr>
          <p:cNvPr id="15" name="Text 13"/>
          <p:cNvSpPr/>
          <p:nvPr/>
        </p:nvSpPr>
        <p:spPr>
          <a:xfrm>
            <a:off x="6574536" y="2916936"/>
            <a:ext cx="1645920" cy="128016"/>
          </a:xfrm>
          <a:prstGeom prst="rect">
            <a:avLst/>
          </a:prstGeom>
          <a:noFill/>
          <a:ln/>
        </p:spPr>
        <p:txBody>
          <a:bodyPr wrap="square" lIns="0" tIns="0" rIns="0" bIns="0" rtlCol="0" anchor="ctr">
            <a:normAutofit/>
          </a:bodyPr>
          <a:lstStyle/>
          <a:p>
            <a:pPr algn="ctr" indent="0" marL="0">
              <a:buNone/>
            </a:pPr>
            <a:r>
              <a:rPr lang="en-US" sz="880" dirty="0">
                <a:solidFill>
                  <a:srgbClr val="64748B"/>
                </a:solidFill>
              </a:rPr>
              <a:t>testler</a:t>
            </a:r>
            <a:endParaRPr lang="en-US" sz="880" dirty="0"/>
          </a:p>
        </p:txBody>
      </p:sp>
      <p:sp>
        <p:nvSpPr>
          <p:cNvPr id="16" name="Shape 14"/>
          <p:cNvSpPr/>
          <p:nvPr/>
        </p:nvSpPr>
        <p:spPr>
          <a:xfrm>
            <a:off x="8778240" y="2560320"/>
            <a:ext cx="1920240" cy="621792"/>
          </a:xfrm>
          <a:prstGeom prst="roundRect">
            <a:avLst>
              <a:gd name="adj" fmla="val 14706"/>
            </a:avLst>
          </a:prstGeom>
          <a:solidFill>
            <a:srgbClr val="FFFFFF"/>
          </a:solidFill>
          <a:ln w="12700">
            <a:solidFill>
              <a:srgbClr val="EFEAE0"/>
            </a:solidFill>
            <a:prstDash val="solid"/>
          </a:ln>
        </p:spPr>
      </p:sp>
      <p:sp>
        <p:nvSpPr>
          <p:cNvPr id="17" name="Text 15"/>
          <p:cNvSpPr/>
          <p:nvPr/>
        </p:nvSpPr>
        <p:spPr>
          <a:xfrm>
            <a:off x="8906256" y="2679192"/>
            <a:ext cx="1645920" cy="164592"/>
          </a:xfrm>
          <a:prstGeom prst="rect">
            <a:avLst/>
          </a:prstGeom>
          <a:noFill/>
          <a:ln/>
        </p:spPr>
        <p:txBody>
          <a:bodyPr wrap="square" lIns="0" tIns="0" rIns="0" bIns="0" rtlCol="0" anchor="ctr">
            <a:normAutofit/>
          </a:bodyPr>
          <a:lstStyle/>
          <a:p>
            <a:pPr algn="ctr" indent="0" marL="0">
              <a:buNone/>
            </a:pPr>
            <a:r>
              <a:rPr lang="en-US" sz="1250" b="1" dirty="0">
                <a:solidFill>
                  <a:srgbClr val="15202B"/>
                </a:solidFill>
              </a:rPr>
              <a:t>grafik/ağ</a:t>
            </a:r>
            <a:endParaRPr lang="en-US" sz="1250" dirty="0"/>
          </a:p>
        </p:txBody>
      </p:sp>
      <p:sp>
        <p:nvSpPr>
          <p:cNvPr id="18" name="Text 16"/>
          <p:cNvSpPr/>
          <p:nvPr/>
        </p:nvSpPr>
        <p:spPr>
          <a:xfrm>
            <a:off x="8906256" y="2916936"/>
            <a:ext cx="1645920" cy="128016"/>
          </a:xfrm>
          <a:prstGeom prst="rect">
            <a:avLst/>
          </a:prstGeom>
          <a:noFill/>
          <a:ln/>
        </p:spPr>
        <p:txBody>
          <a:bodyPr wrap="square" lIns="0" tIns="0" rIns="0" bIns="0" rtlCol="0" anchor="ctr">
            <a:normAutofit/>
          </a:bodyPr>
          <a:lstStyle/>
          <a:p>
            <a:pPr algn="ctr" indent="0" marL="0">
              <a:buNone/>
            </a:pPr>
            <a:r>
              <a:rPr lang="en-US" sz="880" dirty="0">
                <a:solidFill>
                  <a:srgbClr val="64748B"/>
                </a:solidFill>
              </a:rPr>
              <a:t>görselleştirme</a:t>
            </a:r>
            <a:endParaRPr lang="en-US" sz="880" dirty="0"/>
          </a:p>
        </p:txBody>
      </p:sp>
      <p:sp>
        <p:nvSpPr>
          <p:cNvPr id="19" name="Shape 17"/>
          <p:cNvSpPr/>
          <p:nvPr/>
        </p:nvSpPr>
        <p:spPr>
          <a:xfrm>
            <a:off x="6446520" y="3657600"/>
            <a:ext cx="1920240" cy="621792"/>
          </a:xfrm>
          <a:prstGeom prst="roundRect">
            <a:avLst>
              <a:gd name="adj" fmla="val 14706"/>
            </a:avLst>
          </a:prstGeom>
          <a:solidFill>
            <a:srgbClr val="D9294F"/>
          </a:solidFill>
          <a:ln w="12700">
            <a:solidFill>
              <a:srgbClr val="D9294F"/>
            </a:solidFill>
            <a:prstDash val="solid"/>
          </a:ln>
        </p:spPr>
      </p:sp>
      <p:sp>
        <p:nvSpPr>
          <p:cNvPr id="20" name="Text 18"/>
          <p:cNvSpPr/>
          <p:nvPr/>
        </p:nvSpPr>
        <p:spPr>
          <a:xfrm>
            <a:off x="6574536" y="3776472"/>
            <a:ext cx="1645920" cy="16459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AI yardımı</a:t>
            </a:r>
            <a:endParaRPr lang="en-US" sz="1250" dirty="0"/>
          </a:p>
        </p:txBody>
      </p:sp>
      <p:sp>
        <p:nvSpPr>
          <p:cNvPr id="21" name="Text 19"/>
          <p:cNvSpPr/>
          <p:nvPr/>
        </p:nvSpPr>
        <p:spPr>
          <a:xfrm>
            <a:off x="6574536" y="4014216"/>
            <a:ext cx="1645920" cy="128016"/>
          </a:xfrm>
          <a:prstGeom prst="rect">
            <a:avLst/>
          </a:prstGeom>
          <a:noFill/>
          <a:ln/>
        </p:spPr>
        <p:txBody>
          <a:bodyPr wrap="square" lIns="0" tIns="0" rIns="0" bIns="0" rtlCol="0" anchor="ctr">
            <a:normAutofit/>
          </a:bodyPr>
          <a:lstStyle/>
          <a:p>
            <a:pPr algn="ctr" indent="0" marL="0">
              <a:buNone/>
            </a:pPr>
            <a:r>
              <a:rPr lang="en-US" sz="880" dirty="0">
                <a:solidFill>
                  <a:srgbClr val="FFFFFF"/>
                </a:solidFill>
              </a:rPr>
              <a:t>kod + yorum</a:t>
            </a:r>
            <a:endParaRPr lang="en-US" sz="880" dirty="0"/>
          </a:p>
        </p:txBody>
      </p:sp>
      <p:sp>
        <p:nvSpPr>
          <p:cNvPr id="22" name="Shape 20"/>
          <p:cNvSpPr/>
          <p:nvPr/>
        </p:nvSpPr>
        <p:spPr>
          <a:xfrm>
            <a:off x="5989320" y="5102352"/>
            <a:ext cx="4434840" cy="0"/>
          </a:xfrm>
          <a:prstGeom prst="line">
            <a:avLst/>
          </a:prstGeom>
          <a:noFill/>
          <a:ln w="25400">
            <a:solidFill>
              <a:srgbClr val="079EA4"/>
            </a:solidFill>
            <a:prstDash val="solid"/>
            <a:tailEnd type="triangle"/>
          </a:ln>
        </p:spPr>
      </p:sp>
      <p:sp>
        <p:nvSpPr>
          <p:cNvPr id="23" name="Text 21"/>
          <p:cNvSpPr/>
          <p:nvPr/>
        </p:nvSpPr>
        <p:spPr>
          <a:xfrm>
            <a:off x="6629400" y="5394960"/>
            <a:ext cx="3703320" cy="210312"/>
          </a:xfrm>
          <a:prstGeom prst="rect">
            <a:avLst/>
          </a:prstGeom>
          <a:noFill/>
          <a:ln/>
        </p:spPr>
        <p:txBody>
          <a:bodyPr wrap="square" lIns="0" tIns="0" rIns="0" bIns="0" rtlCol="0" anchor="ctr"/>
          <a:lstStyle/>
          <a:p>
            <a:pPr algn="ctr" indent="0" marL="0">
              <a:buNone/>
            </a:pPr>
            <a:r>
              <a:rPr lang="en-US" sz="1600" b="1" dirty="0">
                <a:solidFill>
                  <a:srgbClr val="08747A"/>
                </a:solidFill>
              </a:rPr>
              <a:t>aynı dil, aynı dosya, aynı kanıt zinciri</a:t>
            </a:r>
            <a:endParaRPr lang="en-US" sz="1600" dirty="0"/>
          </a:p>
        </p:txBody>
      </p:sp>
      <p:sp>
        <p:nvSpPr>
          <p:cNvPr id="24" name="Text 22"/>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Denetim için Python ekosistemi</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Kütüphane isimleri ezber değil; hangi işi çözdüğünü bilmek önemli.</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2121408" y="2816352"/>
            <a:ext cx="731520" cy="0"/>
          </a:xfrm>
          <a:prstGeom prst="line">
            <a:avLst/>
          </a:prstGeom>
          <a:noFill/>
          <a:ln w="25400">
            <a:solidFill>
              <a:srgbClr val="079EA4"/>
            </a:solidFill>
            <a:prstDash val="solid"/>
            <a:tailEnd type="triangle"/>
          </a:ln>
        </p:spPr>
      </p:sp>
      <p:sp>
        <p:nvSpPr>
          <p:cNvPr id="6" name="Shape 4"/>
          <p:cNvSpPr/>
          <p:nvPr/>
        </p:nvSpPr>
        <p:spPr>
          <a:xfrm>
            <a:off x="4160520" y="2816352"/>
            <a:ext cx="731520" cy="0"/>
          </a:xfrm>
          <a:prstGeom prst="line">
            <a:avLst/>
          </a:prstGeom>
          <a:noFill/>
          <a:ln w="25400">
            <a:solidFill>
              <a:srgbClr val="079EA4"/>
            </a:solidFill>
            <a:prstDash val="solid"/>
            <a:tailEnd type="triangle"/>
          </a:ln>
        </p:spPr>
      </p:sp>
      <p:sp>
        <p:nvSpPr>
          <p:cNvPr id="7" name="Shape 5"/>
          <p:cNvSpPr/>
          <p:nvPr/>
        </p:nvSpPr>
        <p:spPr>
          <a:xfrm>
            <a:off x="6199632" y="2816352"/>
            <a:ext cx="731520" cy="0"/>
          </a:xfrm>
          <a:prstGeom prst="line">
            <a:avLst/>
          </a:prstGeom>
          <a:noFill/>
          <a:ln w="25400">
            <a:solidFill>
              <a:srgbClr val="079EA4"/>
            </a:solidFill>
            <a:prstDash val="solid"/>
            <a:tailEnd type="triangle"/>
          </a:ln>
        </p:spPr>
      </p:sp>
      <p:sp>
        <p:nvSpPr>
          <p:cNvPr id="8" name="Shape 6"/>
          <p:cNvSpPr/>
          <p:nvPr/>
        </p:nvSpPr>
        <p:spPr>
          <a:xfrm>
            <a:off x="8238744" y="2816352"/>
            <a:ext cx="731520" cy="0"/>
          </a:xfrm>
          <a:prstGeom prst="line">
            <a:avLst/>
          </a:prstGeom>
          <a:noFill/>
          <a:ln w="25400">
            <a:solidFill>
              <a:srgbClr val="079EA4"/>
            </a:solidFill>
            <a:prstDash val="solid"/>
            <a:tailEnd type="triangle"/>
          </a:ln>
        </p:spPr>
      </p:sp>
      <p:sp>
        <p:nvSpPr>
          <p:cNvPr id="9" name="Shape 7"/>
          <p:cNvSpPr/>
          <p:nvPr/>
        </p:nvSpPr>
        <p:spPr>
          <a:xfrm>
            <a:off x="685800" y="2148840"/>
            <a:ext cx="1417320" cy="1280160"/>
          </a:xfrm>
          <a:prstGeom prst="roundRect">
            <a:avLst>
              <a:gd name="adj" fmla="val 8571"/>
            </a:avLst>
          </a:prstGeom>
          <a:solidFill>
            <a:srgbClr val="FFFFFF"/>
          </a:solidFill>
          <a:ln w="12700">
            <a:solidFill>
              <a:srgbClr val="EFEAE0"/>
            </a:solidFill>
            <a:prstDash val="solid"/>
          </a:ln>
        </p:spPr>
      </p:sp>
      <p:sp>
        <p:nvSpPr>
          <p:cNvPr id="10" name="Text 8"/>
          <p:cNvSpPr/>
          <p:nvPr/>
        </p:nvSpPr>
        <p:spPr>
          <a:xfrm>
            <a:off x="777240" y="2359152"/>
            <a:ext cx="1234440" cy="210312"/>
          </a:xfrm>
          <a:prstGeom prst="rect">
            <a:avLst/>
          </a:prstGeom>
          <a:noFill/>
          <a:ln/>
        </p:spPr>
        <p:txBody>
          <a:bodyPr wrap="square" lIns="0" tIns="0" rIns="0" bIns="0" rtlCol="0" anchor="ctr">
            <a:normAutofit/>
          </a:bodyPr>
          <a:lstStyle/>
          <a:p>
            <a:pPr algn="ctr" indent="0" marL="0">
              <a:buNone/>
            </a:pPr>
            <a:r>
              <a:rPr lang="en-US" sz="1380" b="1" dirty="0">
                <a:solidFill>
                  <a:srgbClr val="15202B"/>
                </a:solidFill>
              </a:rPr>
              <a:t>Veriyi al</a:t>
            </a:r>
            <a:endParaRPr lang="en-US" sz="1380" dirty="0"/>
          </a:p>
        </p:txBody>
      </p:sp>
      <p:sp>
        <p:nvSpPr>
          <p:cNvPr id="11" name="Text 9"/>
          <p:cNvSpPr/>
          <p:nvPr/>
        </p:nvSpPr>
        <p:spPr>
          <a:xfrm>
            <a:off x="822960" y="2770632"/>
            <a:ext cx="1143000" cy="438912"/>
          </a:xfrm>
          <a:prstGeom prst="rect">
            <a:avLst/>
          </a:prstGeom>
          <a:noFill/>
          <a:ln/>
        </p:spPr>
        <p:txBody>
          <a:bodyPr wrap="square" lIns="0" tIns="0" rIns="0" bIns="0" rtlCol="0" anchor="ctr">
            <a:normAutofit/>
          </a:bodyPr>
          <a:lstStyle/>
          <a:p>
            <a:pPr algn="ctr" indent="0" marL="0">
              <a:buNone/>
            </a:pPr>
            <a:r>
              <a:rPr lang="en-US" sz="930" dirty="0">
                <a:solidFill>
                  <a:srgbClr val="64748B"/>
                </a:solidFill>
              </a:rPr>
              <a:t>pandas</a:t>
            </a:r>
            <a:endParaRPr lang="en-US" sz="930" dirty="0"/>
          </a:p>
          <a:p>
            <a:pPr algn="ctr" indent="0" marL="0">
              <a:buNone/>
            </a:pPr>
            <a:r>
              <a:rPr lang="en-US" sz="930" dirty="0">
                <a:solidFill>
                  <a:srgbClr val="64748B"/>
                </a:solidFill>
              </a:rPr>
              <a:t>openpyxl</a:t>
            </a:r>
            <a:endParaRPr lang="en-US" sz="930" dirty="0"/>
          </a:p>
          <a:p>
            <a:pPr algn="ctr" indent="0" marL="0">
              <a:buNone/>
            </a:pPr>
            <a:r>
              <a:rPr lang="en-US" sz="930" dirty="0">
                <a:solidFill>
                  <a:srgbClr val="64748B"/>
                </a:solidFill>
              </a:rPr>
              <a:t>sqlalchemy</a:t>
            </a:r>
            <a:endParaRPr lang="en-US" sz="930" dirty="0"/>
          </a:p>
        </p:txBody>
      </p:sp>
      <p:sp>
        <p:nvSpPr>
          <p:cNvPr id="12" name="Shape 10"/>
          <p:cNvSpPr/>
          <p:nvPr/>
        </p:nvSpPr>
        <p:spPr>
          <a:xfrm>
            <a:off x="2743200" y="2148840"/>
            <a:ext cx="1417320" cy="1280160"/>
          </a:xfrm>
          <a:prstGeom prst="roundRect">
            <a:avLst>
              <a:gd name="adj" fmla="val 8571"/>
            </a:avLst>
          </a:prstGeom>
          <a:solidFill>
            <a:srgbClr val="FFFFFF"/>
          </a:solidFill>
          <a:ln w="12700">
            <a:solidFill>
              <a:srgbClr val="EFEAE0"/>
            </a:solidFill>
            <a:prstDash val="solid"/>
          </a:ln>
        </p:spPr>
      </p:sp>
      <p:sp>
        <p:nvSpPr>
          <p:cNvPr id="13" name="Text 11"/>
          <p:cNvSpPr/>
          <p:nvPr/>
        </p:nvSpPr>
        <p:spPr>
          <a:xfrm>
            <a:off x="2834640" y="2359152"/>
            <a:ext cx="1234440" cy="210312"/>
          </a:xfrm>
          <a:prstGeom prst="rect">
            <a:avLst/>
          </a:prstGeom>
          <a:noFill/>
          <a:ln/>
        </p:spPr>
        <p:txBody>
          <a:bodyPr wrap="square" lIns="0" tIns="0" rIns="0" bIns="0" rtlCol="0" anchor="ctr">
            <a:normAutofit/>
          </a:bodyPr>
          <a:lstStyle/>
          <a:p>
            <a:pPr algn="ctr" indent="0" marL="0">
              <a:buNone/>
            </a:pPr>
            <a:r>
              <a:rPr lang="en-US" sz="1380" b="1" dirty="0">
                <a:solidFill>
                  <a:srgbClr val="15202B"/>
                </a:solidFill>
              </a:rPr>
              <a:t>Temizle</a:t>
            </a:r>
            <a:endParaRPr lang="en-US" sz="1380" dirty="0"/>
          </a:p>
        </p:txBody>
      </p:sp>
      <p:sp>
        <p:nvSpPr>
          <p:cNvPr id="14" name="Text 12"/>
          <p:cNvSpPr/>
          <p:nvPr/>
        </p:nvSpPr>
        <p:spPr>
          <a:xfrm>
            <a:off x="2880360" y="2770632"/>
            <a:ext cx="1143000" cy="438912"/>
          </a:xfrm>
          <a:prstGeom prst="rect">
            <a:avLst/>
          </a:prstGeom>
          <a:noFill/>
          <a:ln/>
        </p:spPr>
        <p:txBody>
          <a:bodyPr wrap="square" lIns="0" tIns="0" rIns="0" bIns="0" rtlCol="0" anchor="ctr">
            <a:normAutofit/>
          </a:bodyPr>
          <a:lstStyle/>
          <a:p>
            <a:pPr algn="ctr" indent="0" marL="0">
              <a:buNone/>
            </a:pPr>
            <a:r>
              <a:rPr lang="en-US" sz="930" dirty="0">
                <a:solidFill>
                  <a:srgbClr val="64748B"/>
                </a:solidFill>
              </a:rPr>
              <a:t>pandas</a:t>
            </a:r>
            <a:endParaRPr lang="en-US" sz="930" dirty="0"/>
          </a:p>
          <a:p>
            <a:pPr algn="ctr" indent="0" marL="0">
              <a:buNone/>
            </a:pPr>
            <a:r>
              <a:rPr lang="en-US" sz="930" dirty="0">
                <a:solidFill>
                  <a:srgbClr val="64748B"/>
                </a:solidFill>
              </a:rPr>
              <a:t>regex</a:t>
            </a:r>
            <a:endParaRPr lang="en-US" sz="930" dirty="0"/>
          </a:p>
          <a:p>
            <a:pPr algn="ctr" indent="0" marL="0">
              <a:buNone/>
            </a:pPr>
            <a:r>
              <a:rPr lang="en-US" sz="930" dirty="0">
                <a:solidFill>
                  <a:srgbClr val="64748B"/>
                </a:solidFill>
              </a:rPr>
              <a:t>rapidfuzz</a:t>
            </a:r>
            <a:endParaRPr lang="en-US" sz="930" dirty="0"/>
          </a:p>
        </p:txBody>
      </p:sp>
      <p:sp>
        <p:nvSpPr>
          <p:cNvPr id="15" name="Shape 13"/>
          <p:cNvSpPr/>
          <p:nvPr/>
        </p:nvSpPr>
        <p:spPr>
          <a:xfrm>
            <a:off x="4800600" y="2148840"/>
            <a:ext cx="1417320" cy="1280160"/>
          </a:xfrm>
          <a:prstGeom prst="roundRect">
            <a:avLst>
              <a:gd name="adj" fmla="val 8571"/>
            </a:avLst>
          </a:prstGeom>
          <a:solidFill>
            <a:srgbClr val="FFFFFF"/>
          </a:solidFill>
          <a:ln w="12700">
            <a:solidFill>
              <a:srgbClr val="EFEAE0"/>
            </a:solidFill>
            <a:prstDash val="solid"/>
          </a:ln>
        </p:spPr>
      </p:sp>
      <p:sp>
        <p:nvSpPr>
          <p:cNvPr id="16" name="Text 14"/>
          <p:cNvSpPr/>
          <p:nvPr/>
        </p:nvSpPr>
        <p:spPr>
          <a:xfrm>
            <a:off x="4892040" y="2359152"/>
            <a:ext cx="1234440" cy="210312"/>
          </a:xfrm>
          <a:prstGeom prst="rect">
            <a:avLst/>
          </a:prstGeom>
          <a:noFill/>
          <a:ln/>
        </p:spPr>
        <p:txBody>
          <a:bodyPr wrap="square" lIns="0" tIns="0" rIns="0" bIns="0" rtlCol="0" anchor="ctr">
            <a:normAutofit/>
          </a:bodyPr>
          <a:lstStyle/>
          <a:p>
            <a:pPr algn="ctr" indent="0" marL="0">
              <a:buNone/>
            </a:pPr>
            <a:r>
              <a:rPr lang="en-US" sz="1380" b="1" dirty="0">
                <a:solidFill>
                  <a:srgbClr val="15202B"/>
                </a:solidFill>
              </a:rPr>
              <a:t>Test et</a:t>
            </a:r>
            <a:endParaRPr lang="en-US" sz="1380" dirty="0"/>
          </a:p>
        </p:txBody>
      </p:sp>
      <p:sp>
        <p:nvSpPr>
          <p:cNvPr id="17" name="Text 15"/>
          <p:cNvSpPr/>
          <p:nvPr/>
        </p:nvSpPr>
        <p:spPr>
          <a:xfrm>
            <a:off x="4937760" y="2770632"/>
            <a:ext cx="1143000" cy="438912"/>
          </a:xfrm>
          <a:prstGeom prst="rect">
            <a:avLst/>
          </a:prstGeom>
          <a:noFill/>
          <a:ln/>
        </p:spPr>
        <p:txBody>
          <a:bodyPr wrap="square" lIns="0" tIns="0" rIns="0" bIns="0" rtlCol="0" anchor="ctr">
            <a:normAutofit/>
          </a:bodyPr>
          <a:lstStyle/>
          <a:p>
            <a:pPr algn="ctr" indent="0" marL="0">
              <a:buNone/>
            </a:pPr>
            <a:r>
              <a:rPr lang="en-US" sz="930" dirty="0">
                <a:solidFill>
                  <a:srgbClr val="64748B"/>
                </a:solidFill>
              </a:rPr>
              <a:t>numpy</a:t>
            </a:r>
            <a:endParaRPr lang="en-US" sz="930" dirty="0"/>
          </a:p>
          <a:p>
            <a:pPr algn="ctr" indent="0" marL="0">
              <a:buNone/>
            </a:pPr>
            <a:r>
              <a:rPr lang="en-US" sz="930" dirty="0">
                <a:solidFill>
                  <a:srgbClr val="64748B"/>
                </a:solidFill>
              </a:rPr>
              <a:t>scipy</a:t>
            </a:r>
            <a:endParaRPr lang="en-US" sz="930" dirty="0"/>
          </a:p>
          <a:p>
            <a:pPr algn="ctr" indent="0" marL="0">
              <a:buNone/>
            </a:pPr>
            <a:r>
              <a:rPr lang="en-US" sz="930" dirty="0">
                <a:solidFill>
                  <a:srgbClr val="64748B"/>
                </a:solidFill>
              </a:rPr>
              <a:t>sklearn</a:t>
            </a:r>
            <a:endParaRPr lang="en-US" sz="930" dirty="0"/>
          </a:p>
        </p:txBody>
      </p:sp>
      <p:sp>
        <p:nvSpPr>
          <p:cNvPr id="18" name="Shape 16"/>
          <p:cNvSpPr/>
          <p:nvPr/>
        </p:nvSpPr>
        <p:spPr>
          <a:xfrm>
            <a:off x="6858000" y="2148840"/>
            <a:ext cx="1417320" cy="1280160"/>
          </a:xfrm>
          <a:prstGeom prst="roundRect">
            <a:avLst>
              <a:gd name="adj" fmla="val 8571"/>
            </a:avLst>
          </a:prstGeom>
          <a:solidFill>
            <a:srgbClr val="FFFFFF"/>
          </a:solidFill>
          <a:ln w="12700">
            <a:solidFill>
              <a:srgbClr val="EFEAE0"/>
            </a:solidFill>
            <a:prstDash val="solid"/>
          </a:ln>
        </p:spPr>
      </p:sp>
      <p:sp>
        <p:nvSpPr>
          <p:cNvPr id="19" name="Text 17"/>
          <p:cNvSpPr/>
          <p:nvPr/>
        </p:nvSpPr>
        <p:spPr>
          <a:xfrm>
            <a:off x="6949440" y="2359152"/>
            <a:ext cx="1234440" cy="210312"/>
          </a:xfrm>
          <a:prstGeom prst="rect">
            <a:avLst/>
          </a:prstGeom>
          <a:noFill/>
          <a:ln/>
        </p:spPr>
        <p:txBody>
          <a:bodyPr wrap="square" lIns="0" tIns="0" rIns="0" bIns="0" rtlCol="0" anchor="ctr">
            <a:normAutofit/>
          </a:bodyPr>
          <a:lstStyle/>
          <a:p>
            <a:pPr algn="ctr" indent="0" marL="0">
              <a:buNone/>
            </a:pPr>
            <a:r>
              <a:rPr lang="en-US" sz="1380" b="1" dirty="0">
                <a:solidFill>
                  <a:srgbClr val="15202B"/>
                </a:solidFill>
              </a:rPr>
              <a:t>Görselleştir</a:t>
            </a:r>
            <a:endParaRPr lang="en-US" sz="1380" dirty="0"/>
          </a:p>
        </p:txBody>
      </p:sp>
      <p:sp>
        <p:nvSpPr>
          <p:cNvPr id="20" name="Text 18"/>
          <p:cNvSpPr/>
          <p:nvPr/>
        </p:nvSpPr>
        <p:spPr>
          <a:xfrm>
            <a:off x="6995160" y="2770632"/>
            <a:ext cx="1143000" cy="438912"/>
          </a:xfrm>
          <a:prstGeom prst="rect">
            <a:avLst/>
          </a:prstGeom>
          <a:noFill/>
          <a:ln/>
        </p:spPr>
        <p:txBody>
          <a:bodyPr wrap="square" lIns="0" tIns="0" rIns="0" bIns="0" rtlCol="0" anchor="ctr">
            <a:normAutofit/>
          </a:bodyPr>
          <a:lstStyle/>
          <a:p>
            <a:pPr algn="ctr" indent="0" marL="0">
              <a:buNone/>
            </a:pPr>
            <a:r>
              <a:rPr lang="en-US" sz="930" dirty="0">
                <a:solidFill>
                  <a:srgbClr val="64748B"/>
                </a:solidFill>
              </a:rPr>
              <a:t>matplotlib</a:t>
            </a:r>
            <a:endParaRPr lang="en-US" sz="930" dirty="0"/>
          </a:p>
          <a:p>
            <a:pPr algn="ctr" indent="0" marL="0">
              <a:buNone/>
            </a:pPr>
            <a:r>
              <a:rPr lang="en-US" sz="930" dirty="0">
                <a:solidFill>
                  <a:srgbClr val="64748B"/>
                </a:solidFill>
              </a:rPr>
              <a:t>plotly</a:t>
            </a:r>
            <a:endParaRPr lang="en-US" sz="930" dirty="0"/>
          </a:p>
          <a:p>
            <a:pPr algn="ctr" indent="0" marL="0">
              <a:buNone/>
            </a:pPr>
            <a:r>
              <a:rPr lang="en-US" sz="930" dirty="0">
                <a:solidFill>
                  <a:srgbClr val="64748B"/>
                </a:solidFill>
              </a:rPr>
              <a:t>networkx</a:t>
            </a:r>
            <a:endParaRPr lang="en-US" sz="930" dirty="0"/>
          </a:p>
        </p:txBody>
      </p:sp>
      <p:sp>
        <p:nvSpPr>
          <p:cNvPr id="21" name="Shape 19"/>
          <p:cNvSpPr/>
          <p:nvPr/>
        </p:nvSpPr>
        <p:spPr>
          <a:xfrm>
            <a:off x="8915400" y="2148840"/>
            <a:ext cx="1417320" cy="1280160"/>
          </a:xfrm>
          <a:prstGeom prst="roundRect">
            <a:avLst>
              <a:gd name="adj" fmla="val 8571"/>
            </a:avLst>
          </a:prstGeom>
          <a:solidFill>
            <a:srgbClr val="0B1F33"/>
          </a:solidFill>
          <a:ln w="12700">
            <a:solidFill>
              <a:srgbClr val="0B1F33"/>
            </a:solidFill>
            <a:prstDash val="solid"/>
          </a:ln>
        </p:spPr>
      </p:sp>
      <p:sp>
        <p:nvSpPr>
          <p:cNvPr id="22" name="Text 20"/>
          <p:cNvSpPr/>
          <p:nvPr/>
        </p:nvSpPr>
        <p:spPr>
          <a:xfrm>
            <a:off x="9006840" y="2359152"/>
            <a:ext cx="1234440" cy="210312"/>
          </a:xfrm>
          <a:prstGeom prst="rect">
            <a:avLst/>
          </a:prstGeom>
          <a:noFill/>
          <a:ln/>
        </p:spPr>
        <p:txBody>
          <a:bodyPr wrap="square" lIns="0" tIns="0" rIns="0" bIns="0" rtlCol="0" anchor="ctr">
            <a:normAutofit/>
          </a:bodyPr>
          <a:lstStyle/>
          <a:p>
            <a:pPr algn="ctr" indent="0" marL="0">
              <a:buNone/>
            </a:pPr>
            <a:r>
              <a:rPr lang="en-US" sz="1380" b="1" dirty="0">
                <a:solidFill>
                  <a:srgbClr val="FFFFFF"/>
                </a:solidFill>
              </a:rPr>
              <a:t>Yorumla</a:t>
            </a:r>
            <a:endParaRPr lang="en-US" sz="1380" dirty="0"/>
          </a:p>
        </p:txBody>
      </p:sp>
      <p:sp>
        <p:nvSpPr>
          <p:cNvPr id="23" name="Text 21"/>
          <p:cNvSpPr/>
          <p:nvPr/>
        </p:nvSpPr>
        <p:spPr>
          <a:xfrm>
            <a:off x="9052560" y="2770632"/>
            <a:ext cx="1143000" cy="438912"/>
          </a:xfrm>
          <a:prstGeom prst="rect">
            <a:avLst/>
          </a:prstGeom>
          <a:noFill/>
          <a:ln/>
        </p:spPr>
        <p:txBody>
          <a:bodyPr wrap="square" lIns="0" tIns="0" rIns="0" bIns="0" rtlCol="0" anchor="ctr">
            <a:normAutofit/>
          </a:bodyPr>
          <a:lstStyle/>
          <a:p>
            <a:pPr algn="ctr" indent="0" marL="0">
              <a:buNone/>
            </a:pPr>
            <a:r>
              <a:rPr lang="en-US" sz="930" dirty="0">
                <a:solidFill>
                  <a:srgbClr val="C6D3E1"/>
                </a:solidFill>
              </a:rPr>
              <a:t>Jupyter</a:t>
            </a:r>
            <a:endParaRPr lang="en-US" sz="930" dirty="0"/>
          </a:p>
          <a:p>
            <a:pPr algn="ctr" indent="0" marL="0">
              <a:buNone/>
            </a:pPr>
            <a:r>
              <a:rPr lang="en-US" sz="930" dirty="0">
                <a:solidFill>
                  <a:srgbClr val="C6D3E1"/>
                </a:solidFill>
              </a:rPr>
              <a:t>LLM/AI</a:t>
            </a:r>
            <a:endParaRPr lang="en-US" sz="930" dirty="0"/>
          </a:p>
          <a:p>
            <a:pPr algn="ctr" indent="0" marL="0">
              <a:buNone/>
            </a:pPr>
            <a:r>
              <a:rPr lang="en-US" sz="930" dirty="0">
                <a:solidFill>
                  <a:srgbClr val="C6D3E1"/>
                </a:solidFill>
              </a:rPr>
              <a:t>rapor</a:t>
            </a:r>
            <a:endParaRPr lang="en-US" sz="930" dirty="0"/>
          </a:p>
        </p:txBody>
      </p:sp>
      <p:sp>
        <p:nvSpPr>
          <p:cNvPr id="24" name="Text 22"/>
          <p:cNvSpPr/>
          <p:nvPr/>
        </p:nvSpPr>
        <p:spPr>
          <a:xfrm>
            <a:off x="960120" y="4800600"/>
            <a:ext cx="10195560" cy="384048"/>
          </a:xfrm>
          <a:prstGeom prst="rect">
            <a:avLst/>
          </a:prstGeom>
          <a:noFill/>
          <a:ln/>
        </p:spPr>
        <p:txBody>
          <a:bodyPr wrap="square" lIns="0" tIns="0" rIns="0" bIns="0" rtlCol="0" anchor="ctr">
            <a:normAutofit/>
          </a:bodyPr>
          <a:lstStyle/>
          <a:p>
            <a:pPr algn="ctr" indent="0" marL="0">
              <a:buNone/>
            </a:pPr>
            <a:r>
              <a:rPr lang="en-US" sz="1800" b="1" dirty="0">
                <a:solidFill>
                  <a:srgbClr val="15202B"/>
                </a:solidFill>
              </a:rPr>
              <a:t>Basit örnek: tüm ödemeleri oku → tedarikçi adlarını düzelt → olağandışı tutarları bul → ilişkileri ağ olarak çiz → denetim notunu üret.</a:t>
            </a:r>
            <a:endParaRPr lang="en-US" sz="1800" dirty="0"/>
          </a:p>
        </p:txBody>
      </p:sp>
      <p:sp>
        <p:nvSpPr>
          <p:cNvPr id="25" name="Text 23"/>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Yapay zekâ: denetçiyi değiştirmez, çıtayı yükseltir</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Hız kazandırır; fakat doğrulama yükünü ortadan kaldırmaz.</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Text 3"/>
          <p:cNvSpPr/>
          <p:nvPr/>
        </p:nvSpPr>
        <p:spPr>
          <a:xfrm>
            <a:off x="777240" y="1417320"/>
            <a:ext cx="4114800" cy="320040"/>
          </a:xfrm>
          <a:prstGeom prst="rect">
            <a:avLst/>
          </a:prstGeom>
          <a:noFill/>
          <a:ln/>
        </p:spPr>
        <p:txBody>
          <a:bodyPr wrap="square" lIns="0" tIns="0" rIns="0" bIns="0" rtlCol="0" anchor="ctr"/>
          <a:lstStyle/>
          <a:p>
            <a:pPr indent="0" marL="0">
              <a:buNone/>
            </a:pPr>
            <a:r>
              <a:rPr lang="en-US" sz="2200" b="1" dirty="0">
                <a:solidFill>
                  <a:srgbClr val="15202B"/>
                </a:solidFill>
              </a:rPr>
              <a:t>AI iyi bir asistan olabilir:</a:t>
            </a:r>
            <a:endParaRPr lang="en-US" sz="2200" dirty="0"/>
          </a:p>
        </p:txBody>
      </p:sp>
      <p:sp>
        <p:nvSpPr>
          <p:cNvPr id="6" name="Shape 4"/>
          <p:cNvSpPr/>
          <p:nvPr/>
        </p:nvSpPr>
        <p:spPr>
          <a:xfrm>
            <a:off x="822960" y="1938528"/>
            <a:ext cx="1508760" cy="320040"/>
          </a:xfrm>
          <a:prstGeom prst="roundRect">
            <a:avLst>
              <a:gd name="adj" fmla="val 25714"/>
            </a:avLst>
          </a:prstGeom>
          <a:solidFill>
            <a:srgbClr val="D9294F"/>
          </a:solidFill>
          <a:ln w="12700">
            <a:solidFill>
              <a:srgbClr val="D9294F"/>
            </a:solidFill>
            <a:prstDash val="solid"/>
          </a:ln>
        </p:spPr>
      </p:sp>
      <p:sp>
        <p:nvSpPr>
          <p:cNvPr id="7" name="Text 5"/>
          <p:cNvSpPr/>
          <p:nvPr/>
        </p:nvSpPr>
        <p:spPr>
          <a:xfrm>
            <a:off x="932688" y="2007108"/>
            <a:ext cx="1289304" cy="146304"/>
          </a:xfrm>
          <a:prstGeom prst="rect">
            <a:avLst/>
          </a:prstGeom>
          <a:noFill/>
          <a:ln/>
        </p:spPr>
        <p:txBody>
          <a:bodyPr wrap="square" lIns="0" tIns="0" rIns="0" bIns="0" rtlCol="0" anchor="ctr"/>
          <a:lstStyle/>
          <a:p>
            <a:pPr algn="ctr" indent="0" marL="0">
              <a:buNone/>
            </a:pPr>
            <a:r>
              <a:rPr lang="en-US" sz="900" b="1" dirty="0">
                <a:solidFill>
                  <a:srgbClr val="FFFFFF"/>
                </a:solidFill>
              </a:rPr>
              <a:t>ilk kod taslağı</a:t>
            </a:r>
            <a:endParaRPr lang="en-US" sz="900" dirty="0"/>
          </a:p>
        </p:txBody>
      </p:sp>
      <p:sp>
        <p:nvSpPr>
          <p:cNvPr id="8" name="Shape 6"/>
          <p:cNvSpPr/>
          <p:nvPr/>
        </p:nvSpPr>
        <p:spPr>
          <a:xfrm>
            <a:off x="2743200" y="1938528"/>
            <a:ext cx="1508760" cy="320040"/>
          </a:xfrm>
          <a:prstGeom prst="roundRect">
            <a:avLst>
              <a:gd name="adj" fmla="val 25714"/>
            </a:avLst>
          </a:prstGeom>
          <a:solidFill>
            <a:srgbClr val="079EA4"/>
          </a:solidFill>
          <a:ln w="12700">
            <a:solidFill>
              <a:srgbClr val="079EA4"/>
            </a:solidFill>
            <a:prstDash val="solid"/>
          </a:ln>
        </p:spPr>
      </p:sp>
      <p:sp>
        <p:nvSpPr>
          <p:cNvPr id="9" name="Text 7"/>
          <p:cNvSpPr/>
          <p:nvPr/>
        </p:nvSpPr>
        <p:spPr>
          <a:xfrm>
            <a:off x="2852928" y="2007108"/>
            <a:ext cx="1289304" cy="146304"/>
          </a:xfrm>
          <a:prstGeom prst="rect">
            <a:avLst/>
          </a:prstGeom>
          <a:noFill/>
          <a:ln/>
        </p:spPr>
        <p:txBody>
          <a:bodyPr wrap="square" lIns="0" tIns="0" rIns="0" bIns="0" rtlCol="0" anchor="ctr"/>
          <a:lstStyle/>
          <a:p>
            <a:pPr algn="ctr" indent="0" marL="0">
              <a:buNone/>
            </a:pPr>
            <a:r>
              <a:rPr lang="en-US" sz="900" b="1" dirty="0">
                <a:solidFill>
                  <a:srgbClr val="FFFFFF"/>
                </a:solidFill>
              </a:rPr>
              <a:t>hata açıklama</a:t>
            </a:r>
            <a:endParaRPr lang="en-US" sz="900" dirty="0"/>
          </a:p>
        </p:txBody>
      </p:sp>
      <p:sp>
        <p:nvSpPr>
          <p:cNvPr id="10" name="Shape 8"/>
          <p:cNvSpPr/>
          <p:nvPr/>
        </p:nvSpPr>
        <p:spPr>
          <a:xfrm>
            <a:off x="4663440" y="1938528"/>
            <a:ext cx="1508760" cy="320040"/>
          </a:xfrm>
          <a:prstGeom prst="roundRect">
            <a:avLst>
              <a:gd name="adj" fmla="val 25714"/>
            </a:avLst>
          </a:prstGeom>
          <a:solidFill>
            <a:srgbClr val="079EA4"/>
          </a:solidFill>
          <a:ln w="12700">
            <a:solidFill>
              <a:srgbClr val="079EA4"/>
            </a:solidFill>
            <a:prstDash val="solid"/>
          </a:ln>
        </p:spPr>
      </p:sp>
      <p:sp>
        <p:nvSpPr>
          <p:cNvPr id="11" name="Text 9"/>
          <p:cNvSpPr/>
          <p:nvPr/>
        </p:nvSpPr>
        <p:spPr>
          <a:xfrm>
            <a:off x="4773168" y="2007108"/>
            <a:ext cx="1289304" cy="146304"/>
          </a:xfrm>
          <a:prstGeom prst="rect">
            <a:avLst/>
          </a:prstGeom>
          <a:noFill/>
          <a:ln/>
        </p:spPr>
        <p:txBody>
          <a:bodyPr wrap="square" lIns="0" tIns="0" rIns="0" bIns="0" rtlCol="0" anchor="ctr"/>
          <a:lstStyle/>
          <a:p>
            <a:pPr algn="ctr" indent="0" marL="0">
              <a:buNone/>
            </a:pPr>
            <a:r>
              <a:rPr lang="en-US" sz="900" b="1" dirty="0">
                <a:solidFill>
                  <a:srgbClr val="FFFFFF"/>
                </a:solidFill>
              </a:rPr>
              <a:t>grafik fikri</a:t>
            </a:r>
            <a:endParaRPr lang="en-US" sz="900" dirty="0"/>
          </a:p>
        </p:txBody>
      </p:sp>
      <p:sp>
        <p:nvSpPr>
          <p:cNvPr id="12" name="Shape 10"/>
          <p:cNvSpPr/>
          <p:nvPr/>
        </p:nvSpPr>
        <p:spPr>
          <a:xfrm>
            <a:off x="822960" y="2505456"/>
            <a:ext cx="1508760" cy="320040"/>
          </a:xfrm>
          <a:prstGeom prst="roundRect">
            <a:avLst>
              <a:gd name="adj" fmla="val 25714"/>
            </a:avLst>
          </a:prstGeom>
          <a:solidFill>
            <a:srgbClr val="079EA4"/>
          </a:solidFill>
          <a:ln w="12700">
            <a:solidFill>
              <a:srgbClr val="079EA4"/>
            </a:solidFill>
            <a:prstDash val="solid"/>
          </a:ln>
        </p:spPr>
      </p:sp>
      <p:sp>
        <p:nvSpPr>
          <p:cNvPr id="13" name="Text 11"/>
          <p:cNvSpPr/>
          <p:nvPr/>
        </p:nvSpPr>
        <p:spPr>
          <a:xfrm>
            <a:off x="932688" y="2574036"/>
            <a:ext cx="1289304" cy="146304"/>
          </a:xfrm>
          <a:prstGeom prst="rect">
            <a:avLst/>
          </a:prstGeom>
          <a:noFill/>
          <a:ln/>
        </p:spPr>
        <p:txBody>
          <a:bodyPr wrap="square" lIns="0" tIns="0" rIns="0" bIns="0" rtlCol="0" anchor="ctr"/>
          <a:lstStyle/>
          <a:p>
            <a:pPr algn="ctr" indent="0" marL="0">
              <a:buNone/>
            </a:pPr>
            <a:r>
              <a:rPr lang="en-US" sz="900" b="1" dirty="0">
                <a:solidFill>
                  <a:srgbClr val="FFFFFF"/>
                </a:solidFill>
              </a:rPr>
              <a:t>test senaryosu</a:t>
            </a:r>
            <a:endParaRPr lang="en-US" sz="900" dirty="0"/>
          </a:p>
        </p:txBody>
      </p:sp>
      <p:sp>
        <p:nvSpPr>
          <p:cNvPr id="14" name="Shape 12"/>
          <p:cNvSpPr/>
          <p:nvPr/>
        </p:nvSpPr>
        <p:spPr>
          <a:xfrm>
            <a:off x="2743200" y="2505456"/>
            <a:ext cx="1508760" cy="320040"/>
          </a:xfrm>
          <a:prstGeom prst="roundRect">
            <a:avLst>
              <a:gd name="adj" fmla="val 25714"/>
            </a:avLst>
          </a:prstGeom>
          <a:solidFill>
            <a:srgbClr val="079EA4"/>
          </a:solidFill>
          <a:ln w="12700">
            <a:solidFill>
              <a:srgbClr val="079EA4"/>
            </a:solidFill>
            <a:prstDash val="solid"/>
          </a:ln>
        </p:spPr>
      </p:sp>
      <p:sp>
        <p:nvSpPr>
          <p:cNvPr id="15" name="Text 13"/>
          <p:cNvSpPr/>
          <p:nvPr/>
        </p:nvSpPr>
        <p:spPr>
          <a:xfrm>
            <a:off x="2852928" y="2574036"/>
            <a:ext cx="1289304" cy="146304"/>
          </a:xfrm>
          <a:prstGeom prst="rect">
            <a:avLst/>
          </a:prstGeom>
          <a:noFill/>
          <a:ln/>
        </p:spPr>
        <p:txBody>
          <a:bodyPr wrap="square" lIns="0" tIns="0" rIns="0" bIns="0" rtlCol="0" anchor="ctr"/>
          <a:lstStyle/>
          <a:p>
            <a:pPr algn="ctr" indent="0" marL="0">
              <a:buNone/>
            </a:pPr>
            <a:r>
              <a:rPr lang="en-US" sz="900" b="1" dirty="0">
                <a:solidFill>
                  <a:srgbClr val="FFFFFF"/>
                </a:solidFill>
              </a:rPr>
              <a:t>dokümantasyon</a:t>
            </a:r>
            <a:endParaRPr lang="en-US" sz="900" dirty="0"/>
          </a:p>
        </p:txBody>
      </p:sp>
      <p:sp>
        <p:nvSpPr>
          <p:cNvPr id="16" name="Text 14"/>
          <p:cNvSpPr/>
          <p:nvPr/>
        </p:nvSpPr>
        <p:spPr>
          <a:xfrm>
            <a:off x="6126480" y="1417320"/>
            <a:ext cx="4023360" cy="320040"/>
          </a:xfrm>
          <a:prstGeom prst="rect">
            <a:avLst/>
          </a:prstGeom>
          <a:noFill/>
          <a:ln/>
        </p:spPr>
        <p:txBody>
          <a:bodyPr wrap="square" lIns="0" tIns="0" rIns="0" bIns="0" rtlCol="0" anchor="ctr"/>
          <a:lstStyle/>
          <a:p>
            <a:pPr indent="0" marL="0">
              <a:buNone/>
            </a:pPr>
            <a:r>
              <a:rPr lang="en-US" sz="2200" b="1" dirty="0">
                <a:solidFill>
                  <a:srgbClr val="15202B"/>
                </a:solidFill>
              </a:rPr>
              <a:t>Ama denetçi şunları bırakmaz:</a:t>
            </a:r>
            <a:endParaRPr lang="en-US" sz="2200" dirty="0"/>
          </a:p>
        </p:txBody>
      </p:sp>
      <p:sp>
        <p:nvSpPr>
          <p:cNvPr id="17" name="Shape 15"/>
          <p:cNvSpPr/>
          <p:nvPr/>
        </p:nvSpPr>
        <p:spPr>
          <a:xfrm>
            <a:off x="6236208" y="2057400"/>
            <a:ext cx="429768" cy="0"/>
          </a:xfrm>
          <a:prstGeom prst="line">
            <a:avLst/>
          </a:prstGeom>
          <a:noFill/>
          <a:ln w="38100">
            <a:solidFill>
              <a:srgbClr val="D9294F"/>
            </a:solidFill>
            <a:prstDash val="solid"/>
          </a:ln>
        </p:spPr>
      </p:sp>
      <p:sp>
        <p:nvSpPr>
          <p:cNvPr id="18" name="Text 16"/>
          <p:cNvSpPr/>
          <p:nvPr/>
        </p:nvSpPr>
        <p:spPr>
          <a:xfrm>
            <a:off x="6812280" y="1929384"/>
            <a:ext cx="1463040" cy="182880"/>
          </a:xfrm>
          <a:prstGeom prst="rect">
            <a:avLst/>
          </a:prstGeom>
          <a:noFill/>
          <a:ln/>
        </p:spPr>
        <p:txBody>
          <a:bodyPr wrap="square" lIns="0" tIns="0" rIns="0" bIns="0" rtlCol="0" anchor="ctr"/>
          <a:lstStyle/>
          <a:p>
            <a:pPr indent="0" marL="0">
              <a:buNone/>
            </a:pPr>
            <a:r>
              <a:rPr lang="en-US" sz="1500" b="1" dirty="0">
                <a:solidFill>
                  <a:srgbClr val="15202B"/>
                </a:solidFill>
              </a:rPr>
              <a:t>veri gizliliği</a:t>
            </a:r>
            <a:endParaRPr lang="en-US" sz="1500" dirty="0"/>
          </a:p>
        </p:txBody>
      </p:sp>
      <p:sp>
        <p:nvSpPr>
          <p:cNvPr id="19" name="Text 17"/>
          <p:cNvSpPr/>
          <p:nvPr/>
        </p:nvSpPr>
        <p:spPr>
          <a:xfrm>
            <a:off x="8732520" y="1956816"/>
            <a:ext cx="2331720" cy="155448"/>
          </a:xfrm>
          <a:prstGeom prst="rect">
            <a:avLst/>
          </a:prstGeom>
          <a:noFill/>
          <a:ln/>
        </p:spPr>
        <p:txBody>
          <a:bodyPr wrap="square" lIns="0" tIns="0" rIns="0" bIns="0" rtlCol="0" anchor="ctr">
            <a:normAutofit/>
          </a:bodyPr>
          <a:lstStyle/>
          <a:p>
            <a:pPr indent="0" marL="0">
              <a:buNone/>
            </a:pPr>
            <a:r>
              <a:rPr lang="en-US" sz="1180" dirty="0">
                <a:solidFill>
                  <a:srgbClr val="334155"/>
                </a:solidFill>
              </a:rPr>
              <a:t>Hangi veri dışarı çıkamaz?</a:t>
            </a:r>
            <a:endParaRPr lang="en-US" sz="1180" dirty="0"/>
          </a:p>
        </p:txBody>
      </p:sp>
      <p:sp>
        <p:nvSpPr>
          <p:cNvPr id="20" name="Shape 18"/>
          <p:cNvSpPr/>
          <p:nvPr/>
        </p:nvSpPr>
        <p:spPr>
          <a:xfrm>
            <a:off x="6236208" y="2807208"/>
            <a:ext cx="429768" cy="0"/>
          </a:xfrm>
          <a:prstGeom prst="line">
            <a:avLst/>
          </a:prstGeom>
          <a:noFill/>
          <a:ln w="38100">
            <a:solidFill>
              <a:srgbClr val="D9294F"/>
            </a:solidFill>
            <a:prstDash val="solid"/>
          </a:ln>
        </p:spPr>
      </p:sp>
      <p:sp>
        <p:nvSpPr>
          <p:cNvPr id="21" name="Text 19"/>
          <p:cNvSpPr/>
          <p:nvPr/>
        </p:nvSpPr>
        <p:spPr>
          <a:xfrm>
            <a:off x="6812280" y="2679192"/>
            <a:ext cx="1463040" cy="182880"/>
          </a:xfrm>
          <a:prstGeom prst="rect">
            <a:avLst/>
          </a:prstGeom>
          <a:noFill/>
          <a:ln/>
        </p:spPr>
        <p:txBody>
          <a:bodyPr wrap="square" lIns="0" tIns="0" rIns="0" bIns="0" rtlCol="0" anchor="ctr"/>
          <a:lstStyle/>
          <a:p>
            <a:pPr indent="0" marL="0">
              <a:buNone/>
            </a:pPr>
            <a:r>
              <a:rPr lang="en-US" sz="1500" b="1" dirty="0">
                <a:solidFill>
                  <a:srgbClr val="15202B"/>
                </a:solidFill>
              </a:rPr>
              <a:t>mantık kontrolü</a:t>
            </a:r>
            <a:endParaRPr lang="en-US" sz="1500" dirty="0"/>
          </a:p>
        </p:txBody>
      </p:sp>
      <p:sp>
        <p:nvSpPr>
          <p:cNvPr id="22" name="Text 20"/>
          <p:cNvSpPr/>
          <p:nvPr/>
        </p:nvSpPr>
        <p:spPr>
          <a:xfrm>
            <a:off x="8732520" y="2706624"/>
            <a:ext cx="2331720" cy="155448"/>
          </a:xfrm>
          <a:prstGeom prst="rect">
            <a:avLst/>
          </a:prstGeom>
          <a:noFill/>
          <a:ln/>
        </p:spPr>
        <p:txBody>
          <a:bodyPr wrap="square" lIns="0" tIns="0" rIns="0" bIns="0" rtlCol="0" anchor="ctr">
            <a:normAutofit/>
          </a:bodyPr>
          <a:lstStyle/>
          <a:p>
            <a:pPr indent="0" marL="0">
              <a:buNone/>
            </a:pPr>
            <a:r>
              <a:rPr lang="en-US" sz="1180" dirty="0">
                <a:solidFill>
                  <a:srgbClr val="334155"/>
                </a:solidFill>
              </a:rPr>
              <a:t>Kod doğru iş kuralını mı test ediyor?</a:t>
            </a:r>
            <a:endParaRPr lang="en-US" sz="1180" dirty="0"/>
          </a:p>
        </p:txBody>
      </p:sp>
      <p:sp>
        <p:nvSpPr>
          <p:cNvPr id="23" name="Shape 21"/>
          <p:cNvSpPr/>
          <p:nvPr/>
        </p:nvSpPr>
        <p:spPr>
          <a:xfrm>
            <a:off x="6236208" y="3557016"/>
            <a:ext cx="429768" cy="0"/>
          </a:xfrm>
          <a:prstGeom prst="line">
            <a:avLst/>
          </a:prstGeom>
          <a:noFill/>
          <a:ln w="38100">
            <a:solidFill>
              <a:srgbClr val="D9294F"/>
            </a:solidFill>
            <a:prstDash val="solid"/>
          </a:ln>
        </p:spPr>
      </p:sp>
      <p:sp>
        <p:nvSpPr>
          <p:cNvPr id="24" name="Text 22"/>
          <p:cNvSpPr/>
          <p:nvPr/>
        </p:nvSpPr>
        <p:spPr>
          <a:xfrm>
            <a:off x="6812280" y="3429000"/>
            <a:ext cx="1463040" cy="182880"/>
          </a:xfrm>
          <a:prstGeom prst="rect">
            <a:avLst/>
          </a:prstGeom>
          <a:noFill/>
          <a:ln/>
        </p:spPr>
        <p:txBody>
          <a:bodyPr wrap="square" lIns="0" tIns="0" rIns="0" bIns="0" rtlCol="0" anchor="ctr"/>
          <a:lstStyle/>
          <a:p>
            <a:pPr indent="0" marL="0">
              <a:buNone/>
            </a:pPr>
            <a:r>
              <a:rPr lang="en-US" sz="1500" b="1" dirty="0">
                <a:solidFill>
                  <a:srgbClr val="15202B"/>
                </a:solidFill>
              </a:rPr>
              <a:t>kanıt standardı</a:t>
            </a:r>
            <a:endParaRPr lang="en-US" sz="1500" dirty="0"/>
          </a:p>
        </p:txBody>
      </p:sp>
      <p:sp>
        <p:nvSpPr>
          <p:cNvPr id="25" name="Text 23"/>
          <p:cNvSpPr/>
          <p:nvPr/>
        </p:nvSpPr>
        <p:spPr>
          <a:xfrm>
            <a:off x="8732520" y="3456432"/>
            <a:ext cx="2331720" cy="155448"/>
          </a:xfrm>
          <a:prstGeom prst="rect">
            <a:avLst/>
          </a:prstGeom>
          <a:noFill/>
          <a:ln/>
        </p:spPr>
        <p:txBody>
          <a:bodyPr wrap="square" lIns="0" tIns="0" rIns="0" bIns="0" rtlCol="0" anchor="ctr">
            <a:normAutofit/>
          </a:bodyPr>
          <a:lstStyle/>
          <a:p>
            <a:pPr indent="0" marL="0">
              <a:buNone/>
            </a:pPr>
            <a:r>
              <a:rPr lang="en-US" sz="1180" dirty="0">
                <a:solidFill>
                  <a:srgbClr val="334155"/>
                </a:solidFill>
              </a:rPr>
              <a:t>Bulguyu kim nasıl tekrar üretecek?</a:t>
            </a:r>
            <a:endParaRPr lang="en-US" sz="1180" dirty="0"/>
          </a:p>
        </p:txBody>
      </p:sp>
      <p:sp>
        <p:nvSpPr>
          <p:cNvPr id="26" name="Shape 24"/>
          <p:cNvSpPr/>
          <p:nvPr/>
        </p:nvSpPr>
        <p:spPr>
          <a:xfrm>
            <a:off x="1828800" y="4800600"/>
            <a:ext cx="8595360" cy="777240"/>
          </a:xfrm>
          <a:prstGeom prst="roundRect">
            <a:avLst>
              <a:gd name="adj" fmla="val 17647"/>
            </a:avLst>
          </a:prstGeom>
          <a:solidFill>
            <a:srgbClr val="0B1F33"/>
          </a:solidFill>
          <a:ln w="12700">
            <a:solidFill>
              <a:srgbClr val="0B1F33"/>
            </a:solidFill>
            <a:prstDash val="solid"/>
          </a:ln>
        </p:spPr>
      </p:sp>
      <p:sp>
        <p:nvSpPr>
          <p:cNvPr id="27" name="Text 25"/>
          <p:cNvSpPr/>
          <p:nvPr/>
        </p:nvSpPr>
        <p:spPr>
          <a:xfrm>
            <a:off x="2130552" y="5065776"/>
            <a:ext cx="8001000" cy="20116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Yeni beceri: AI’dan gelen cevabı çalıştırmak, test etmek, sınırlamak ve denetim diline çevirmek.</a:t>
            </a:r>
            <a:endParaRPr lang="en-US" sz="1700" dirty="0"/>
          </a:p>
        </p:txBody>
      </p:sp>
      <p:sp>
        <p:nvSpPr>
          <p:cNvPr id="28" name="Text 26"/>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Jupyter Notebook: analiz defteri</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Kod, açıklama, çıktı ve grafik aynı hikâyede bir araya gelir.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868680" y="1325880"/>
            <a:ext cx="4937760" cy="4434840"/>
          </a:xfrm>
          <a:prstGeom prst="roundRect">
            <a:avLst>
              <a:gd name="adj" fmla="val 2474"/>
            </a:avLst>
          </a:prstGeom>
          <a:solidFill>
            <a:srgbClr val="FFFFFF"/>
          </a:solidFill>
          <a:ln w="12700">
            <a:solidFill>
              <a:srgbClr val="D9D3C8"/>
            </a:solidFill>
            <a:prstDash val="solid"/>
          </a:ln>
        </p:spPr>
      </p:sp>
      <p:sp>
        <p:nvSpPr>
          <p:cNvPr id="6" name="Shape 4"/>
          <p:cNvSpPr/>
          <p:nvPr/>
        </p:nvSpPr>
        <p:spPr>
          <a:xfrm>
            <a:off x="868680" y="1325880"/>
            <a:ext cx="4937760" cy="420624"/>
          </a:xfrm>
          <a:prstGeom prst="rect">
            <a:avLst/>
          </a:prstGeom>
          <a:solidFill>
            <a:srgbClr val="EFEAE0"/>
          </a:solidFill>
          <a:ln w="12700">
            <a:solidFill>
              <a:srgbClr val="EFEAE0"/>
            </a:solidFill>
            <a:prstDash val="solid"/>
          </a:ln>
        </p:spPr>
      </p:sp>
      <p:sp>
        <p:nvSpPr>
          <p:cNvPr id="7" name="Text 5"/>
          <p:cNvSpPr/>
          <p:nvPr/>
        </p:nvSpPr>
        <p:spPr>
          <a:xfrm>
            <a:off x="1078992" y="1481328"/>
            <a:ext cx="2286000" cy="109728"/>
          </a:xfrm>
          <a:prstGeom prst="rect">
            <a:avLst/>
          </a:prstGeom>
          <a:noFill/>
          <a:ln/>
        </p:spPr>
        <p:txBody>
          <a:bodyPr wrap="square" lIns="0" tIns="0" rIns="0" bIns="0" rtlCol="0" anchor="ctr"/>
          <a:lstStyle/>
          <a:p>
            <a:pPr indent="0" marL="0">
              <a:buNone/>
            </a:pPr>
            <a:r>
              <a:rPr lang="en-US" sz="950" b="1" dirty="0">
                <a:solidFill>
                  <a:srgbClr val="64748B"/>
                </a:solidFill>
              </a:rPr>
              <a:t>denetim_notebook.ipynb</a:t>
            </a:r>
            <a:endParaRPr lang="en-US" sz="950" dirty="0"/>
          </a:p>
        </p:txBody>
      </p:sp>
      <p:sp>
        <p:nvSpPr>
          <p:cNvPr id="8" name="Text 6"/>
          <p:cNvSpPr/>
          <p:nvPr/>
        </p:nvSpPr>
        <p:spPr>
          <a:xfrm>
            <a:off x="1115568" y="2057400"/>
            <a:ext cx="4343400" cy="210312"/>
          </a:xfrm>
          <a:prstGeom prst="rect">
            <a:avLst/>
          </a:prstGeom>
          <a:noFill/>
          <a:ln/>
        </p:spPr>
        <p:txBody>
          <a:bodyPr wrap="square" lIns="0" tIns="0" rIns="0" bIns="0" rtlCol="0" anchor="ctr"/>
          <a:lstStyle/>
          <a:p>
            <a:pPr indent="0" marL="0">
              <a:buNone/>
            </a:pPr>
            <a:r>
              <a:rPr lang="en-US" sz="1250" b="1" dirty="0">
                <a:solidFill>
                  <a:srgbClr val="15202B"/>
                </a:solidFill>
              </a:rPr>
              <a:t>Amaç: yüksek tutarlı ödemelerde tekrar eden tedarikçileri bulmak</a:t>
            </a:r>
            <a:endParaRPr lang="en-US" sz="1250" dirty="0"/>
          </a:p>
        </p:txBody>
      </p:sp>
      <p:sp>
        <p:nvSpPr>
          <p:cNvPr id="9" name="Shape 7"/>
          <p:cNvSpPr/>
          <p:nvPr/>
        </p:nvSpPr>
        <p:spPr>
          <a:xfrm>
            <a:off x="1115568" y="2651760"/>
            <a:ext cx="4343400" cy="667512"/>
          </a:xfrm>
          <a:prstGeom prst="rect">
            <a:avLst/>
          </a:prstGeom>
          <a:solidFill>
            <a:srgbClr val="F5F7FA"/>
          </a:solidFill>
          <a:ln w="12700">
            <a:solidFill>
              <a:srgbClr val="DFE5EA"/>
            </a:solidFill>
            <a:prstDash val="solid"/>
          </a:ln>
        </p:spPr>
      </p:sp>
      <p:sp>
        <p:nvSpPr>
          <p:cNvPr id="10" name="Text 8"/>
          <p:cNvSpPr/>
          <p:nvPr/>
        </p:nvSpPr>
        <p:spPr>
          <a:xfrm>
            <a:off x="1252728" y="2788920"/>
            <a:ext cx="3977640" cy="246888"/>
          </a:xfrm>
          <a:prstGeom prst="rect">
            <a:avLst/>
          </a:prstGeom>
          <a:noFill/>
          <a:ln/>
        </p:spPr>
        <p:txBody>
          <a:bodyPr wrap="square" lIns="0" tIns="0" rIns="0" bIns="0" rtlCol="0" anchor="ctr">
            <a:normAutofit/>
          </a:bodyPr>
          <a:lstStyle/>
          <a:p>
            <a:pPr indent="0" marL="0">
              <a:buNone/>
            </a:pPr>
            <a:r>
              <a:rPr lang="en-US" sz="1050" dirty="0">
                <a:solidFill>
                  <a:srgbClr val="15202B"/>
                </a:solidFill>
                <a:latin typeface="Aptos Mono" pitchFamily="34" charset="0"/>
                <a:ea typeface="Aptos Mono" pitchFamily="34" charset="-122"/>
                <a:cs typeface="Aptos Mono" pitchFamily="34" charset="-120"/>
              </a:rPr>
              <a:t>payments = read_excel("odemeler.xlsx")</a:t>
            </a:r>
            <a:endParaRPr lang="en-US" sz="1050" dirty="0"/>
          </a:p>
          <a:p>
            <a:pPr indent="0" marL="0">
              <a:buNone/>
            </a:pPr>
            <a:r>
              <a:rPr lang="en-US" sz="1050" dirty="0">
                <a:solidFill>
                  <a:srgbClr val="15202B"/>
                </a:solidFill>
                <a:latin typeface="Aptos Mono" pitchFamily="34" charset="0"/>
                <a:ea typeface="Aptos Mono" pitchFamily="34" charset="-122"/>
                <a:cs typeface="Aptos Mono" pitchFamily="34" charset="-120"/>
              </a:rPr>
              <a:t>large = payments[payments.amount &gt; threshold]</a:t>
            </a:r>
            <a:endParaRPr lang="en-US" sz="1050" dirty="0"/>
          </a:p>
        </p:txBody>
      </p:sp>
      <p:sp>
        <p:nvSpPr>
          <p:cNvPr id="11" name="Shape 9"/>
          <p:cNvSpPr/>
          <p:nvPr/>
        </p:nvSpPr>
        <p:spPr>
          <a:xfrm>
            <a:off x="1115568" y="3657600"/>
            <a:ext cx="4343400" cy="1078992"/>
          </a:xfrm>
          <a:prstGeom prst="rect">
            <a:avLst/>
          </a:prstGeom>
          <a:solidFill>
            <a:srgbClr val="FFFFFF"/>
          </a:solidFill>
          <a:ln w="12700">
            <a:solidFill>
              <a:srgbClr val="DFE5EA"/>
            </a:solidFill>
            <a:prstDash val="solid"/>
          </a:ln>
        </p:spPr>
      </p:sp>
      <p:sp>
        <p:nvSpPr>
          <p:cNvPr id="12" name="Shape 10"/>
          <p:cNvSpPr/>
          <p:nvPr/>
        </p:nvSpPr>
        <p:spPr>
          <a:xfrm>
            <a:off x="1417320" y="3657600"/>
            <a:ext cx="274320" cy="841248"/>
          </a:xfrm>
          <a:prstGeom prst="rect">
            <a:avLst/>
          </a:prstGeom>
          <a:solidFill>
            <a:srgbClr val="D9294F"/>
          </a:solidFill>
          <a:ln w="12700">
            <a:solidFill>
              <a:srgbClr val="D9294F"/>
            </a:solidFill>
            <a:prstDash val="solid"/>
          </a:ln>
        </p:spPr>
      </p:sp>
      <p:sp>
        <p:nvSpPr>
          <p:cNvPr id="13" name="Shape 11"/>
          <p:cNvSpPr/>
          <p:nvPr/>
        </p:nvSpPr>
        <p:spPr>
          <a:xfrm>
            <a:off x="1920240" y="3931920"/>
            <a:ext cx="274320" cy="566928"/>
          </a:xfrm>
          <a:prstGeom prst="rect">
            <a:avLst/>
          </a:prstGeom>
          <a:solidFill>
            <a:srgbClr val="079EA4"/>
          </a:solidFill>
          <a:ln w="12700">
            <a:solidFill>
              <a:srgbClr val="079EA4"/>
            </a:solidFill>
            <a:prstDash val="solid"/>
          </a:ln>
        </p:spPr>
      </p:sp>
      <p:sp>
        <p:nvSpPr>
          <p:cNvPr id="14" name="Shape 12"/>
          <p:cNvSpPr/>
          <p:nvPr/>
        </p:nvSpPr>
        <p:spPr>
          <a:xfrm>
            <a:off x="2423160" y="4123944"/>
            <a:ext cx="274320" cy="374904"/>
          </a:xfrm>
          <a:prstGeom prst="rect">
            <a:avLst/>
          </a:prstGeom>
          <a:solidFill>
            <a:srgbClr val="079EA4"/>
          </a:solidFill>
          <a:ln w="12700">
            <a:solidFill>
              <a:srgbClr val="079EA4"/>
            </a:solidFill>
            <a:prstDash val="solid"/>
          </a:ln>
        </p:spPr>
      </p:sp>
      <p:sp>
        <p:nvSpPr>
          <p:cNvPr id="15" name="Shape 13"/>
          <p:cNvSpPr/>
          <p:nvPr/>
        </p:nvSpPr>
        <p:spPr>
          <a:xfrm>
            <a:off x="2926080" y="4206240"/>
            <a:ext cx="274320" cy="292608"/>
          </a:xfrm>
          <a:prstGeom prst="rect">
            <a:avLst/>
          </a:prstGeom>
          <a:solidFill>
            <a:srgbClr val="079EA4"/>
          </a:solidFill>
          <a:ln w="12700">
            <a:solidFill>
              <a:srgbClr val="079EA4"/>
            </a:solidFill>
            <a:prstDash val="solid"/>
          </a:ln>
        </p:spPr>
      </p:sp>
      <p:sp>
        <p:nvSpPr>
          <p:cNvPr id="16" name="Text 14"/>
          <p:cNvSpPr/>
          <p:nvPr/>
        </p:nvSpPr>
        <p:spPr>
          <a:xfrm>
            <a:off x="1828800" y="4956048"/>
            <a:ext cx="3108960" cy="182880"/>
          </a:xfrm>
          <a:prstGeom prst="rect">
            <a:avLst/>
          </a:prstGeom>
          <a:noFill/>
          <a:ln/>
        </p:spPr>
        <p:txBody>
          <a:bodyPr wrap="square" lIns="0" tIns="0" rIns="0" bIns="0" rtlCol="0" anchor="ctr"/>
          <a:lstStyle/>
          <a:p>
            <a:pPr indent="0" marL="0">
              <a:buNone/>
            </a:pPr>
            <a:r>
              <a:rPr lang="en-US" sz="1200" b="1" dirty="0">
                <a:solidFill>
                  <a:srgbClr val="15202B"/>
                </a:solidFill>
              </a:rPr>
              <a:t>çıktı: grafik + tablo + not</a:t>
            </a:r>
            <a:endParaRPr lang="en-US" sz="1200" dirty="0"/>
          </a:p>
        </p:txBody>
      </p:sp>
      <p:sp>
        <p:nvSpPr>
          <p:cNvPr id="17" name="Shape 15"/>
          <p:cNvSpPr/>
          <p:nvPr/>
        </p:nvSpPr>
        <p:spPr>
          <a:xfrm>
            <a:off x="6446520" y="1499616"/>
            <a:ext cx="256032" cy="256032"/>
          </a:xfrm>
          <a:prstGeom prst="ellipse">
            <a:avLst/>
          </a:prstGeom>
          <a:solidFill>
            <a:srgbClr val="079EA4"/>
          </a:solidFill>
          <a:ln w="12700">
            <a:solidFill>
              <a:srgbClr val="079EA4"/>
            </a:solidFill>
            <a:prstDash val="solid"/>
          </a:ln>
        </p:spPr>
      </p:sp>
      <p:sp>
        <p:nvSpPr>
          <p:cNvPr id="18" name="Text 16"/>
          <p:cNvSpPr/>
          <p:nvPr/>
        </p:nvSpPr>
        <p:spPr>
          <a:xfrm>
            <a:off x="6858000" y="1444752"/>
            <a:ext cx="3108960" cy="201168"/>
          </a:xfrm>
          <a:prstGeom prst="rect">
            <a:avLst/>
          </a:prstGeom>
          <a:noFill/>
          <a:ln/>
        </p:spPr>
        <p:txBody>
          <a:bodyPr wrap="square" lIns="0" tIns="0" rIns="0" bIns="0" rtlCol="0" anchor="ctr"/>
          <a:lstStyle/>
          <a:p>
            <a:pPr indent="0" marL="0">
              <a:buNone/>
            </a:pPr>
            <a:r>
              <a:rPr lang="en-US" sz="1750" b="1" dirty="0">
                <a:solidFill>
                  <a:srgbClr val="15202B"/>
                </a:solidFill>
              </a:rPr>
              <a:t>Paylaşılabilir</a:t>
            </a:r>
            <a:endParaRPr lang="en-US" sz="1750" dirty="0"/>
          </a:p>
        </p:txBody>
      </p:sp>
      <p:sp>
        <p:nvSpPr>
          <p:cNvPr id="19" name="Text 17"/>
          <p:cNvSpPr/>
          <p:nvPr/>
        </p:nvSpPr>
        <p:spPr>
          <a:xfrm>
            <a:off x="6858000" y="1801368"/>
            <a:ext cx="4206240" cy="347472"/>
          </a:xfrm>
          <a:prstGeom prst="rect">
            <a:avLst/>
          </a:prstGeom>
          <a:noFill/>
          <a:ln/>
        </p:spPr>
        <p:txBody>
          <a:bodyPr wrap="square" lIns="0" tIns="0" rIns="0" bIns="0" rtlCol="0" anchor="ctr">
            <a:normAutofit/>
          </a:bodyPr>
          <a:lstStyle/>
          <a:p>
            <a:pPr indent="0" marL="0">
              <a:buNone/>
            </a:pPr>
            <a:r>
              <a:rPr lang="en-US" sz="1250" dirty="0">
                <a:solidFill>
                  <a:srgbClr val="334155"/>
                </a:solidFill>
              </a:rPr>
              <a:t>Dosya olarak gönderilebilir; raporun arkasındaki çalışma görünür.</a:t>
            </a:r>
            <a:endParaRPr lang="en-US" sz="1250" dirty="0"/>
          </a:p>
        </p:txBody>
      </p:sp>
      <p:sp>
        <p:nvSpPr>
          <p:cNvPr id="20" name="Shape 18"/>
          <p:cNvSpPr/>
          <p:nvPr/>
        </p:nvSpPr>
        <p:spPr>
          <a:xfrm>
            <a:off x="6446520" y="2642616"/>
            <a:ext cx="256032" cy="256032"/>
          </a:xfrm>
          <a:prstGeom prst="ellipse">
            <a:avLst/>
          </a:prstGeom>
          <a:solidFill>
            <a:srgbClr val="079EA4"/>
          </a:solidFill>
          <a:ln w="12700">
            <a:solidFill>
              <a:srgbClr val="079EA4"/>
            </a:solidFill>
            <a:prstDash val="solid"/>
          </a:ln>
        </p:spPr>
      </p:sp>
      <p:sp>
        <p:nvSpPr>
          <p:cNvPr id="21" name="Text 19"/>
          <p:cNvSpPr/>
          <p:nvPr/>
        </p:nvSpPr>
        <p:spPr>
          <a:xfrm>
            <a:off x="6858000" y="2587752"/>
            <a:ext cx="3108960" cy="201168"/>
          </a:xfrm>
          <a:prstGeom prst="rect">
            <a:avLst/>
          </a:prstGeom>
          <a:noFill/>
          <a:ln/>
        </p:spPr>
        <p:txBody>
          <a:bodyPr wrap="square" lIns="0" tIns="0" rIns="0" bIns="0" rtlCol="0" anchor="ctr"/>
          <a:lstStyle/>
          <a:p>
            <a:pPr indent="0" marL="0">
              <a:buNone/>
            </a:pPr>
            <a:r>
              <a:rPr lang="en-US" sz="1750" b="1" dirty="0">
                <a:solidFill>
                  <a:srgbClr val="15202B"/>
                </a:solidFill>
              </a:rPr>
              <a:t>Yeniden çalıştırılabilir</a:t>
            </a:r>
            <a:endParaRPr lang="en-US" sz="1750" dirty="0"/>
          </a:p>
        </p:txBody>
      </p:sp>
      <p:sp>
        <p:nvSpPr>
          <p:cNvPr id="22" name="Text 20"/>
          <p:cNvSpPr/>
          <p:nvPr/>
        </p:nvSpPr>
        <p:spPr>
          <a:xfrm>
            <a:off x="6858000" y="2944368"/>
            <a:ext cx="4206240" cy="347472"/>
          </a:xfrm>
          <a:prstGeom prst="rect">
            <a:avLst/>
          </a:prstGeom>
          <a:noFill/>
          <a:ln/>
        </p:spPr>
        <p:txBody>
          <a:bodyPr wrap="square" lIns="0" tIns="0" rIns="0" bIns="0" rtlCol="0" anchor="ctr">
            <a:normAutofit/>
          </a:bodyPr>
          <a:lstStyle/>
          <a:p>
            <a:pPr indent="0" marL="0">
              <a:buNone/>
            </a:pPr>
            <a:r>
              <a:rPr lang="en-US" sz="1250" dirty="0">
                <a:solidFill>
                  <a:srgbClr val="334155"/>
                </a:solidFill>
              </a:rPr>
              <a:t>Veri güncellendiğinde aynı adımlar tekrar işletilebilir.</a:t>
            </a:r>
            <a:endParaRPr lang="en-US" sz="1250" dirty="0"/>
          </a:p>
        </p:txBody>
      </p:sp>
      <p:sp>
        <p:nvSpPr>
          <p:cNvPr id="23" name="Shape 21"/>
          <p:cNvSpPr/>
          <p:nvPr/>
        </p:nvSpPr>
        <p:spPr>
          <a:xfrm>
            <a:off x="6446520" y="3785616"/>
            <a:ext cx="256032" cy="256032"/>
          </a:xfrm>
          <a:prstGeom prst="ellipse">
            <a:avLst/>
          </a:prstGeom>
          <a:solidFill>
            <a:srgbClr val="D9294F"/>
          </a:solidFill>
          <a:ln w="12700">
            <a:solidFill>
              <a:srgbClr val="D9294F"/>
            </a:solidFill>
            <a:prstDash val="solid"/>
          </a:ln>
        </p:spPr>
      </p:sp>
      <p:sp>
        <p:nvSpPr>
          <p:cNvPr id="24" name="Text 22"/>
          <p:cNvSpPr/>
          <p:nvPr/>
        </p:nvSpPr>
        <p:spPr>
          <a:xfrm>
            <a:off x="6858000" y="3730752"/>
            <a:ext cx="3108960" cy="201168"/>
          </a:xfrm>
          <a:prstGeom prst="rect">
            <a:avLst/>
          </a:prstGeom>
          <a:noFill/>
          <a:ln/>
        </p:spPr>
        <p:txBody>
          <a:bodyPr wrap="square" lIns="0" tIns="0" rIns="0" bIns="0" rtlCol="0" anchor="ctr"/>
          <a:lstStyle/>
          <a:p>
            <a:pPr indent="0" marL="0">
              <a:buNone/>
            </a:pPr>
            <a:r>
              <a:rPr lang="en-US" sz="1750" b="1" dirty="0">
                <a:solidFill>
                  <a:srgbClr val="15202B"/>
                </a:solidFill>
              </a:rPr>
              <a:t>İzlenebilir pipeline</a:t>
            </a:r>
            <a:endParaRPr lang="en-US" sz="1750" dirty="0"/>
          </a:p>
        </p:txBody>
      </p:sp>
      <p:sp>
        <p:nvSpPr>
          <p:cNvPr id="25" name="Text 23"/>
          <p:cNvSpPr/>
          <p:nvPr/>
        </p:nvSpPr>
        <p:spPr>
          <a:xfrm>
            <a:off x="6858000" y="4087368"/>
            <a:ext cx="4206240" cy="347472"/>
          </a:xfrm>
          <a:prstGeom prst="rect">
            <a:avLst/>
          </a:prstGeom>
          <a:noFill/>
          <a:ln/>
        </p:spPr>
        <p:txBody>
          <a:bodyPr wrap="square" lIns="0" tIns="0" rIns="0" bIns="0" rtlCol="0" anchor="ctr">
            <a:normAutofit/>
          </a:bodyPr>
          <a:lstStyle/>
          <a:p>
            <a:pPr indent="0" marL="0">
              <a:buNone/>
            </a:pPr>
            <a:r>
              <a:rPr lang="en-US" sz="1250" dirty="0">
                <a:solidFill>
                  <a:srgbClr val="334155"/>
                </a:solidFill>
              </a:rPr>
              <a:t>Hangi filtre, hangi dönüşüm, hangi varsayım yapılmış; geriye dönük okunur.</a:t>
            </a:r>
            <a:endParaRPr lang="en-US" sz="1250" dirty="0"/>
          </a:p>
        </p:txBody>
      </p:sp>
      <p:sp>
        <p:nvSpPr>
          <p:cNvPr id="26" name="Text 24"/>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9</a:t>
            </a:r>
            <a:endParaRPr lang="en-US" sz="800" dirty="0"/>
          </a:p>
        </p:txBody>
      </p:sp>
      <p:sp>
        <p:nvSpPr>
          <p:cNvPr id="27" name="Text 25"/>
          <p:cNvSpPr/>
          <p:nvPr/>
        </p:nvSpPr>
        <p:spPr>
          <a:xfrm>
            <a:off x="502920" y="6419088"/>
            <a:ext cx="9875520" cy="228600"/>
          </a:xfrm>
          <a:prstGeom prst="rect">
            <a:avLst/>
          </a:prstGeom>
          <a:noFill/>
          <a:ln/>
        </p:spPr>
        <p:txBody>
          <a:bodyPr wrap="square" lIns="0" tIns="0" rIns="0" bIns="0" rtlCol="0" anchor="ctr"/>
          <a:lstStyle/>
          <a:p>
            <a:pPr indent="0" marL="0">
              <a:buNone/>
            </a:pPr>
            <a:r>
              <a:rPr lang="en-US" sz="720" dirty="0">
                <a:solidFill>
                  <a:srgbClr val="64748B"/>
                </a:solidFill>
              </a:rPr>
              <a:t>Kaynak: Project Jupyter; Jupyter Notebook formatı kod, açıklama, denklem ve zengin çıktıları birlikte saklar.</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Jupyter nerede çalışır? Yerel bilgisayar, sunucu veya Colab</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Colab hızlı başlangıç sağlar; kurumsal veri hassasiyetini unutmadan.</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777240" y="1508760"/>
            <a:ext cx="4480560" cy="2423160"/>
          </a:xfrm>
          <a:prstGeom prst="roundRect">
            <a:avLst>
              <a:gd name="adj" fmla="val 5660"/>
            </a:avLst>
          </a:prstGeom>
          <a:solidFill>
            <a:srgbClr val="FFFFFF"/>
          </a:solidFill>
          <a:ln w="12700">
            <a:solidFill>
              <a:srgbClr val="EFEAE0"/>
            </a:solidFill>
            <a:prstDash val="solid"/>
          </a:ln>
        </p:spPr>
      </p:sp>
      <p:sp>
        <p:nvSpPr>
          <p:cNvPr id="6" name="Text 4"/>
          <p:cNvSpPr/>
          <p:nvPr/>
        </p:nvSpPr>
        <p:spPr>
          <a:xfrm>
            <a:off x="1051560" y="1783080"/>
            <a:ext cx="2103120" cy="228600"/>
          </a:xfrm>
          <a:prstGeom prst="rect">
            <a:avLst/>
          </a:prstGeom>
          <a:noFill/>
          <a:ln/>
        </p:spPr>
        <p:txBody>
          <a:bodyPr wrap="square" lIns="0" tIns="0" rIns="0" bIns="0" rtlCol="0" anchor="ctr"/>
          <a:lstStyle/>
          <a:p>
            <a:pPr indent="0" marL="0">
              <a:buNone/>
            </a:pPr>
            <a:r>
              <a:rPr lang="en-US" sz="2100" b="1" dirty="0">
                <a:solidFill>
                  <a:srgbClr val="08747A"/>
                </a:solidFill>
              </a:rPr>
              <a:t>Yerel Jupyter</a:t>
            </a:r>
            <a:endParaRPr lang="en-US" sz="2100" dirty="0"/>
          </a:p>
        </p:txBody>
      </p:sp>
      <p:sp>
        <p:nvSpPr>
          <p:cNvPr id="7" name="Text 5"/>
          <p:cNvSpPr/>
          <p:nvPr/>
        </p:nvSpPr>
        <p:spPr>
          <a:xfrm>
            <a:off x="1051560" y="2331720"/>
            <a:ext cx="3703320" cy="658368"/>
          </a:xfrm>
          <a:prstGeom prst="rect">
            <a:avLst/>
          </a:prstGeom>
          <a:noFill/>
          <a:ln/>
        </p:spPr>
        <p:txBody>
          <a:bodyPr wrap="square" lIns="0" tIns="0" rIns="0" bIns="0" rtlCol="0" anchor="ctr">
            <a:normAutofit/>
          </a:bodyPr>
          <a:lstStyle/>
          <a:p>
            <a:pPr indent="0" marL="0">
              <a:buNone/>
            </a:pPr>
            <a:r>
              <a:rPr lang="en-US" sz="1500" dirty="0">
                <a:solidFill>
                  <a:srgbClr val="334155"/>
                </a:solidFill>
              </a:rPr>
              <a:t>Kurum bilgisayarında/sunucusunda çalışır. Veri içeride kalır. Paket kurulum ve ortam yönetimi gerekir.</a:t>
            </a:r>
            <a:endParaRPr lang="en-US" sz="1500" dirty="0"/>
          </a:p>
        </p:txBody>
      </p:sp>
      <p:sp>
        <p:nvSpPr>
          <p:cNvPr id="8" name="Shape 6"/>
          <p:cNvSpPr/>
          <p:nvPr/>
        </p:nvSpPr>
        <p:spPr>
          <a:xfrm>
            <a:off x="6492240" y="1508760"/>
            <a:ext cx="4480560" cy="2423160"/>
          </a:xfrm>
          <a:prstGeom prst="roundRect">
            <a:avLst>
              <a:gd name="adj" fmla="val 5660"/>
            </a:avLst>
          </a:prstGeom>
          <a:solidFill>
            <a:srgbClr val="FFFFFF"/>
          </a:solidFill>
          <a:ln w="12700">
            <a:solidFill>
              <a:srgbClr val="EFEAE0"/>
            </a:solidFill>
            <a:prstDash val="solid"/>
          </a:ln>
        </p:spPr>
      </p:sp>
      <p:sp>
        <p:nvSpPr>
          <p:cNvPr id="9" name="Text 7"/>
          <p:cNvSpPr/>
          <p:nvPr/>
        </p:nvSpPr>
        <p:spPr>
          <a:xfrm>
            <a:off x="6766560" y="1783080"/>
            <a:ext cx="2194560" cy="228600"/>
          </a:xfrm>
          <a:prstGeom prst="rect">
            <a:avLst/>
          </a:prstGeom>
          <a:noFill/>
          <a:ln/>
        </p:spPr>
        <p:txBody>
          <a:bodyPr wrap="square" lIns="0" tIns="0" rIns="0" bIns="0" rtlCol="0" anchor="ctr"/>
          <a:lstStyle/>
          <a:p>
            <a:pPr indent="0" marL="0">
              <a:buNone/>
            </a:pPr>
            <a:r>
              <a:rPr lang="en-US" sz="2100" b="1" dirty="0">
                <a:solidFill>
                  <a:srgbClr val="D9294F"/>
                </a:solidFill>
              </a:rPr>
              <a:t>Google Colab</a:t>
            </a:r>
            <a:endParaRPr lang="en-US" sz="2100" dirty="0"/>
          </a:p>
        </p:txBody>
      </p:sp>
      <p:sp>
        <p:nvSpPr>
          <p:cNvPr id="10" name="Text 8"/>
          <p:cNvSpPr/>
          <p:nvPr/>
        </p:nvSpPr>
        <p:spPr>
          <a:xfrm>
            <a:off x="6766560" y="2331720"/>
            <a:ext cx="3703320" cy="658368"/>
          </a:xfrm>
          <a:prstGeom prst="rect">
            <a:avLst/>
          </a:prstGeom>
          <a:noFill/>
          <a:ln/>
        </p:spPr>
        <p:txBody>
          <a:bodyPr wrap="square" lIns="0" tIns="0" rIns="0" bIns="0" rtlCol="0" anchor="ctr">
            <a:normAutofit/>
          </a:bodyPr>
          <a:lstStyle/>
          <a:p>
            <a:pPr indent="0" marL="0">
              <a:buNone/>
            </a:pPr>
            <a:r>
              <a:rPr lang="en-US" sz="1500" dirty="0">
                <a:solidFill>
                  <a:srgbClr val="334155"/>
                </a:solidFill>
              </a:rPr>
              <a:t>Tarayıcıda, kurulumsuz başlar. Kod + zengin metin + görsel aynı belgede. Hassas veri için dikkatli politika gerekir.</a:t>
            </a:r>
            <a:endParaRPr lang="en-US" sz="1500" dirty="0"/>
          </a:p>
        </p:txBody>
      </p:sp>
      <p:sp>
        <p:nvSpPr>
          <p:cNvPr id="11" name="Shape 9"/>
          <p:cNvSpPr/>
          <p:nvPr/>
        </p:nvSpPr>
        <p:spPr>
          <a:xfrm>
            <a:off x="5394960" y="2697480"/>
            <a:ext cx="960120" cy="0"/>
          </a:xfrm>
          <a:prstGeom prst="line">
            <a:avLst/>
          </a:prstGeom>
          <a:noFill/>
          <a:ln w="17780">
            <a:solidFill>
              <a:srgbClr val="64748B"/>
            </a:solidFill>
            <a:prstDash val="solid"/>
          </a:ln>
        </p:spPr>
      </p:sp>
      <p:sp>
        <p:nvSpPr>
          <p:cNvPr id="12" name="Text 10"/>
          <p:cNvSpPr/>
          <p:nvPr/>
        </p:nvSpPr>
        <p:spPr>
          <a:xfrm>
            <a:off x="4114800" y="4416552"/>
            <a:ext cx="3840480" cy="228600"/>
          </a:xfrm>
          <a:prstGeom prst="rect">
            <a:avLst/>
          </a:prstGeom>
          <a:noFill/>
          <a:ln/>
        </p:spPr>
        <p:txBody>
          <a:bodyPr wrap="square" lIns="0" tIns="0" rIns="0" bIns="0" rtlCol="0" anchor="ctr"/>
          <a:lstStyle/>
          <a:p>
            <a:pPr algn="ctr" indent="0" marL="0">
              <a:buNone/>
            </a:pPr>
            <a:r>
              <a:rPr lang="en-US" sz="1600" b="1" dirty="0">
                <a:solidFill>
                  <a:srgbClr val="15202B"/>
                </a:solidFill>
              </a:rPr>
              <a:t>ikisi de notebook mantığıdır</a:t>
            </a:r>
            <a:endParaRPr lang="en-US" sz="1600" dirty="0"/>
          </a:p>
        </p:txBody>
      </p:sp>
      <p:sp>
        <p:nvSpPr>
          <p:cNvPr id="13" name="Shape 11"/>
          <p:cNvSpPr/>
          <p:nvPr/>
        </p:nvSpPr>
        <p:spPr>
          <a:xfrm>
            <a:off x="1828800" y="4956048"/>
            <a:ext cx="1371600" cy="411480"/>
          </a:xfrm>
          <a:prstGeom prst="roundRect">
            <a:avLst>
              <a:gd name="adj" fmla="val 22222"/>
            </a:avLst>
          </a:prstGeom>
          <a:solidFill>
            <a:srgbClr val="EFEAE0"/>
          </a:solidFill>
          <a:ln w="12700">
            <a:solidFill>
              <a:srgbClr val="EFEAE0"/>
            </a:solidFill>
            <a:prstDash val="solid"/>
          </a:ln>
        </p:spPr>
      </p:sp>
      <p:sp>
        <p:nvSpPr>
          <p:cNvPr id="14" name="Text 12"/>
          <p:cNvSpPr/>
          <p:nvPr/>
        </p:nvSpPr>
        <p:spPr>
          <a:xfrm>
            <a:off x="1828800" y="5084064"/>
            <a:ext cx="1371600" cy="118872"/>
          </a:xfrm>
          <a:prstGeom prst="rect">
            <a:avLst/>
          </a:prstGeom>
          <a:noFill/>
          <a:ln/>
        </p:spPr>
        <p:txBody>
          <a:bodyPr wrap="square" lIns="0" tIns="0" rIns="0" bIns="0" rtlCol="0" anchor="ctr"/>
          <a:lstStyle/>
          <a:p>
            <a:pPr algn="ctr" indent="0" marL="0">
              <a:buNone/>
            </a:pPr>
            <a:r>
              <a:rPr lang="en-US" sz="1050" b="1" dirty="0">
                <a:solidFill>
                  <a:srgbClr val="64748B"/>
                </a:solidFill>
              </a:rPr>
              <a:t>harita</a:t>
            </a:r>
            <a:endParaRPr lang="en-US" sz="1050" dirty="0"/>
          </a:p>
        </p:txBody>
      </p:sp>
      <p:sp>
        <p:nvSpPr>
          <p:cNvPr id="15" name="Shape 13"/>
          <p:cNvSpPr/>
          <p:nvPr/>
        </p:nvSpPr>
        <p:spPr>
          <a:xfrm>
            <a:off x="3931920" y="4956048"/>
            <a:ext cx="1371600" cy="411480"/>
          </a:xfrm>
          <a:prstGeom prst="roundRect">
            <a:avLst>
              <a:gd name="adj" fmla="val 22222"/>
            </a:avLst>
          </a:prstGeom>
          <a:solidFill>
            <a:srgbClr val="DBF2EF"/>
          </a:solidFill>
          <a:ln w="12700">
            <a:solidFill>
              <a:srgbClr val="DBF2EF"/>
            </a:solidFill>
            <a:prstDash val="solid"/>
          </a:ln>
        </p:spPr>
      </p:sp>
      <p:sp>
        <p:nvSpPr>
          <p:cNvPr id="16" name="Text 14"/>
          <p:cNvSpPr/>
          <p:nvPr/>
        </p:nvSpPr>
        <p:spPr>
          <a:xfrm>
            <a:off x="3931920" y="5084064"/>
            <a:ext cx="1371600" cy="118872"/>
          </a:xfrm>
          <a:prstGeom prst="rect">
            <a:avLst/>
          </a:prstGeom>
          <a:noFill/>
          <a:ln/>
        </p:spPr>
        <p:txBody>
          <a:bodyPr wrap="square" lIns="0" tIns="0" rIns="0" bIns="0" rtlCol="0" anchor="ctr"/>
          <a:lstStyle/>
          <a:p>
            <a:pPr algn="ctr" indent="0" marL="0">
              <a:buNone/>
            </a:pPr>
            <a:r>
              <a:rPr lang="en-US" sz="1050" b="1" dirty="0">
                <a:solidFill>
                  <a:srgbClr val="08747A"/>
                </a:solidFill>
              </a:rPr>
              <a:t>ağ</a:t>
            </a:r>
            <a:endParaRPr lang="en-US" sz="1050" dirty="0"/>
          </a:p>
        </p:txBody>
      </p:sp>
      <p:sp>
        <p:nvSpPr>
          <p:cNvPr id="17" name="Shape 15"/>
          <p:cNvSpPr/>
          <p:nvPr/>
        </p:nvSpPr>
        <p:spPr>
          <a:xfrm>
            <a:off x="6035040" y="4956048"/>
            <a:ext cx="1371600" cy="411480"/>
          </a:xfrm>
          <a:prstGeom prst="roundRect">
            <a:avLst>
              <a:gd name="adj" fmla="val 22222"/>
            </a:avLst>
          </a:prstGeom>
          <a:solidFill>
            <a:srgbClr val="EFEAE0"/>
          </a:solidFill>
          <a:ln w="12700">
            <a:solidFill>
              <a:srgbClr val="EFEAE0"/>
            </a:solidFill>
            <a:prstDash val="solid"/>
          </a:ln>
        </p:spPr>
      </p:sp>
      <p:sp>
        <p:nvSpPr>
          <p:cNvPr id="18" name="Text 16"/>
          <p:cNvSpPr/>
          <p:nvPr/>
        </p:nvSpPr>
        <p:spPr>
          <a:xfrm>
            <a:off x="6035040" y="5084064"/>
            <a:ext cx="1371600" cy="118872"/>
          </a:xfrm>
          <a:prstGeom prst="rect">
            <a:avLst/>
          </a:prstGeom>
          <a:noFill/>
          <a:ln/>
        </p:spPr>
        <p:txBody>
          <a:bodyPr wrap="square" lIns="0" tIns="0" rIns="0" bIns="0" rtlCol="0" anchor="ctr"/>
          <a:lstStyle/>
          <a:p>
            <a:pPr algn="ctr" indent="0" marL="0">
              <a:buNone/>
            </a:pPr>
            <a:r>
              <a:rPr lang="en-US" sz="1050" b="1" dirty="0">
                <a:solidFill>
                  <a:srgbClr val="64748B"/>
                </a:solidFill>
              </a:rPr>
              <a:t>zaman serisi</a:t>
            </a:r>
            <a:endParaRPr lang="en-US" sz="1050" dirty="0"/>
          </a:p>
        </p:txBody>
      </p:sp>
      <p:sp>
        <p:nvSpPr>
          <p:cNvPr id="19" name="Shape 17"/>
          <p:cNvSpPr/>
          <p:nvPr/>
        </p:nvSpPr>
        <p:spPr>
          <a:xfrm>
            <a:off x="8138160" y="4956048"/>
            <a:ext cx="1371600" cy="411480"/>
          </a:xfrm>
          <a:prstGeom prst="roundRect">
            <a:avLst>
              <a:gd name="adj" fmla="val 22222"/>
            </a:avLst>
          </a:prstGeom>
          <a:solidFill>
            <a:srgbClr val="EFEAE0"/>
          </a:solidFill>
          <a:ln w="12700">
            <a:solidFill>
              <a:srgbClr val="EFEAE0"/>
            </a:solidFill>
            <a:prstDash val="solid"/>
          </a:ln>
        </p:spPr>
      </p:sp>
      <p:sp>
        <p:nvSpPr>
          <p:cNvPr id="20" name="Text 18"/>
          <p:cNvSpPr/>
          <p:nvPr/>
        </p:nvSpPr>
        <p:spPr>
          <a:xfrm>
            <a:off x="8138160" y="5084064"/>
            <a:ext cx="1371600" cy="118872"/>
          </a:xfrm>
          <a:prstGeom prst="rect">
            <a:avLst/>
          </a:prstGeom>
          <a:noFill/>
          <a:ln/>
        </p:spPr>
        <p:txBody>
          <a:bodyPr wrap="square" lIns="0" tIns="0" rIns="0" bIns="0" rtlCol="0" anchor="ctr"/>
          <a:lstStyle/>
          <a:p>
            <a:pPr algn="ctr" indent="0" marL="0">
              <a:buNone/>
            </a:pPr>
            <a:r>
              <a:rPr lang="en-US" sz="1050" b="1" dirty="0">
                <a:solidFill>
                  <a:srgbClr val="64748B"/>
                </a:solidFill>
              </a:rPr>
              <a:t>dağılım</a:t>
            </a:r>
            <a:endParaRPr lang="en-US" sz="1050" dirty="0"/>
          </a:p>
        </p:txBody>
      </p:sp>
      <p:sp>
        <p:nvSpPr>
          <p:cNvPr id="21" name="Text 19"/>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10</a:t>
            </a:r>
            <a:endParaRPr lang="en-US" sz="800" dirty="0"/>
          </a:p>
        </p:txBody>
      </p:sp>
      <p:sp>
        <p:nvSpPr>
          <p:cNvPr id="22" name="Text 20"/>
          <p:cNvSpPr/>
          <p:nvPr/>
        </p:nvSpPr>
        <p:spPr>
          <a:xfrm>
            <a:off x="502920" y="6419088"/>
            <a:ext cx="9875520" cy="228600"/>
          </a:xfrm>
          <a:prstGeom prst="rect">
            <a:avLst/>
          </a:prstGeom>
          <a:noFill/>
          <a:ln/>
        </p:spPr>
        <p:txBody>
          <a:bodyPr wrap="square" lIns="0" tIns="0" rIns="0" bIns="0" rtlCol="0" anchor="ctr"/>
          <a:lstStyle/>
          <a:p>
            <a:pPr indent="0" marL="0">
              <a:buNone/>
            </a:pPr>
            <a:r>
              <a:rPr lang="en-US" sz="720" dirty="0">
                <a:solidFill>
                  <a:srgbClr val="64748B"/>
                </a:solidFill>
              </a:rPr>
              <a:t>Kaynak: Google Colab / Google for Developers; Project Jupyter.</a:t>
            </a:r>
            <a:endParaRPr lang="en-US" sz="7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Örnek: ticaret verisi ağ diyagramına dönüşünce</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Aynı mantık denetimde tedarikçi, ortak, yönetici, ihale ve ödeme ilişkilerine uygulanabilir.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pic>
        <p:nvPicPr>
          <p:cNvPr id="5" name="Image 0" descr="/mnt/data/ig (3).png">    </p:cNvPr>
          <p:cNvPicPr>
            <a:picLocks noChangeAspect="1"/>
          </p:cNvPicPr>
          <p:nvPr/>
        </p:nvPicPr>
        <p:blipFill>
          <a:blip r:embed="rId1"/>
          <a:stretch>
            <a:fillRect/>
          </a:stretch>
        </p:blipFill>
        <p:spPr>
          <a:xfrm>
            <a:off x="2257384" y="1325880"/>
            <a:ext cx="3166191" cy="4480560"/>
          </a:xfrm>
          <a:prstGeom prst="rect">
            <a:avLst/>
          </a:prstGeom>
        </p:spPr>
      </p:pic>
      <p:sp>
        <p:nvSpPr>
          <p:cNvPr id="6" name="Shape 3"/>
          <p:cNvSpPr/>
          <p:nvPr/>
        </p:nvSpPr>
        <p:spPr>
          <a:xfrm>
            <a:off x="7498080" y="1572768"/>
            <a:ext cx="3886200" cy="868680"/>
          </a:xfrm>
          <a:prstGeom prst="roundRect">
            <a:avLst>
              <a:gd name="adj" fmla="val 12632"/>
            </a:avLst>
          </a:prstGeom>
          <a:solidFill>
            <a:srgbClr val="0B1F33"/>
          </a:solidFill>
          <a:ln w="12700">
            <a:solidFill>
              <a:srgbClr val="0B1F33"/>
            </a:solidFill>
            <a:prstDash val="solid"/>
          </a:ln>
        </p:spPr>
      </p:sp>
      <p:sp>
        <p:nvSpPr>
          <p:cNvPr id="7" name="Text 4"/>
          <p:cNvSpPr/>
          <p:nvPr/>
        </p:nvSpPr>
        <p:spPr>
          <a:xfrm>
            <a:off x="7818120" y="1847088"/>
            <a:ext cx="3246120" cy="164592"/>
          </a:xfrm>
          <a:prstGeom prst="rect">
            <a:avLst/>
          </a:prstGeom>
          <a:noFill/>
          <a:ln/>
        </p:spPr>
        <p:txBody>
          <a:bodyPr wrap="square" lIns="0" tIns="0" rIns="0" bIns="0" rtlCol="0" anchor="ctr"/>
          <a:lstStyle/>
          <a:p>
            <a:pPr algn="ctr" indent="0" marL="0">
              <a:buNone/>
            </a:pPr>
            <a:r>
              <a:rPr lang="en-US" sz="1300" b="1" dirty="0">
                <a:solidFill>
                  <a:srgbClr val="C6D3E1"/>
                </a:solidFill>
              </a:rPr>
              <a:t>Ağ analizi şu soruyu değiştirir:</a:t>
            </a:r>
            <a:endParaRPr lang="en-US" sz="1300" dirty="0"/>
          </a:p>
        </p:txBody>
      </p:sp>
      <p:sp>
        <p:nvSpPr>
          <p:cNvPr id="8" name="Text 5"/>
          <p:cNvSpPr/>
          <p:nvPr/>
        </p:nvSpPr>
        <p:spPr>
          <a:xfrm>
            <a:off x="7790688" y="2084832"/>
            <a:ext cx="3246120" cy="164592"/>
          </a:xfrm>
          <a:prstGeom prst="rect">
            <a:avLst/>
          </a:prstGeom>
          <a:noFill/>
          <a:ln/>
        </p:spPr>
        <p:txBody>
          <a:bodyPr wrap="square" lIns="0" tIns="0" rIns="0" bIns="0" rtlCol="0" anchor="ctr"/>
          <a:lstStyle/>
          <a:p>
            <a:pPr algn="ctr" indent="0" marL="0">
              <a:buNone/>
            </a:pPr>
            <a:r>
              <a:rPr lang="en-US" sz="1500" b="1" dirty="0">
                <a:solidFill>
                  <a:srgbClr val="FFFFFF"/>
                </a:solidFill>
              </a:rPr>
              <a:t>“tekil kayıt” → “ilişki örüntüsü”</a:t>
            </a:r>
            <a:endParaRPr lang="en-US" sz="1500" dirty="0"/>
          </a:p>
        </p:txBody>
      </p:sp>
      <p:sp>
        <p:nvSpPr>
          <p:cNvPr id="9" name="Shape 6"/>
          <p:cNvSpPr/>
          <p:nvPr/>
        </p:nvSpPr>
        <p:spPr>
          <a:xfrm>
            <a:off x="7726680" y="2916936"/>
            <a:ext cx="182880" cy="182880"/>
          </a:xfrm>
          <a:prstGeom prst="ellipse">
            <a:avLst/>
          </a:prstGeom>
          <a:solidFill>
            <a:srgbClr val="D9294F"/>
          </a:solidFill>
          <a:ln w="12700">
            <a:solidFill>
              <a:srgbClr val="D9294F"/>
            </a:solidFill>
            <a:prstDash val="solid"/>
          </a:ln>
        </p:spPr>
      </p:sp>
      <p:sp>
        <p:nvSpPr>
          <p:cNvPr id="10" name="Text 7"/>
          <p:cNvSpPr/>
          <p:nvPr/>
        </p:nvSpPr>
        <p:spPr>
          <a:xfrm>
            <a:off x="8065008" y="2880360"/>
            <a:ext cx="1234440" cy="164592"/>
          </a:xfrm>
          <a:prstGeom prst="rect">
            <a:avLst/>
          </a:prstGeom>
          <a:noFill/>
          <a:ln/>
        </p:spPr>
        <p:txBody>
          <a:bodyPr wrap="square" lIns="0" tIns="0" rIns="0" bIns="0" rtlCol="0" anchor="ctr">
            <a:normAutofit/>
          </a:bodyPr>
          <a:lstStyle/>
          <a:p>
            <a:pPr indent="0" marL="0">
              <a:buNone/>
            </a:pPr>
            <a:r>
              <a:rPr lang="en-US" sz="1200" b="1" dirty="0">
                <a:solidFill>
                  <a:srgbClr val="15202B"/>
                </a:solidFill>
              </a:rPr>
              <a:t>Kırmızı düğüm</a:t>
            </a:r>
            <a:endParaRPr lang="en-US" sz="1200" dirty="0"/>
          </a:p>
        </p:txBody>
      </p:sp>
      <p:sp>
        <p:nvSpPr>
          <p:cNvPr id="11" name="Text 8"/>
          <p:cNvSpPr/>
          <p:nvPr/>
        </p:nvSpPr>
        <p:spPr>
          <a:xfrm>
            <a:off x="9646920" y="2880360"/>
            <a:ext cx="1691640" cy="164592"/>
          </a:xfrm>
          <a:prstGeom prst="rect">
            <a:avLst/>
          </a:prstGeom>
          <a:noFill/>
          <a:ln/>
        </p:spPr>
        <p:txBody>
          <a:bodyPr wrap="square" lIns="0" tIns="0" rIns="0" bIns="0" rtlCol="0" anchor="ctr">
            <a:normAutofit/>
          </a:bodyPr>
          <a:lstStyle/>
          <a:p>
            <a:pPr indent="0" marL="0">
              <a:buNone/>
            </a:pPr>
            <a:r>
              <a:rPr lang="en-US" sz="1120" dirty="0">
                <a:solidFill>
                  <a:srgbClr val="334155"/>
                </a:solidFill>
              </a:rPr>
              <a:t>ülke/varlık gibi ana aktör</a:t>
            </a:r>
            <a:endParaRPr lang="en-US" sz="1120" dirty="0"/>
          </a:p>
        </p:txBody>
      </p:sp>
      <p:sp>
        <p:nvSpPr>
          <p:cNvPr id="12" name="Shape 9"/>
          <p:cNvSpPr/>
          <p:nvPr/>
        </p:nvSpPr>
        <p:spPr>
          <a:xfrm>
            <a:off x="7726680" y="3557016"/>
            <a:ext cx="182880" cy="182880"/>
          </a:xfrm>
          <a:prstGeom prst="ellipse">
            <a:avLst/>
          </a:prstGeom>
          <a:solidFill>
            <a:srgbClr val="15202B"/>
          </a:solidFill>
          <a:ln w="12700">
            <a:solidFill>
              <a:srgbClr val="15202B"/>
            </a:solidFill>
            <a:prstDash val="solid"/>
          </a:ln>
        </p:spPr>
      </p:sp>
      <p:sp>
        <p:nvSpPr>
          <p:cNvPr id="13" name="Text 10"/>
          <p:cNvSpPr/>
          <p:nvPr/>
        </p:nvSpPr>
        <p:spPr>
          <a:xfrm>
            <a:off x="8065008" y="3520440"/>
            <a:ext cx="1234440" cy="164592"/>
          </a:xfrm>
          <a:prstGeom prst="rect">
            <a:avLst/>
          </a:prstGeom>
          <a:noFill/>
          <a:ln/>
        </p:spPr>
        <p:txBody>
          <a:bodyPr wrap="square" lIns="0" tIns="0" rIns="0" bIns="0" rtlCol="0" anchor="ctr">
            <a:normAutofit/>
          </a:bodyPr>
          <a:lstStyle/>
          <a:p>
            <a:pPr indent="0" marL="0">
              <a:buNone/>
            </a:pPr>
            <a:r>
              <a:rPr lang="en-US" sz="1200" b="1" dirty="0">
                <a:solidFill>
                  <a:srgbClr val="15202B"/>
                </a:solidFill>
              </a:rPr>
              <a:t>Siyah düğüm</a:t>
            </a:r>
            <a:endParaRPr lang="en-US" sz="1200" dirty="0"/>
          </a:p>
        </p:txBody>
      </p:sp>
      <p:sp>
        <p:nvSpPr>
          <p:cNvPr id="14" name="Text 11"/>
          <p:cNvSpPr/>
          <p:nvPr/>
        </p:nvSpPr>
        <p:spPr>
          <a:xfrm>
            <a:off x="9646920" y="3520440"/>
            <a:ext cx="1691640" cy="164592"/>
          </a:xfrm>
          <a:prstGeom prst="rect">
            <a:avLst/>
          </a:prstGeom>
          <a:noFill/>
          <a:ln/>
        </p:spPr>
        <p:txBody>
          <a:bodyPr wrap="square" lIns="0" tIns="0" rIns="0" bIns="0" rtlCol="0" anchor="ctr">
            <a:normAutofit/>
          </a:bodyPr>
          <a:lstStyle/>
          <a:p>
            <a:pPr indent="0" marL="0">
              <a:buNone/>
            </a:pPr>
            <a:r>
              <a:rPr lang="en-US" sz="1120" dirty="0">
                <a:solidFill>
                  <a:srgbClr val="334155"/>
                </a:solidFill>
              </a:rPr>
              <a:t>firma veya işlem tarafı</a:t>
            </a:r>
            <a:endParaRPr lang="en-US" sz="1120" dirty="0"/>
          </a:p>
        </p:txBody>
      </p:sp>
      <p:sp>
        <p:nvSpPr>
          <p:cNvPr id="15" name="Shape 12"/>
          <p:cNvSpPr/>
          <p:nvPr/>
        </p:nvSpPr>
        <p:spPr>
          <a:xfrm>
            <a:off x="7726680" y="4197096"/>
            <a:ext cx="182880" cy="182880"/>
          </a:xfrm>
          <a:prstGeom prst="ellipse">
            <a:avLst/>
          </a:prstGeom>
          <a:solidFill>
            <a:srgbClr val="079EA4"/>
          </a:solidFill>
          <a:ln w="12700">
            <a:solidFill>
              <a:srgbClr val="079EA4"/>
            </a:solidFill>
            <a:prstDash val="solid"/>
          </a:ln>
        </p:spPr>
      </p:sp>
      <p:sp>
        <p:nvSpPr>
          <p:cNvPr id="16" name="Text 13"/>
          <p:cNvSpPr/>
          <p:nvPr/>
        </p:nvSpPr>
        <p:spPr>
          <a:xfrm>
            <a:off x="8065008" y="4160520"/>
            <a:ext cx="1234440" cy="164592"/>
          </a:xfrm>
          <a:prstGeom prst="rect">
            <a:avLst/>
          </a:prstGeom>
          <a:noFill/>
          <a:ln/>
        </p:spPr>
        <p:txBody>
          <a:bodyPr wrap="square" lIns="0" tIns="0" rIns="0" bIns="0" rtlCol="0" anchor="ctr">
            <a:normAutofit/>
          </a:bodyPr>
          <a:lstStyle/>
          <a:p>
            <a:pPr indent="0" marL="0">
              <a:buNone/>
            </a:pPr>
            <a:r>
              <a:rPr lang="en-US" sz="1200" b="1" dirty="0">
                <a:solidFill>
                  <a:srgbClr val="15202B"/>
                </a:solidFill>
              </a:rPr>
              <a:t>Kenar</a:t>
            </a:r>
            <a:endParaRPr lang="en-US" sz="1200" dirty="0"/>
          </a:p>
        </p:txBody>
      </p:sp>
      <p:sp>
        <p:nvSpPr>
          <p:cNvPr id="17" name="Text 14"/>
          <p:cNvSpPr/>
          <p:nvPr/>
        </p:nvSpPr>
        <p:spPr>
          <a:xfrm>
            <a:off x="9646920" y="4160520"/>
            <a:ext cx="1691640" cy="164592"/>
          </a:xfrm>
          <a:prstGeom prst="rect">
            <a:avLst/>
          </a:prstGeom>
          <a:noFill/>
          <a:ln/>
        </p:spPr>
        <p:txBody>
          <a:bodyPr wrap="square" lIns="0" tIns="0" rIns="0" bIns="0" rtlCol="0" anchor="ctr">
            <a:normAutofit/>
          </a:bodyPr>
          <a:lstStyle/>
          <a:p>
            <a:pPr indent="0" marL="0">
              <a:buNone/>
            </a:pPr>
            <a:r>
              <a:rPr lang="en-US" sz="1120" dirty="0">
                <a:solidFill>
                  <a:srgbClr val="334155"/>
                </a:solidFill>
              </a:rPr>
              <a:t>ticaret, ortaklık, ödeme veya sözleşme ilişkisi</a:t>
            </a:r>
            <a:endParaRPr lang="en-US" sz="1120" dirty="0"/>
          </a:p>
        </p:txBody>
      </p:sp>
      <p:sp>
        <p:nvSpPr>
          <p:cNvPr id="18" name="Shape 15"/>
          <p:cNvSpPr/>
          <p:nvPr/>
        </p:nvSpPr>
        <p:spPr>
          <a:xfrm>
            <a:off x="7726680" y="4837176"/>
            <a:ext cx="182880" cy="182880"/>
          </a:xfrm>
          <a:prstGeom prst="ellipse">
            <a:avLst/>
          </a:prstGeom>
          <a:solidFill>
            <a:srgbClr val="079EA4"/>
          </a:solidFill>
          <a:ln w="12700">
            <a:solidFill>
              <a:srgbClr val="079EA4"/>
            </a:solidFill>
            <a:prstDash val="solid"/>
          </a:ln>
        </p:spPr>
      </p:sp>
      <p:sp>
        <p:nvSpPr>
          <p:cNvPr id="19" name="Text 16"/>
          <p:cNvSpPr/>
          <p:nvPr/>
        </p:nvSpPr>
        <p:spPr>
          <a:xfrm>
            <a:off x="8065008" y="4800600"/>
            <a:ext cx="1234440" cy="164592"/>
          </a:xfrm>
          <a:prstGeom prst="rect">
            <a:avLst/>
          </a:prstGeom>
          <a:noFill/>
          <a:ln/>
        </p:spPr>
        <p:txBody>
          <a:bodyPr wrap="square" lIns="0" tIns="0" rIns="0" bIns="0" rtlCol="0" anchor="ctr">
            <a:normAutofit/>
          </a:bodyPr>
          <a:lstStyle/>
          <a:p>
            <a:pPr indent="0" marL="0">
              <a:buNone/>
            </a:pPr>
            <a:r>
              <a:rPr lang="en-US" sz="1200" b="1" dirty="0">
                <a:solidFill>
                  <a:srgbClr val="15202B"/>
                </a:solidFill>
              </a:rPr>
              <a:t>Denetim yorumu</a:t>
            </a:r>
            <a:endParaRPr lang="en-US" sz="1200" dirty="0"/>
          </a:p>
        </p:txBody>
      </p:sp>
      <p:sp>
        <p:nvSpPr>
          <p:cNvPr id="20" name="Text 17"/>
          <p:cNvSpPr/>
          <p:nvPr/>
        </p:nvSpPr>
        <p:spPr>
          <a:xfrm>
            <a:off x="9646920" y="4800600"/>
            <a:ext cx="1691640" cy="164592"/>
          </a:xfrm>
          <a:prstGeom prst="rect">
            <a:avLst/>
          </a:prstGeom>
          <a:noFill/>
          <a:ln/>
        </p:spPr>
        <p:txBody>
          <a:bodyPr wrap="square" lIns="0" tIns="0" rIns="0" bIns="0" rtlCol="0" anchor="ctr">
            <a:normAutofit/>
          </a:bodyPr>
          <a:lstStyle/>
          <a:p>
            <a:pPr indent="0" marL="0">
              <a:buNone/>
            </a:pPr>
            <a:r>
              <a:rPr lang="en-US" sz="1120" dirty="0">
                <a:solidFill>
                  <a:srgbClr val="334155"/>
                </a:solidFill>
              </a:rPr>
              <a:t>kim kime bağlı, kim merkezde, hangi küme olağandışı?</a:t>
            </a:r>
            <a:endParaRPr lang="en-US" sz="1120" dirty="0"/>
          </a:p>
        </p:txBody>
      </p:sp>
      <p:sp>
        <p:nvSpPr>
          <p:cNvPr id="21" name="Text 18"/>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11</a:t>
            </a:r>
            <a:endParaRPr lang="en-US" sz="800" dirty="0"/>
          </a:p>
        </p:txBody>
      </p:sp>
      <p:sp>
        <p:nvSpPr>
          <p:cNvPr id="22" name="Text 19"/>
          <p:cNvSpPr/>
          <p:nvPr/>
        </p:nvSpPr>
        <p:spPr>
          <a:xfrm>
            <a:off x="502920" y="6419088"/>
            <a:ext cx="9875520" cy="228600"/>
          </a:xfrm>
          <a:prstGeom prst="rect">
            <a:avLst/>
          </a:prstGeom>
          <a:noFill/>
          <a:ln/>
        </p:spPr>
        <p:txBody>
          <a:bodyPr wrap="square" lIns="0" tIns="0" rIns="0" bIns="0" rtlCol="0" anchor="ctr"/>
          <a:lstStyle/>
          <a:p>
            <a:pPr indent="0" marL="0">
              <a:buNone/>
            </a:pPr>
            <a:r>
              <a:rPr lang="en-US" sz="720" dirty="0">
                <a:solidFill>
                  <a:srgbClr val="64748B"/>
                </a:solidFill>
              </a:rPr>
              <a:t>Kaynak: Gmail’de bulunan “ATO Dış Ticaret Analizi” eki, 2023; görsel: ağ diyagramı.</a:t>
            </a:r>
            <a:endParaRPr lang="en-US" sz="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Buradan denetim tekniklerine geçiş</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Python ve Jupyter araç; asıl değer iyi denetim sorusuyla başlar.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Text 3"/>
          <p:cNvSpPr/>
          <p:nvPr/>
        </p:nvSpPr>
        <p:spPr>
          <a:xfrm>
            <a:off x="777240" y="1371600"/>
            <a:ext cx="4754880" cy="310896"/>
          </a:xfrm>
          <a:prstGeom prst="rect">
            <a:avLst/>
          </a:prstGeom>
          <a:noFill/>
          <a:ln/>
        </p:spPr>
        <p:txBody>
          <a:bodyPr wrap="square" lIns="0" tIns="0" rIns="0" bIns="0" rtlCol="0" anchor="ctr"/>
          <a:lstStyle/>
          <a:p>
            <a:pPr indent="0" marL="0">
              <a:buNone/>
            </a:pPr>
            <a:r>
              <a:rPr lang="en-US" sz="2400" b="1" dirty="0">
                <a:solidFill>
                  <a:srgbClr val="15202B"/>
                </a:solidFill>
              </a:rPr>
              <a:t>Teknik seçimi şu sırayla yapılır:</a:t>
            </a:r>
            <a:endParaRPr lang="en-US" sz="2400" dirty="0"/>
          </a:p>
        </p:txBody>
      </p:sp>
      <p:sp>
        <p:nvSpPr>
          <p:cNvPr id="6" name="Shape 4"/>
          <p:cNvSpPr/>
          <p:nvPr/>
        </p:nvSpPr>
        <p:spPr>
          <a:xfrm>
            <a:off x="2788920" y="2788920"/>
            <a:ext cx="594360" cy="0"/>
          </a:xfrm>
          <a:prstGeom prst="line">
            <a:avLst/>
          </a:prstGeom>
          <a:noFill/>
          <a:ln w="25400">
            <a:solidFill>
              <a:srgbClr val="079EA4"/>
            </a:solidFill>
            <a:prstDash val="solid"/>
            <a:tailEnd type="triangle"/>
          </a:ln>
        </p:spPr>
      </p:sp>
      <p:sp>
        <p:nvSpPr>
          <p:cNvPr id="7" name="Shape 5"/>
          <p:cNvSpPr/>
          <p:nvPr/>
        </p:nvSpPr>
        <p:spPr>
          <a:xfrm>
            <a:off x="5303520" y="2788920"/>
            <a:ext cx="594360" cy="0"/>
          </a:xfrm>
          <a:prstGeom prst="line">
            <a:avLst/>
          </a:prstGeom>
          <a:noFill/>
          <a:ln w="25400">
            <a:solidFill>
              <a:srgbClr val="079EA4"/>
            </a:solidFill>
            <a:prstDash val="solid"/>
            <a:tailEnd type="triangle"/>
          </a:ln>
        </p:spPr>
      </p:sp>
      <p:sp>
        <p:nvSpPr>
          <p:cNvPr id="8" name="Shape 6"/>
          <p:cNvSpPr/>
          <p:nvPr/>
        </p:nvSpPr>
        <p:spPr>
          <a:xfrm>
            <a:off x="7818120" y="2788920"/>
            <a:ext cx="594360" cy="0"/>
          </a:xfrm>
          <a:prstGeom prst="line">
            <a:avLst/>
          </a:prstGeom>
          <a:noFill/>
          <a:ln w="25400">
            <a:solidFill>
              <a:srgbClr val="079EA4"/>
            </a:solidFill>
            <a:prstDash val="solid"/>
            <a:tailEnd type="triangle"/>
          </a:ln>
        </p:spPr>
      </p:sp>
      <p:sp>
        <p:nvSpPr>
          <p:cNvPr id="9" name="Shape 7"/>
          <p:cNvSpPr/>
          <p:nvPr/>
        </p:nvSpPr>
        <p:spPr>
          <a:xfrm>
            <a:off x="777240" y="2240280"/>
            <a:ext cx="1965960" cy="1005840"/>
          </a:xfrm>
          <a:prstGeom prst="roundRect">
            <a:avLst>
              <a:gd name="adj" fmla="val 11818"/>
            </a:avLst>
          </a:prstGeom>
          <a:solidFill>
            <a:srgbClr val="0B1F33"/>
          </a:solidFill>
          <a:ln w="12700">
            <a:solidFill>
              <a:srgbClr val="0B1F33"/>
            </a:solidFill>
            <a:prstDash val="solid"/>
          </a:ln>
        </p:spPr>
      </p:sp>
      <p:sp>
        <p:nvSpPr>
          <p:cNvPr id="10" name="Text 8"/>
          <p:cNvSpPr/>
          <p:nvPr/>
        </p:nvSpPr>
        <p:spPr>
          <a:xfrm>
            <a:off x="896112" y="2496312"/>
            <a:ext cx="1728216" cy="182880"/>
          </a:xfrm>
          <a:prstGeom prst="rect">
            <a:avLst/>
          </a:prstGeom>
          <a:noFill/>
          <a:ln/>
        </p:spPr>
        <p:txBody>
          <a:bodyPr wrap="square" lIns="0" tIns="0" rIns="0" bIns="0" rtlCol="0" anchor="ctr">
            <a:normAutofit/>
          </a:bodyPr>
          <a:lstStyle/>
          <a:p>
            <a:pPr algn="ctr" indent="0" marL="0">
              <a:buNone/>
            </a:pPr>
            <a:r>
              <a:rPr lang="en-US" sz="1460" b="1" dirty="0">
                <a:solidFill>
                  <a:srgbClr val="FFFFFF"/>
                </a:solidFill>
              </a:rPr>
              <a:t>Denetim sorusu</a:t>
            </a:r>
            <a:endParaRPr lang="en-US" sz="1460" dirty="0"/>
          </a:p>
        </p:txBody>
      </p:sp>
      <p:sp>
        <p:nvSpPr>
          <p:cNvPr id="11" name="Text 9"/>
          <p:cNvSpPr/>
          <p:nvPr/>
        </p:nvSpPr>
        <p:spPr>
          <a:xfrm>
            <a:off x="923544" y="2852928"/>
            <a:ext cx="1673352" cy="137160"/>
          </a:xfrm>
          <a:prstGeom prst="rect">
            <a:avLst/>
          </a:prstGeom>
          <a:noFill/>
          <a:ln/>
        </p:spPr>
        <p:txBody>
          <a:bodyPr wrap="square" lIns="0" tIns="0" rIns="0" bIns="0" rtlCol="0" anchor="ctr">
            <a:normAutofit/>
          </a:bodyPr>
          <a:lstStyle/>
          <a:p>
            <a:pPr algn="ctr" indent="0" marL="0">
              <a:buNone/>
            </a:pPr>
            <a:r>
              <a:rPr lang="en-US" sz="940" dirty="0">
                <a:solidFill>
                  <a:srgbClr val="C6D3E1"/>
                </a:solidFill>
              </a:rPr>
              <a:t>Ne arıyoruz?</a:t>
            </a:r>
            <a:endParaRPr lang="en-US" sz="940" dirty="0"/>
          </a:p>
        </p:txBody>
      </p:sp>
      <p:sp>
        <p:nvSpPr>
          <p:cNvPr id="12" name="Shape 10"/>
          <p:cNvSpPr/>
          <p:nvPr/>
        </p:nvSpPr>
        <p:spPr>
          <a:xfrm>
            <a:off x="3291840" y="2240280"/>
            <a:ext cx="1965960" cy="1005840"/>
          </a:xfrm>
          <a:prstGeom prst="roundRect">
            <a:avLst>
              <a:gd name="adj" fmla="val 11818"/>
            </a:avLst>
          </a:prstGeom>
          <a:solidFill>
            <a:srgbClr val="FFFFFF"/>
          </a:solidFill>
          <a:ln w="12700">
            <a:solidFill>
              <a:srgbClr val="EFEAE0"/>
            </a:solidFill>
            <a:prstDash val="solid"/>
          </a:ln>
        </p:spPr>
      </p:sp>
      <p:sp>
        <p:nvSpPr>
          <p:cNvPr id="13" name="Text 11"/>
          <p:cNvSpPr/>
          <p:nvPr/>
        </p:nvSpPr>
        <p:spPr>
          <a:xfrm>
            <a:off x="3410712" y="2496312"/>
            <a:ext cx="1728216" cy="182880"/>
          </a:xfrm>
          <a:prstGeom prst="rect">
            <a:avLst/>
          </a:prstGeom>
          <a:noFill/>
          <a:ln/>
        </p:spPr>
        <p:txBody>
          <a:bodyPr wrap="square" lIns="0" tIns="0" rIns="0" bIns="0" rtlCol="0" anchor="ctr">
            <a:normAutofit/>
          </a:bodyPr>
          <a:lstStyle/>
          <a:p>
            <a:pPr algn="ctr" indent="0" marL="0">
              <a:buNone/>
            </a:pPr>
            <a:r>
              <a:rPr lang="en-US" sz="1460" b="1" dirty="0">
                <a:solidFill>
                  <a:srgbClr val="15202B"/>
                </a:solidFill>
              </a:rPr>
              <a:t>Veri izi</a:t>
            </a:r>
            <a:endParaRPr lang="en-US" sz="1460" dirty="0"/>
          </a:p>
        </p:txBody>
      </p:sp>
      <p:sp>
        <p:nvSpPr>
          <p:cNvPr id="14" name="Text 12"/>
          <p:cNvSpPr/>
          <p:nvPr/>
        </p:nvSpPr>
        <p:spPr>
          <a:xfrm>
            <a:off x="3438144" y="2852928"/>
            <a:ext cx="1673352" cy="137160"/>
          </a:xfrm>
          <a:prstGeom prst="rect">
            <a:avLst/>
          </a:prstGeom>
          <a:noFill/>
          <a:ln/>
        </p:spPr>
        <p:txBody>
          <a:bodyPr wrap="square" lIns="0" tIns="0" rIns="0" bIns="0" rtlCol="0" anchor="ctr">
            <a:normAutofit/>
          </a:bodyPr>
          <a:lstStyle/>
          <a:p>
            <a:pPr algn="ctr" indent="0" marL="0">
              <a:buNone/>
            </a:pPr>
            <a:r>
              <a:rPr lang="en-US" sz="940" dirty="0">
                <a:solidFill>
                  <a:srgbClr val="64748B"/>
                </a:solidFill>
              </a:rPr>
              <a:t>Hangi kayıt bırakır?</a:t>
            </a:r>
            <a:endParaRPr lang="en-US" sz="940" dirty="0"/>
          </a:p>
        </p:txBody>
      </p:sp>
      <p:sp>
        <p:nvSpPr>
          <p:cNvPr id="15" name="Shape 13"/>
          <p:cNvSpPr/>
          <p:nvPr/>
        </p:nvSpPr>
        <p:spPr>
          <a:xfrm>
            <a:off x="5806440" y="2240280"/>
            <a:ext cx="1965960" cy="1005840"/>
          </a:xfrm>
          <a:prstGeom prst="roundRect">
            <a:avLst>
              <a:gd name="adj" fmla="val 11818"/>
            </a:avLst>
          </a:prstGeom>
          <a:solidFill>
            <a:srgbClr val="FFFFFF"/>
          </a:solidFill>
          <a:ln w="12700">
            <a:solidFill>
              <a:srgbClr val="EFEAE0"/>
            </a:solidFill>
            <a:prstDash val="solid"/>
          </a:ln>
        </p:spPr>
      </p:sp>
      <p:sp>
        <p:nvSpPr>
          <p:cNvPr id="16" name="Text 14"/>
          <p:cNvSpPr/>
          <p:nvPr/>
        </p:nvSpPr>
        <p:spPr>
          <a:xfrm>
            <a:off x="5925312" y="2496312"/>
            <a:ext cx="1728216" cy="182880"/>
          </a:xfrm>
          <a:prstGeom prst="rect">
            <a:avLst/>
          </a:prstGeom>
          <a:noFill/>
          <a:ln/>
        </p:spPr>
        <p:txBody>
          <a:bodyPr wrap="square" lIns="0" tIns="0" rIns="0" bIns="0" rtlCol="0" anchor="ctr">
            <a:normAutofit/>
          </a:bodyPr>
          <a:lstStyle/>
          <a:p>
            <a:pPr algn="ctr" indent="0" marL="0">
              <a:buNone/>
            </a:pPr>
            <a:r>
              <a:rPr lang="en-US" sz="1460" b="1" dirty="0">
                <a:solidFill>
                  <a:srgbClr val="15202B"/>
                </a:solidFill>
              </a:rPr>
              <a:t>Test tekniği</a:t>
            </a:r>
            <a:endParaRPr lang="en-US" sz="1460" dirty="0"/>
          </a:p>
        </p:txBody>
      </p:sp>
      <p:sp>
        <p:nvSpPr>
          <p:cNvPr id="17" name="Text 15"/>
          <p:cNvSpPr/>
          <p:nvPr/>
        </p:nvSpPr>
        <p:spPr>
          <a:xfrm>
            <a:off x="5952744" y="2852928"/>
            <a:ext cx="1673352" cy="137160"/>
          </a:xfrm>
          <a:prstGeom prst="rect">
            <a:avLst/>
          </a:prstGeom>
          <a:noFill/>
          <a:ln/>
        </p:spPr>
        <p:txBody>
          <a:bodyPr wrap="square" lIns="0" tIns="0" rIns="0" bIns="0" rtlCol="0" anchor="ctr">
            <a:normAutofit/>
          </a:bodyPr>
          <a:lstStyle/>
          <a:p>
            <a:pPr algn="ctr" indent="0" marL="0">
              <a:buNone/>
            </a:pPr>
            <a:r>
              <a:rPr lang="en-US" sz="940" dirty="0">
                <a:solidFill>
                  <a:srgbClr val="64748B"/>
                </a:solidFill>
              </a:rPr>
              <a:t>Hangi yöntem uygun?</a:t>
            </a:r>
            <a:endParaRPr lang="en-US" sz="940" dirty="0"/>
          </a:p>
        </p:txBody>
      </p:sp>
      <p:sp>
        <p:nvSpPr>
          <p:cNvPr id="18" name="Shape 16"/>
          <p:cNvSpPr/>
          <p:nvPr/>
        </p:nvSpPr>
        <p:spPr>
          <a:xfrm>
            <a:off x="8321040" y="2240280"/>
            <a:ext cx="1965960" cy="1005840"/>
          </a:xfrm>
          <a:prstGeom prst="roundRect">
            <a:avLst>
              <a:gd name="adj" fmla="val 11818"/>
            </a:avLst>
          </a:prstGeom>
          <a:solidFill>
            <a:srgbClr val="FFFFFF"/>
          </a:solidFill>
          <a:ln w="12700">
            <a:solidFill>
              <a:srgbClr val="EFEAE0"/>
            </a:solidFill>
            <a:prstDash val="solid"/>
          </a:ln>
        </p:spPr>
      </p:sp>
      <p:sp>
        <p:nvSpPr>
          <p:cNvPr id="19" name="Text 17"/>
          <p:cNvSpPr/>
          <p:nvPr/>
        </p:nvSpPr>
        <p:spPr>
          <a:xfrm>
            <a:off x="8439912" y="2496312"/>
            <a:ext cx="1728216" cy="182880"/>
          </a:xfrm>
          <a:prstGeom prst="rect">
            <a:avLst/>
          </a:prstGeom>
          <a:noFill/>
          <a:ln/>
        </p:spPr>
        <p:txBody>
          <a:bodyPr wrap="square" lIns="0" tIns="0" rIns="0" bIns="0" rtlCol="0" anchor="ctr">
            <a:normAutofit/>
          </a:bodyPr>
          <a:lstStyle/>
          <a:p>
            <a:pPr algn="ctr" indent="0" marL="0">
              <a:buNone/>
            </a:pPr>
            <a:r>
              <a:rPr lang="en-US" sz="1460" b="1" dirty="0">
                <a:solidFill>
                  <a:srgbClr val="15202B"/>
                </a:solidFill>
              </a:rPr>
              <a:t>Bulguyu doğrula</a:t>
            </a:r>
            <a:endParaRPr lang="en-US" sz="1460" dirty="0"/>
          </a:p>
        </p:txBody>
      </p:sp>
      <p:sp>
        <p:nvSpPr>
          <p:cNvPr id="20" name="Text 18"/>
          <p:cNvSpPr/>
          <p:nvPr/>
        </p:nvSpPr>
        <p:spPr>
          <a:xfrm>
            <a:off x="8467344" y="2852928"/>
            <a:ext cx="1673352" cy="137160"/>
          </a:xfrm>
          <a:prstGeom prst="rect">
            <a:avLst/>
          </a:prstGeom>
          <a:noFill/>
          <a:ln/>
        </p:spPr>
        <p:txBody>
          <a:bodyPr wrap="square" lIns="0" tIns="0" rIns="0" bIns="0" rtlCol="0" anchor="ctr">
            <a:normAutofit/>
          </a:bodyPr>
          <a:lstStyle/>
          <a:p>
            <a:pPr algn="ctr" indent="0" marL="0">
              <a:buNone/>
            </a:pPr>
            <a:r>
              <a:rPr lang="en-US" sz="940" dirty="0">
                <a:solidFill>
                  <a:srgbClr val="64748B"/>
                </a:solidFill>
              </a:rPr>
              <a:t>Belge ve muhakeme</a:t>
            </a:r>
            <a:endParaRPr lang="en-US" sz="940" dirty="0"/>
          </a:p>
        </p:txBody>
      </p:sp>
      <p:sp>
        <p:nvSpPr>
          <p:cNvPr id="21" name="Shape 19"/>
          <p:cNvSpPr/>
          <p:nvPr/>
        </p:nvSpPr>
        <p:spPr>
          <a:xfrm>
            <a:off x="868680" y="4270248"/>
            <a:ext cx="201168" cy="201168"/>
          </a:xfrm>
          <a:prstGeom prst="ellipse">
            <a:avLst/>
          </a:prstGeom>
          <a:solidFill>
            <a:srgbClr val="079EA4"/>
          </a:solidFill>
          <a:ln w="12700">
            <a:solidFill>
              <a:srgbClr val="079EA4"/>
            </a:solidFill>
            <a:prstDash val="solid"/>
          </a:ln>
        </p:spPr>
      </p:sp>
      <p:sp>
        <p:nvSpPr>
          <p:cNvPr id="22" name="Text 20"/>
          <p:cNvSpPr/>
          <p:nvPr/>
        </p:nvSpPr>
        <p:spPr>
          <a:xfrm>
            <a:off x="1197864" y="4233672"/>
            <a:ext cx="1143000" cy="164592"/>
          </a:xfrm>
          <a:prstGeom prst="rect">
            <a:avLst/>
          </a:prstGeom>
          <a:noFill/>
          <a:ln/>
        </p:spPr>
        <p:txBody>
          <a:bodyPr wrap="square" lIns="0" tIns="0" rIns="0" bIns="0" rtlCol="0" anchor="ctr">
            <a:normAutofit/>
          </a:bodyPr>
          <a:lstStyle/>
          <a:p>
            <a:pPr indent="0" marL="0">
              <a:buNone/>
            </a:pPr>
            <a:r>
              <a:rPr lang="en-US" sz="1220" b="1" dirty="0">
                <a:solidFill>
                  <a:srgbClr val="15202B"/>
                </a:solidFill>
              </a:rPr>
              <a:t>Aykırı değer</a:t>
            </a:r>
            <a:endParaRPr lang="en-US" sz="1220" dirty="0"/>
          </a:p>
        </p:txBody>
      </p:sp>
      <p:sp>
        <p:nvSpPr>
          <p:cNvPr id="23" name="Text 21"/>
          <p:cNvSpPr/>
          <p:nvPr/>
        </p:nvSpPr>
        <p:spPr>
          <a:xfrm>
            <a:off x="2743200" y="4242816"/>
            <a:ext cx="1691640" cy="164592"/>
          </a:xfrm>
          <a:prstGeom prst="rect">
            <a:avLst/>
          </a:prstGeom>
          <a:noFill/>
          <a:ln/>
        </p:spPr>
        <p:txBody>
          <a:bodyPr wrap="square" lIns="0" tIns="0" rIns="0" bIns="0" rtlCol="0" anchor="ctr">
            <a:normAutofit/>
          </a:bodyPr>
          <a:lstStyle/>
          <a:p>
            <a:pPr indent="0" marL="0">
              <a:buNone/>
            </a:pPr>
            <a:r>
              <a:rPr lang="en-US" sz="1000" dirty="0">
                <a:solidFill>
                  <a:srgbClr val="334155"/>
                </a:solidFill>
              </a:rPr>
              <a:t>Kim, ne zaman, ne kadar olağandışı?</a:t>
            </a:r>
            <a:endParaRPr lang="en-US" sz="1000" dirty="0"/>
          </a:p>
        </p:txBody>
      </p:sp>
      <p:sp>
        <p:nvSpPr>
          <p:cNvPr id="24" name="Shape 22"/>
          <p:cNvSpPr/>
          <p:nvPr/>
        </p:nvSpPr>
        <p:spPr>
          <a:xfrm>
            <a:off x="4572000" y="4270248"/>
            <a:ext cx="201168" cy="201168"/>
          </a:xfrm>
          <a:prstGeom prst="ellipse">
            <a:avLst/>
          </a:prstGeom>
          <a:solidFill>
            <a:srgbClr val="D9294F"/>
          </a:solidFill>
          <a:ln w="12700">
            <a:solidFill>
              <a:srgbClr val="D9294F"/>
            </a:solidFill>
            <a:prstDash val="solid"/>
          </a:ln>
        </p:spPr>
      </p:sp>
      <p:sp>
        <p:nvSpPr>
          <p:cNvPr id="25" name="Text 23"/>
          <p:cNvSpPr/>
          <p:nvPr/>
        </p:nvSpPr>
        <p:spPr>
          <a:xfrm>
            <a:off x="4901184" y="4233672"/>
            <a:ext cx="1143000" cy="164592"/>
          </a:xfrm>
          <a:prstGeom prst="rect">
            <a:avLst/>
          </a:prstGeom>
          <a:noFill/>
          <a:ln/>
        </p:spPr>
        <p:txBody>
          <a:bodyPr wrap="square" lIns="0" tIns="0" rIns="0" bIns="0" rtlCol="0" anchor="ctr">
            <a:normAutofit/>
          </a:bodyPr>
          <a:lstStyle/>
          <a:p>
            <a:pPr indent="0" marL="0">
              <a:buNone/>
            </a:pPr>
            <a:r>
              <a:rPr lang="en-US" sz="1220" b="1" dirty="0">
                <a:solidFill>
                  <a:srgbClr val="15202B"/>
                </a:solidFill>
              </a:rPr>
              <a:t>Benford</a:t>
            </a:r>
            <a:endParaRPr lang="en-US" sz="1220" dirty="0"/>
          </a:p>
        </p:txBody>
      </p:sp>
      <p:sp>
        <p:nvSpPr>
          <p:cNvPr id="26" name="Text 24"/>
          <p:cNvSpPr/>
          <p:nvPr/>
        </p:nvSpPr>
        <p:spPr>
          <a:xfrm>
            <a:off x="6446520" y="4242816"/>
            <a:ext cx="1691640" cy="164592"/>
          </a:xfrm>
          <a:prstGeom prst="rect">
            <a:avLst/>
          </a:prstGeom>
          <a:noFill/>
          <a:ln/>
        </p:spPr>
        <p:txBody>
          <a:bodyPr wrap="square" lIns="0" tIns="0" rIns="0" bIns="0" rtlCol="0" anchor="ctr">
            <a:normAutofit/>
          </a:bodyPr>
          <a:lstStyle/>
          <a:p>
            <a:pPr indent="0" marL="0">
              <a:buNone/>
            </a:pPr>
            <a:r>
              <a:rPr lang="en-US" sz="1000" dirty="0">
                <a:solidFill>
                  <a:srgbClr val="334155"/>
                </a:solidFill>
              </a:rPr>
              <a:t>Rakam dağılımı doğal mı?</a:t>
            </a:r>
            <a:endParaRPr lang="en-US" sz="1000" dirty="0"/>
          </a:p>
        </p:txBody>
      </p:sp>
      <p:sp>
        <p:nvSpPr>
          <p:cNvPr id="27" name="Shape 25"/>
          <p:cNvSpPr/>
          <p:nvPr/>
        </p:nvSpPr>
        <p:spPr>
          <a:xfrm>
            <a:off x="8275320" y="4270248"/>
            <a:ext cx="201168" cy="201168"/>
          </a:xfrm>
          <a:prstGeom prst="ellipse">
            <a:avLst/>
          </a:prstGeom>
          <a:solidFill>
            <a:srgbClr val="079EA4"/>
          </a:solidFill>
          <a:ln w="12700">
            <a:solidFill>
              <a:srgbClr val="079EA4"/>
            </a:solidFill>
            <a:prstDash val="solid"/>
          </a:ln>
        </p:spPr>
      </p:sp>
      <p:sp>
        <p:nvSpPr>
          <p:cNvPr id="28" name="Text 26"/>
          <p:cNvSpPr/>
          <p:nvPr/>
        </p:nvSpPr>
        <p:spPr>
          <a:xfrm>
            <a:off x="8604504" y="4233672"/>
            <a:ext cx="1143000" cy="164592"/>
          </a:xfrm>
          <a:prstGeom prst="rect">
            <a:avLst/>
          </a:prstGeom>
          <a:noFill/>
          <a:ln/>
        </p:spPr>
        <p:txBody>
          <a:bodyPr wrap="square" lIns="0" tIns="0" rIns="0" bIns="0" rtlCol="0" anchor="ctr">
            <a:normAutofit/>
          </a:bodyPr>
          <a:lstStyle/>
          <a:p>
            <a:pPr indent="0" marL="0">
              <a:buNone/>
            </a:pPr>
            <a:r>
              <a:rPr lang="en-US" sz="1220" b="1" dirty="0">
                <a:solidFill>
                  <a:srgbClr val="15202B"/>
                </a:solidFill>
              </a:rPr>
              <a:t>Fuzzy match</a:t>
            </a:r>
            <a:endParaRPr lang="en-US" sz="1220" dirty="0"/>
          </a:p>
        </p:txBody>
      </p:sp>
      <p:sp>
        <p:nvSpPr>
          <p:cNvPr id="29" name="Text 27"/>
          <p:cNvSpPr/>
          <p:nvPr/>
        </p:nvSpPr>
        <p:spPr>
          <a:xfrm>
            <a:off x="10149840" y="4242816"/>
            <a:ext cx="1691640" cy="164592"/>
          </a:xfrm>
          <a:prstGeom prst="rect">
            <a:avLst/>
          </a:prstGeom>
          <a:noFill/>
          <a:ln/>
        </p:spPr>
        <p:txBody>
          <a:bodyPr wrap="square" lIns="0" tIns="0" rIns="0" bIns="0" rtlCol="0" anchor="ctr">
            <a:normAutofit/>
          </a:bodyPr>
          <a:lstStyle/>
          <a:p>
            <a:pPr indent="0" marL="0">
              <a:buNone/>
            </a:pPr>
            <a:r>
              <a:rPr lang="en-US" sz="1000" dirty="0">
                <a:solidFill>
                  <a:srgbClr val="334155"/>
                </a:solidFill>
              </a:rPr>
              <a:t>Aynı kişi/kurum farklı mı yazılmış?</a:t>
            </a:r>
            <a:endParaRPr lang="en-US" sz="1000" dirty="0"/>
          </a:p>
        </p:txBody>
      </p:sp>
      <p:sp>
        <p:nvSpPr>
          <p:cNvPr id="30" name="Shape 28"/>
          <p:cNvSpPr/>
          <p:nvPr/>
        </p:nvSpPr>
        <p:spPr>
          <a:xfrm>
            <a:off x="868680" y="4928616"/>
            <a:ext cx="201168" cy="201168"/>
          </a:xfrm>
          <a:prstGeom prst="ellipse">
            <a:avLst/>
          </a:prstGeom>
          <a:solidFill>
            <a:srgbClr val="079EA4"/>
          </a:solidFill>
          <a:ln w="12700">
            <a:solidFill>
              <a:srgbClr val="079EA4"/>
            </a:solidFill>
            <a:prstDash val="solid"/>
          </a:ln>
        </p:spPr>
      </p:sp>
      <p:sp>
        <p:nvSpPr>
          <p:cNvPr id="31" name="Text 29"/>
          <p:cNvSpPr/>
          <p:nvPr/>
        </p:nvSpPr>
        <p:spPr>
          <a:xfrm>
            <a:off x="1197864" y="4892040"/>
            <a:ext cx="1143000" cy="164592"/>
          </a:xfrm>
          <a:prstGeom prst="rect">
            <a:avLst/>
          </a:prstGeom>
          <a:noFill/>
          <a:ln/>
        </p:spPr>
        <p:txBody>
          <a:bodyPr wrap="square" lIns="0" tIns="0" rIns="0" bIns="0" rtlCol="0" anchor="ctr">
            <a:normAutofit/>
          </a:bodyPr>
          <a:lstStyle/>
          <a:p>
            <a:pPr indent="0" marL="0">
              <a:buNone/>
            </a:pPr>
            <a:r>
              <a:rPr lang="en-US" sz="1220" b="1" dirty="0">
                <a:solidFill>
                  <a:srgbClr val="15202B"/>
                </a:solidFill>
              </a:rPr>
              <a:t>Semantic search</a:t>
            </a:r>
            <a:endParaRPr lang="en-US" sz="1220" dirty="0"/>
          </a:p>
        </p:txBody>
      </p:sp>
      <p:sp>
        <p:nvSpPr>
          <p:cNvPr id="32" name="Text 30"/>
          <p:cNvSpPr/>
          <p:nvPr/>
        </p:nvSpPr>
        <p:spPr>
          <a:xfrm>
            <a:off x="2743200" y="4901184"/>
            <a:ext cx="1691640" cy="164592"/>
          </a:xfrm>
          <a:prstGeom prst="rect">
            <a:avLst/>
          </a:prstGeom>
          <a:noFill/>
          <a:ln/>
        </p:spPr>
        <p:txBody>
          <a:bodyPr wrap="square" lIns="0" tIns="0" rIns="0" bIns="0" rtlCol="0" anchor="ctr">
            <a:normAutofit/>
          </a:bodyPr>
          <a:lstStyle/>
          <a:p>
            <a:pPr indent="0" marL="0">
              <a:buNone/>
            </a:pPr>
            <a:r>
              <a:rPr lang="en-US" sz="1000" dirty="0">
                <a:solidFill>
                  <a:srgbClr val="334155"/>
                </a:solidFill>
              </a:rPr>
              <a:t>Metnin içinde anlamca benzer ifade var mı?</a:t>
            </a:r>
            <a:endParaRPr lang="en-US" sz="1000" dirty="0"/>
          </a:p>
        </p:txBody>
      </p:sp>
      <p:sp>
        <p:nvSpPr>
          <p:cNvPr id="33" name="Shape 31"/>
          <p:cNvSpPr/>
          <p:nvPr/>
        </p:nvSpPr>
        <p:spPr>
          <a:xfrm>
            <a:off x="4572000" y="4928616"/>
            <a:ext cx="201168" cy="201168"/>
          </a:xfrm>
          <a:prstGeom prst="ellipse">
            <a:avLst/>
          </a:prstGeom>
          <a:solidFill>
            <a:srgbClr val="079EA4"/>
          </a:solidFill>
          <a:ln w="12700">
            <a:solidFill>
              <a:srgbClr val="079EA4"/>
            </a:solidFill>
            <a:prstDash val="solid"/>
          </a:ln>
        </p:spPr>
      </p:sp>
      <p:sp>
        <p:nvSpPr>
          <p:cNvPr id="34" name="Text 32"/>
          <p:cNvSpPr/>
          <p:nvPr/>
        </p:nvSpPr>
        <p:spPr>
          <a:xfrm>
            <a:off x="4901184" y="4892040"/>
            <a:ext cx="1143000" cy="164592"/>
          </a:xfrm>
          <a:prstGeom prst="rect">
            <a:avLst/>
          </a:prstGeom>
          <a:noFill/>
          <a:ln/>
        </p:spPr>
        <p:txBody>
          <a:bodyPr wrap="square" lIns="0" tIns="0" rIns="0" bIns="0" rtlCol="0" anchor="ctr">
            <a:normAutofit/>
          </a:bodyPr>
          <a:lstStyle/>
          <a:p>
            <a:pPr indent="0" marL="0">
              <a:buNone/>
            </a:pPr>
            <a:r>
              <a:rPr lang="en-US" sz="1220" b="1" dirty="0">
                <a:solidFill>
                  <a:srgbClr val="15202B"/>
                </a:solidFill>
              </a:rPr>
              <a:t>Network analysis</a:t>
            </a:r>
            <a:endParaRPr lang="en-US" sz="1220" dirty="0"/>
          </a:p>
        </p:txBody>
      </p:sp>
      <p:sp>
        <p:nvSpPr>
          <p:cNvPr id="35" name="Text 33"/>
          <p:cNvSpPr/>
          <p:nvPr/>
        </p:nvSpPr>
        <p:spPr>
          <a:xfrm>
            <a:off x="6446520" y="4901184"/>
            <a:ext cx="1691640" cy="164592"/>
          </a:xfrm>
          <a:prstGeom prst="rect">
            <a:avLst/>
          </a:prstGeom>
          <a:noFill/>
          <a:ln/>
        </p:spPr>
        <p:txBody>
          <a:bodyPr wrap="square" lIns="0" tIns="0" rIns="0" bIns="0" rtlCol="0" anchor="ctr">
            <a:normAutofit/>
          </a:bodyPr>
          <a:lstStyle/>
          <a:p>
            <a:pPr indent="0" marL="0">
              <a:buNone/>
            </a:pPr>
            <a:r>
              <a:rPr lang="en-US" sz="1000" dirty="0">
                <a:solidFill>
                  <a:srgbClr val="334155"/>
                </a:solidFill>
              </a:rPr>
              <a:t>Ortağın ortağı, adresin adresi kim?</a:t>
            </a:r>
            <a:endParaRPr lang="en-US" sz="1000" dirty="0"/>
          </a:p>
        </p:txBody>
      </p:sp>
      <p:sp>
        <p:nvSpPr>
          <p:cNvPr id="36" name="Text 34"/>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Aykırı değer: “suistimal” değil, önceliklendirme sinyali</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Denetimde iyi bir ilk filtre; hüküm değil.</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1143000" y="5257800"/>
            <a:ext cx="4663440" cy="0"/>
          </a:xfrm>
          <a:prstGeom prst="line">
            <a:avLst/>
          </a:prstGeom>
          <a:noFill/>
          <a:ln w="15240">
            <a:solidFill>
              <a:srgbClr val="64748B"/>
            </a:solidFill>
            <a:prstDash val="solid"/>
          </a:ln>
        </p:spPr>
      </p:sp>
      <p:sp>
        <p:nvSpPr>
          <p:cNvPr id="6" name="Shape 4"/>
          <p:cNvSpPr/>
          <p:nvPr/>
        </p:nvSpPr>
        <p:spPr>
          <a:xfrm>
            <a:off x="1143000" y="5257800"/>
            <a:ext cx="0" cy="-3566160"/>
          </a:xfrm>
          <a:prstGeom prst="line">
            <a:avLst/>
          </a:prstGeom>
          <a:noFill/>
          <a:ln w="15240">
            <a:solidFill>
              <a:srgbClr val="64748B"/>
            </a:solidFill>
            <a:prstDash val="solid"/>
          </a:ln>
        </p:spPr>
      </p:sp>
      <p:sp>
        <p:nvSpPr>
          <p:cNvPr id="7" name="Shape 5"/>
          <p:cNvSpPr/>
          <p:nvPr/>
        </p:nvSpPr>
        <p:spPr>
          <a:xfrm>
            <a:off x="1554480" y="4754880"/>
            <a:ext cx="146304" cy="146304"/>
          </a:xfrm>
          <a:prstGeom prst="ellipse">
            <a:avLst/>
          </a:prstGeom>
          <a:solidFill>
            <a:srgbClr val="079EA4"/>
          </a:solidFill>
          <a:ln w="12700">
            <a:solidFill>
              <a:srgbClr val="079EA4"/>
            </a:solidFill>
            <a:prstDash val="solid"/>
          </a:ln>
        </p:spPr>
      </p:sp>
      <p:sp>
        <p:nvSpPr>
          <p:cNvPr id="8" name="Shape 6"/>
          <p:cNvSpPr/>
          <p:nvPr/>
        </p:nvSpPr>
        <p:spPr>
          <a:xfrm>
            <a:off x="1828800" y="4526280"/>
            <a:ext cx="146304" cy="146304"/>
          </a:xfrm>
          <a:prstGeom prst="ellipse">
            <a:avLst/>
          </a:prstGeom>
          <a:solidFill>
            <a:srgbClr val="079EA4"/>
          </a:solidFill>
          <a:ln w="12700">
            <a:solidFill>
              <a:srgbClr val="079EA4"/>
            </a:solidFill>
            <a:prstDash val="solid"/>
          </a:ln>
        </p:spPr>
      </p:sp>
      <p:sp>
        <p:nvSpPr>
          <p:cNvPr id="9" name="Shape 7"/>
          <p:cNvSpPr/>
          <p:nvPr/>
        </p:nvSpPr>
        <p:spPr>
          <a:xfrm>
            <a:off x="2148840" y="4617720"/>
            <a:ext cx="146304" cy="146304"/>
          </a:xfrm>
          <a:prstGeom prst="ellipse">
            <a:avLst/>
          </a:prstGeom>
          <a:solidFill>
            <a:srgbClr val="079EA4"/>
          </a:solidFill>
          <a:ln w="12700">
            <a:solidFill>
              <a:srgbClr val="079EA4"/>
            </a:solidFill>
            <a:prstDash val="solid"/>
          </a:ln>
        </p:spPr>
      </p:sp>
      <p:sp>
        <p:nvSpPr>
          <p:cNvPr id="10" name="Shape 8"/>
          <p:cNvSpPr/>
          <p:nvPr/>
        </p:nvSpPr>
        <p:spPr>
          <a:xfrm>
            <a:off x="2423160" y="4315968"/>
            <a:ext cx="146304" cy="146304"/>
          </a:xfrm>
          <a:prstGeom prst="ellipse">
            <a:avLst/>
          </a:prstGeom>
          <a:solidFill>
            <a:srgbClr val="079EA4"/>
          </a:solidFill>
          <a:ln w="12700">
            <a:solidFill>
              <a:srgbClr val="079EA4"/>
            </a:solidFill>
            <a:prstDash val="solid"/>
          </a:ln>
        </p:spPr>
      </p:sp>
      <p:sp>
        <p:nvSpPr>
          <p:cNvPr id="11" name="Shape 9"/>
          <p:cNvSpPr/>
          <p:nvPr/>
        </p:nvSpPr>
        <p:spPr>
          <a:xfrm>
            <a:off x="2743200" y="4407408"/>
            <a:ext cx="146304" cy="146304"/>
          </a:xfrm>
          <a:prstGeom prst="ellipse">
            <a:avLst/>
          </a:prstGeom>
          <a:solidFill>
            <a:srgbClr val="079EA4"/>
          </a:solidFill>
          <a:ln w="12700">
            <a:solidFill>
              <a:srgbClr val="079EA4"/>
            </a:solidFill>
            <a:prstDash val="solid"/>
          </a:ln>
        </p:spPr>
      </p:sp>
      <p:sp>
        <p:nvSpPr>
          <p:cNvPr id="12" name="Shape 10"/>
          <p:cNvSpPr/>
          <p:nvPr/>
        </p:nvSpPr>
        <p:spPr>
          <a:xfrm>
            <a:off x="3063240" y="4069080"/>
            <a:ext cx="146304" cy="146304"/>
          </a:xfrm>
          <a:prstGeom prst="ellipse">
            <a:avLst/>
          </a:prstGeom>
          <a:solidFill>
            <a:srgbClr val="079EA4"/>
          </a:solidFill>
          <a:ln w="12700">
            <a:solidFill>
              <a:srgbClr val="079EA4"/>
            </a:solidFill>
            <a:prstDash val="solid"/>
          </a:ln>
        </p:spPr>
      </p:sp>
      <p:sp>
        <p:nvSpPr>
          <p:cNvPr id="13" name="Shape 11"/>
          <p:cNvSpPr/>
          <p:nvPr/>
        </p:nvSpPr>
        <p:spPr>
          <a:xfrm>
            <a:off x="3401568" y="4206240"/>
            <a:ext cx="146304" cy="146304"/>
          </a:xfrm>
          <a:prstGeom prst="ellipse">
            <a:avLst/>
          </a:prstGeom>
          <a:solidFill>
            <a:srgbClr val="079EA4"/>
          </a:solidFill>
          <a:ln w="12700">
            <a:solidFill>
              <a:srgbClr val="079EA4"/>
            </a:solidFill>
            <a:prstDash val="solid"/>
          </a:ln>
        </p:spPr>
      </p:sp>
      <p:sp>
        <p:nvSpPr>
          <p:cNvPr id="14" name="Shape 12"/>
          <p:cNvSpPr/>
          <p:nvPr/>
        </p:nvSpPr>
        <p:spPr>
          <a:xfrm>
            <a:off x="3703320" y="3950208"/>
            <a:ext cx="146304" cy="146304"/>
          </a:xfrm>
          <a:prstGeom prst="ellipse">
            <a:avLst/>
          </a:prstGeom>
          <a:solidFill>
            <a:srgbClr val="079EA4"/>
          </a:solidFill>
          <a:ln w="12700">
            <a:solidFill>
              <a:srgbClr val="079EA4"/>
            </a:solidFill>
            <a:prstDash val="solid"/>
          </a:ln>
        </p:spPr>
      </p:sp>
      <p:sp>
        <p:nvSpPr>
          <p:cNvPr id="15" name="Shape 13"/>
          <p:cNvSpPr/>
          <p:nvPr/>
        </p:nvSpPr>
        <p:spPr>
          <a:xfrm>
            <a:off x="4023360" y="3794760"/>
            <a:ext cx="146304" cy="146304"/>
          </a:xfrm>
          <a:prstGeom prst="ellipse">
            <a:avLst/>
          </a:prstGeom>
          <a:solidFill>
            <a:srgbClr val="079EA4"/>
          </a:solidFill>
          <a:ln w="12700">
            <a:solidFill>
              <a:srgbClr val="079EA4"/>
            </a:solidFill>
            <a:prstDash val="solid"/>
          </a:ln>
        </p:spPr>
      </p:sp>
      <p:sp>
        <p:nvSpPr>
          <p:cNvPr id="16" name="Shape 14"/>
          <p:cNvSpPr/>
          <p:nvPr/>
        </p:nvSpPr>
        <p:spPr>
          <a:xfrm>
            <a:off x="4370832" y="3703320"/>
            <a:ext cx="146304" cy="146304"/>
          </a:xfrm>
          <a:prstGeom prst="ellipse">
            <a:avLst/>
          </a:prstGeom>
          <a:solidFill>
            <a:srgbClr val="079EA4"/>
          </a:solidFill>
          <a:ln w="12700">
            <a:solidFill>
              <a:srgbClr val="079EA4"/>
            </a:solidFill>
            <a:prstDash val="solid"/>
          </a:ln>
        </p:spPr>
      </p:sp>
      <p:sp>
        <p:nvSpPr>
          <p:cNvPr id="17" name="Shape 15"/>
          <p:cNvSpPr/>
          <p:nvPr/>
        </p:nvSpPr>
        <p:spPr>
          <a:xfrm>
            <a:off x="4663440" y="3456432"/>
            <a:ext cx="146304" cy="146304"/>
          </a:xfrm>
          <a:prstGeom prst="ellipse">
            <a:avLst/>
          </a:prstGeom>
          <a:solidFill>
            <a:srgbClr val="079EA4"/>
          </a:solidFill>
          <a:ln w="12700">
            <a:solidFill>
              <a:srgbClr val="079EA4"/>
            </a:solidFill>
            <a:prstDash val="solid"/>
          </a:ln>
        </p:spPr>
      </p:sp>
      <p:sp>
        <p:nvSpPr>
          <p:cNvPr id="18" name="Shape 16"/>
          <p:cNvSpPr/>
          <p:nvPr/>
        </p:nvSpPr>
        <p:spPr>
          <a:xfrm>
            <a:off x="4983480" y="3566160"/>
            <a:ext cx="146304" cy="146304"/>
          </a:xfrm>
          <a:prstGeom prst="ellipse">
            <a:avLst/>
          </a:prstGeom>
          <a:solidFill>
            <a:srgbClr val="079EA4"/>
          </a:solidFill>
          <a:ln w="12700">
            <a:solidFill>
              <a:srgbClr val="079EA4"/>
            </a:solidFill>
            <a:prstDash val="solid"/>
          </a:ln>
        </p:spPr>
      </p:sp>
      <p:sp>
        <p:nvSpPr>
          <p:cNvPr id="19" name="Shape 17"/>
          <p:cNvSpPr/>
          <p:nvPr/>
        </p:nvSpPr>
        <p:spPr>
          <a:xfrm>
            <a:off x="5257800" y="1920240"/>
            <a:ext cx="256032" cy="256032"/>
          </a:xfrm>
          <a:prstGeom prst="ellipse">
            <a:avLst/>
          </a:prstGeom>
          <a:solidFill>
            <a:srgbClr val="D9294F"/>
          </a:solidFill>
          <a:ln w="12700">
            <a:solidFill>
              <a:srgbClr val="D9294F"/>
            </a:solidFill>
            <a:prstDash val="solid"/>
          </a:ln>
        </p:spPr>
      </p:sp>
      <p:sp>
        <p:nvSpPr>
          <p:cNvPr id="20" name="Shape 18"/>
          <p:cNvSpPr/>
          <p:nvPr/>
        </p:nvSpPr>
        <p:spPr>
          <a:xfrm>
            <a:off x="5376672" y="2048256"/>
            <a:ext cx="1188720" cy="-320040"/>
          </a:xfrm>
          <a:prstGeom prst="line">
            <a:avLst/>
          </a:prstGeom>
          <a:noFill/>
          <a:ln w="15240">
            <a:solidFill>
              <a:srgbClr val="D9294F"/>
            </a:solidFill>
            <a:prstDash val="solid"/>
          </a:ln>
        </p:spPr>
      </p:sp>
      <p:sp>
        <p:nvSpPr>
          <p:cNvPr id="21" name="Text 19"/>
          <p:cNvSpPr/>
          <p:nvPr/>
        </p:nvSpPr>
        <p:spPr>
          <a:xfrm>
            <a:off x="6583680" y="1627632"/>
            <a:ext cx="2194560" cy="201168"/>
          </a:xfrm>
          <a:prstGeom prst="rect">
            <a:avLst/>
          </a:prstGeom>
          <a:noFill/>
          <a:ln/>
        </p:spPr>
        <p:txBody>
          <a:bodyPr wrap="square" lIns="0" tIns="0" rIns="0" bIns="0" rtlCol="0" anchor="ctr"/>
          <a:lstStyle/>
          <a:p>
            <a:pPr indent="0" marL="0">
              <a:buNone/>
            </a:pPr>
            <a:r>
              <a:rPr lang="en-US" sz="1600" b="1" dirty="0">
                <a:solidFill>
                  <a:srgbClr val="D9294F"/>
                </a:solidFill>
              </a:rPr>
              <a:t>Neden burada?</a:t>
            </a:r>
            <a:endParaRPr lang="en-US" sz="1600" dirty="0"/>
          </a:p>
        </p:txBody>
      </p:sp>
      <p:sp>
        <p:nvSpPr>
          <p:cNvPr id="22" name="Shape 20"/>
          <p:cNvSpPr/>
          <p:nvPr/>
        </p:nvSpPr>
        <p:spPr>
          <a:xfrm>
            <a:off x="6565392" y="2331720"/>
            <a:ext cx="411480" cy="0"/>
          </a:xfrm>
          <a:prstGeom prst="line">
            <a:avLst/>
          </a:prstGeom>
          <a:noFill/>
          <a:ln w="25400">
            <a:solidFill>
              <a:srgbClr val="079EA4"/>
            </a:solidFill>
            <a:prstDash val="solid"/>
          </a:ln>
        </p:spPr>
      </p:sp>
      <p:sp>
        <p:nvSpPr>
          <p:cNvPr id="23" name="Text 21"/>
          <p:cNvSpPr/>
          <p:nvPr/>
        </p:nvSpPr>
        <p:spPr>
          <a:xfrm>
            <a:off x="7132320" y="2212848"/>
            <a:ext cx="3566160" cy="310896"/>
          </a:xfrm>
          <a:prstGeom prst="rect">
            <a:avLst/>
          </a:prstGeom>
          <a:noFill/>
          <a:ln/>
        </p:spPr>
        <p:txBody>
          <a:bodyPr wrap="square" lIns="0" tIns="0" rIns="0" bIns="0" rtlCol="0" anchor="ctr">
            <a:normAutofit/>
          </a:bodyPr>
          <a:lstStyle/>
          <a:p>
            <a:pPr indent="0" marL="0">
              <a:buNone/>
            </a:pPr>
            <a:r>
              <a:rPr lang="en-US" sz="1350" dirty="0">
                <a:solidFill>
                  <a:srgbClr val="334155"/>
                </a:solidFill>
              </a:rPr>
              <a:t>Yüksek tutar, olağandışı tarih, olağandışı onay zinciri</a:t>
            </a:r>
            <a:endParaRPr lang="en-US" sz="1350" dirty="0"/>
          </a:p>
        </p:txBody>
      </p:sp>
      <p:sp>
        <p:nvSpPr>
          <p:cNvPr id="24" name="Shape 22"/>
          <p:cNvSpPr/>
          <p:nvPr/>
        </p:nvSpPr>
        <p:spPr>
          <a:xfrm>
            <a:off x="6565392" y="3081528"/>
            <a:ext cx="411480" cy="0"/>
          </a:xfrm>
          <a:prstGeom prst="line">
            <a:avLst/>
          </a:prstGeom>
          <a:noFill/>
          <a:ln w="25400">
            <a:solidFill>
              <a:srgbClr val="079EA4"/>
            </a:solidFill>
            <a:prstDash val="solid"/>
          </a:ln>
        </p:spPr>
      </p:sp>
      <p:sp>
        <p:nvSpPr>
          <p:cNvPr id="25" name="Text 23"/>
          <p:cNvSpPr/>
          <p:nvPr/>
        </p:nvSpPr>
        <p:spPr>
          <a:xfrm>
            <a:off x="7132320" y="2962656"/>
            <a:ext cx="3566160" cy="310896"/>
          </a:xfrm>
          <a:prstGeom prst="rect">
            <a:avLst/>
          </a:prstGeom>
          <a:noFill/>
          <a:ln/>
        </p:spPr>
        <p:txBody>
          <a:bodyPr wrap="square" lIns="0" tIns="0" rIns="0" bIns="0" rtlCol="0" anchor="ctr">
            <a:normAutofit/>
          </a:bodyPr>
          <a:lstStyle/>
          <a:p>
            <a:pPr indent="0" marL="0">
              <a:buNone/>
            </a:pPr>
            <a:r>
              <a:rPr lang="en-US" sz="1350" dirty="0">
                <a:solidFill>
                  <a:srgbClr val="334155"/>
                </a:solidFill>
              </a:rPr>
              <a:t>Normal davranıştan sapma: kişi, tedarikçi, birim veya dönem bazında</a:t>
            </a:r>
            <a:endParaRPr lang="en-US" sz="1350" dirty="0"/>
          </a:p>
        </p:txBody>
      </p:sp>
      <p:sp>
        <p:nvSpPr>
          <p:cNvPr id="26" name="Shape 24"/>
          <p:cNvSpPr/>
          <p:nvPr/>
        </p:nvSpPr>
        <p:spPr>
          <a:xfrm>
            <a:off x="6565392" y="3831336"/>
            <a:ext cx="411480" cy="0"/>
          </a:xfrm>
          <a:prstGeom prst="line">
            <a:avLst/>
          </a:prstGeom>
          <a:noFill/>
          <a:ln w="25400">
            <a:solidFill>
              <a:srgbClr val="079EA4"/>
            </a:solidFill>
            <a:prstDash val="solid"/>
          </a:ln>
        </p:spPr>
      </p:sp>
      <p:sp>
        <p:nvSpPr>
          <p:cNvPr id="27" name="Text 25"/>
          <p:cNvSpPr/>
          <p:nvPr/>
        </p:nvSpPr>
        <p:spPr>
          <a:xfrm>
            <a:off x="7132320" y="3712464"/>
            <a:ext cx="3566160" cy="310896"/>
          </a:xfrm>
          <a:prstGeom prst="rect">
            <a:avLst/>
          </a:prstGeom>
          <a:noFill/>
          <a:ln/>
        </p:spPr>
        <p:txBody>
          <a:bodyPr wrap="square" lIns="0" tIns="0" rIns="0" bIns="0" rtlCol="0" anchor="ctr">
            <a:normAutofit/>
          </a:bodyPr>
          <a:lstStyle/>
          <a:p>
            <a:pPr indent="0" marL="0">
              <a:buNone/>
            </a:pPr>
            <a:r>
              <a:rPr lang="en-US" sz="1350" dirty="0">
                <a:solidFill>
                  <a:srgbClr val="334155"/>
                </a:solidFill>
              </a:rPr>
              <a:t>Tek başına kanıt değil; sahaya ve belge incelemesine yön verir</a:t>
            </a:r>
            <a:endParaRPr lang="en-US" sz="1350" dirty="0"/>
          </a:p>
        </p:txBody>
      </p:sp>
      <p:sp>
        <p:nvSpPr>
          <p:cNvPr id="28" name="Text 26"/>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Benford Yasası: ilk rakamlar bazen konuşur</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Doğal oluşan bazı sayısal veri setlerinde 1 rakamı 9’dan çok daha sık başta görülür.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822960" y="2287715"/>
            <a:ext cx="502920" cy="2924366"/>
          </a:xfrm>
          <a:prstGeom prst="rect">
            <a:avLst/>
          </a:prstGeom>
          <a:solidFill>
            <a:srgbClr val="D9294F"/>
          </a:solidFill>
          <a:ln w="12700">
            <a:solidFill>
              <a:srgbClr val="D9294F"/>
            </a:solidFill>
            <a:prstDash val="solid"/>
          </a:ln>
        </p:spPr>
      </p:sp>
      <p:sp>
        <p:nvSpPr>
          <p:cNvPr id="6" name="Text 4"/>
          <p:cNvSpPr/>
          <p:nvPr/>
        </p:nvSpPr>
        <p:spPr>
          <a:xfrm>
            <a:off x="822960"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1</a:t>
            </a:r>
            <a:endParaRPr lang="en-US" sz="850" dirty="0"/>
          </a:p>
        </p:txBody>
      </p:sp>
      <p:sp>
        <p:nvSpPr>
          <p:cNvPr id="7" name="Text 5"/>
          <p:cNvSpPr/>
          <p:nvPr/>
        </p:nvSpPr>
        <p:spPr>
          <a:xfrm>
            <a:off x="795528" y="2059115"/>
            <a:ext cx="557784" cy="109728"/>
          </a:xfrm>
          <a:prstGeom prst="rect">
            <a:avLst/>
          </a:prstGeom>
          <a:noFill/>
          <a:ln/>
        </p:spPr>
        <p:txBody>
          <a:bodyPr wrap="square" lIns="0" tIns="0" rIns="0" bIns="0" rtlCol="0" anchor="ctr"/>
          <a:lstStyle/>
          <a:p>
            <a:pPr algn="ctr" indent="0" marL="0">
              <a:buNone/>
            </a:pPr>
            <a:r>
              <a:rPr lang="en-US" sz="720" dirty="0">
                <a:solidFill>
                  <a:srgbClr val="64748B"/>
                </a:solidFill>
              </a:rPr>
              <a:t>30.1%</a:t>
            </a:r>
            <a:endParaRPr lang="en-US" sz="720" dirty="0"/>
          </a:p>
        </p:txBody>
      </p:sp>
      <p:sp>
        <p:nvSpPr>
          <p:cNvPr id="8" name="Shape 6"/>
          <p:cNvSpPr/>
          <p:nvPr/>
        </p:nvSpPr>
        <p:spPr>
          <a:xfrm>
            <a:off x="1499616" y="3502152"/>
            <a:ext cx="502920" cy="1709928"/>
          </a:xfrm>
          <a:prstGeom prst="rect">
            <a:avLst/>
          </a:prstGeom>
          <a:solidFill>
            <a:srgbClr val="079EA4"/>
          </a:solidFill>
          <a:ln w="12700">
            <a:solidFill>
              <a:srgbClr val="079EA4"/>
            </a:solidFill>
            <a:prstDash val="solid"/>
          </a:ln>
        </p:spPr>
      </p:sp>
      <p:sp>
        <p:nvSpPr>
          <p:cNvPr id="9" name="Text 7"/>
          <p:cNvSpPr/>
          <p:nvPr/>
        </p:nvSpPr>
        <p:spPr>
          <a:xfrm>
            <a:off x="1499616"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2</a:t>
            </a:r>
            <a:endParaRPr lang="en-US" sz="850" dirty="0"/>
          </a:p>
        </p:txBody>
      </p:sp>
      <p:sp>
        <p:nvSpPr>
          <p:cNvPr id="10" name="Text 8"/>
          <p:cNvSpPr/>
          <p:nvPr/>
        </p:nvSpPr>
        <p:spPr>
          <a:xfrm>
            <a:off x="1472184" y="3273552"/>
            <a:ext cx="557784" cy="109728"/>
          </a:xfrm>
          <a:prstGeom prst="rect">
            <a:avLst/>
          </a:prstGeom>
          <a:noFill/>
          <a:ln/>
        </p:spPr>
        <p:txBody>
          <a:bodyPr wrap="square" lIns="0" tIns="0" rIns="0" bIns="0" rtlCol="0" anchor="ctr"/>
          <a:lstStyle/>
          <a:p>
            <a:pPr algn="ctr" indent="0" marL="0">
              <a:buNone/>
            </a:pPr>
            <a:r>
              <a:rPr lang="en-US" sz="720" dirty="0">
                <a:solidFill>
                  <a:srgbClr val="64748B"/>
                </a:solidFill>
              </a:rPr>
              <a:t>17.6%</a:t>
            </a:r>
            <a:endParaRPr lang="en-US" sz="720" dirty="0"/>
          </a:p>
        </p:txBody>
      </p:sp>
      <p:sp>
        <p:nvSpPr>
          <p:cNvPr id="11" name="Shape 9"/>
          <p:cNvSpPr/>
          <p:nvPr/>
        </p:nvSpPr>
        <p:spPr>
          <a:xfrm>
            <a:off x="2176272" y="3997643"/>
            <a:ext cx="502920" cy="1214438"/>
          </a:xfrm>
          <a:prstGeom prst="rect">
            <a:avLst/>
          </a:prstGeom>
          <a:solidFill>
            <a:srgbClr val="079EA4"/>
          </a:solidFill>
          <a:ln w="12700">
            <a:solidFill>
              <a:srgbClr val="079EA4"/>
            </a:solidFill>
            <a:prstDash val="solid"/>
          </a:ln>
        </p:spPr>
      </p:sp>
      <p:sp>
        <p:nvSpPr>
          <p:cNvPr id="12" name="Text 10"/>
          <p:cNvSpPr/>
          <p:nvPr/>
        </p:nvSpPr>
        <p:spPr>
          <a:xfrm>
            <a:off x="2176272"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3</a:t>
            </a:r>
            <a:endParaRPr lang="en-US" sz="850" dirty="0"/>
          </a:p>
        </p:txBody>
      </p:sp>
      <p:sp>
        <p:nvSpPr>
          <p:cNvPr id="13" name="Text 11"/>
          <p:cNvSpPr/>
          <p:nvPr/>
        </p:nvSpPr>
        <p:spPr>
          <a:xfrm>
            <a:off x="2148840" y="3769043"/>
            <a:ext cx="557784" cy="109728"/>
          </a:xfrm>
          <a:prstGeom prst="rect">
            <a:avLst/>
          </a:prstGeom>
          <a:noFill/>
          <a:ln/>
        </p:spPr>
        <p:txBody>
          <a:bodyPr wrap="square" lIns="0" tIns="0" rIns="0" bIns="0" rtlCol="0" anchor="ctr"/>
          <a:lstStyle/>
          <a:p>
            <a:pPr algn="ctr" indent="0" marL="0">
              <a:buNone/>
            </a:pPr>
            <a:r>
              <a:rPr lang="en-US" sz="720" dirty="0">
                <a:solidFill>
                  <a:srgbClr val="64748B"/>
                </a:solidFill>
              </a:rPr>
              <a:t>12.5%</a:t>
            </a:r>
            <a:endParaRPr lang="en-US" sz="720" dirty="0"/>
          </a:p>
        </p:txBody>
      </p:sp>
      <p:sp>
        <p:nvSpPr>
          <p:cNvPr id="14" name="Shape 12"/>
          <p:cNvSpPr/>
          <p:nvPr/>
        </p:nvSpPr>
        <p:spPr>
          <a:xfrm>
            <a:off x="2852928" y="4269677"/>
            <a:ext cx="502920" cy="942403"/>
          </a:xfrm>
          <a:prstGeom prst="rect">
            <a:avLst/>
          </a:prstGeom>
          <a:solidFill>
            <a:srgbClr val="079EA4"/>
          </a:solidFill>
          <a:ln w="12700">
            <a:solidFill>
              <a:srgbClr val="079EA4"/>
            </a:solidFill>
            <a:prstDash val="solid"/>
          </a:ln>
        </p:spPr>
      </p:sp>
      <p:sp>
        <p:nvSpPr>
          <p:cNvPr id="15" name="Text 13"/>
          <p:cNvSpPr/>
          <p:nvPr/>
        </p:nvSpPr>
        <p:spPr>
          <a:xfrm>
            <a:off x="2852928"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4</a:t>
            </a:r>
            <a:endParaRPr lang="en-US" sz="850" dirty="0"/>
          </a:p>
        </p:txBody>
      </p:sp>
      <p:sp>
        <p:nvSpPr>
          <p:cNvPr id="16" name="Shape 14"/>
          <p:cNvSpPr/>
          <p:nvPr/>
        </p:nvSpPr>
        <p:spPr>
          <a:xfrm>
            <a:off x="3529584" y="4444556"/>
            <a:ext cx="502920" cy="767525"/>
          </a:xfrm>
          <a:prstGeom prst="rect">
            <a:avLst/>
          </a:prstGeom>
          <a:solidFill>
            <a:srgbClr val="079EA4"/>
          </a:solidFill>
          <a:ln w="12700">
            <a:solidFill>
              <a:srgbClr val="079EA4"/>
            </a:solidFill>
            <a:prstDash val="solid"/>
          </a:ln>
        </p:spPr>
      </p:sp>
      <p:sp>
        <p:nvSpPr>
          <p:cNvPr id="17" name="Text 15"/>
          <p:cNvSpPr/>
          <p:nvPr/>
        </p:nvSpPr>
        <p:spPr>
          <a:xfrm>
            <a:off x="3529584"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5</a:t>
            </a:r>
            <a:endParaRPr lang="en-US" sz="850" dirty="0"/>
          </a:p>
        </p:txBody>
      </p:sp>
      <p:sp>
        <p:nvSpPr>
          <p:cNvPr id="18" name="Shape 16"/>
          <p:cNvSpPr/>
          <p:nvPr/>
        </p:nvSpPr>
        <p:spPr>
          <a:xfrm>
            <a:off x="4206240" y="4561142"/>
            <a:ext cx="502920" cy="650939"/>
          </a:xfrm>
          <a:prstGeom prst="rect">
            <a:avLst/>
          </a:prstGeom>
          <a:solidFill>
            <a:srgbClr val="079EA4"/>
          </a:solidFill>
          <a:ln w="12700">
            <a:solidFill>
              <a:srgbClr val="079EA4"/>
            </a:solidFill>
            <a:prstDash val="solid"/>
          </a:ln>
        </p:spPr>
      </p:sp>
      <p:sp>
        <p:nvSpPr>
          <p:cNvPr id="19" name="Text 17"/>
          <p:cNvSpPr/>
          <p:nvPr/>
        </p:nvSpPr>
        <p:spPr>
          <a:xfrm>
            <a:off x="4206240"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6</a:t>
            </a:r>
            <a:endParaRPr lang="en-US" sz="850" dirty="0"/>
          </a:p>
        </p:txBody>
      </p:sp>
      <p:sp>
        <p:nvSpPr>
          <p:cNvPr id="20" name="Shape 18"/>
          <p:cNvSpPr/>
          <p:nvPr/>
        </p:nvSpPr>
        <p:spPr>
          <a:xfrm>
            <a:off x="4882896" y="4648581"/>
            <a:ext cx="502920" cy="563499"/>
          </a:xfrm>
          <a:prstGeom prst="rect">
            <a:avLst/>
          </a:prstGeom>
          <a:solidFill>
            <a:srgbClr val="079EA4"/>
          </a:solidFill>
          <a:ln w="12700">
            <a:solidFill>
              <a:srgbClr val="079EA4"/>
            </a:solidFill>
            <a:prstDash val="solid"/>
          </a:ln>
        </p:spPr>
      </p:sp>
      <p:sp>
        <p:nvSpPr>
          <p:cNvPr id="21" name="Text 19"/>
          <p:cNvSpPr/>
          <p:nvPr/>
        </p:nvSpPr>
        <p:spPr>
          <a:xfrm>
            <a:off x="4882896"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7</a:t>
            </a:r>
            <a:endParaRPr lang="en-US" sz="850" dirty="0"/>
          </a:p>
        </p:txBody>
      </p:sp>
      <p:sp>
        <p:nvSpPr>
          <p:cNvPr id="22" name="Shape 20"/>
          <p:cNvSpPr/>
          <p:nvPr/>
        </p:nvSpPr>
        <p:spPr>
          <a:xfrm>
            <a:off x="5559552" y="4716590"/>
            <a:ext cx="502920" cy="495491"/>
          </a:xfrm>
          <a:prstGeom prst="rect">
            <a:avLst/>
          </a:prstGeom>
          <a:solidFill>
            <a:srgbClr val="079EA4"/>
          </a:solidFill>
          <a:ln w="12700">
            <a:solidFill>
              <a:srgbClr val="079EA4"/>
            </a:solidFill>
            <a:prstDash val="solid"/>
          </a:ln>
        </p:spPr>
      </p:sp>
      <p:sp>
        <p:nvSpPr>
          <p:cNvPr id="23" name="Text 21"/>
          <p:cNvSpPr/>
          <p:nvPr/>
        </p:nvSpPr>
        <p:spPr>
          <a:xfrm>
            <a:off x="5559552"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8</a:t>
            </a:r>
            <a:endParaRPr lang="en-US" sz="850" dirty="0"/>
          </a:p>
        </p:txBody>
      </p:sp>
      <p:sp>
        <p:nvSpPr>
          <p:cNvPr id="24" name="Shape 22"/>
          <p:cNvSpPr/>
          <p:nvPr/>
        </p:nvSpPr>
        <p:spPr>
          <a:xfrm>
            <a:off x="6236208" y="4765167"/>
            <a:ext cx="502920" cy="446913"/>
          </a:xfrm>
          <a:prstGeom prst="rect">
            <a:avLst/>
          </a:prstGeom>
          <a:solidFill>
            <a:srgbClr val="079EA4"/>
          </a:solidFill>
          <a:ln w="12700">
            <a:solidFill>
              <a:srgbClr val="079EA4"/>
            </a:solidFill>
            <a:prstDash val="solid"/>
          </a:ln>
        </p:spPr>
      </p:sp>
      <p:sp>
        <p:nvSpPr>
          <p:cNvPr id="25" name="Text 23"/>
          <p:cNvSpPr/>
          <p:nvPr/>
        </p:nvSpPr>
        <p:spPr>
          <a:xfrm>
            <a:off x="6236208" y="5367528"/>
            <a:ext cx="502920" cy="109728"/>
          </a:xfrm>
          <a:prstGeom prst="rect">
            <a:avLst/>
          </a:prstGeom>
          <a:noFill/>
          <a:ln/>
        </p:spPr>
        <p:txBody>
          <a:bodyPr wrap="square" lIns="0" tIns="0" rIns="0" bIns="0" rtlCol="0" anchor="ctr"/>
          <a:lstStyle/>
          <a:p>
            <a:pPr algn="ctr" indent="0" marL="0">
              <a:buNone/>
            </a:pPr>
            <a:r>
              <a:rPr lang="en-US" sz="850" b="1" dirty="0">
                <a:solidFill>
                  <a:srgbClr val="15202B"/>
                </a:solidFill>
              </a:rPr>
              <a:t>9</a:t>
            </a:r>
            <a:endParaRPr lang="en-US" sz="850" dirty="0"/>
          </a:p>
        </p:txBody>
      </p:sp>
      <p:sp>
        <p:nvSpPr>
          <p:cNvPr id="26" name="Text 24"/>
          <p:cNvSpPr/>
          <p:nvPr/>
        </p:nvSpPr>
        <p:spPr>
          <a:xfrm>
            <a:off x="960120" y="1691640"/>
            <a:ext cx="3291840" cy="320040"/>
          </a:xfrm>
          <a:prstGeom prst="rect">
            <a:avLst/>
          </a:prstGeom>
          <a:noFill/>
          <a:ln/>
        </p:spPr>
        <p:txBody>
          <a:bodyPr wrap="square" lIns="0" tIns="0" rIns="0" bIns="0" rtlCol="0" anchor="ctr"/>
          <a:lstStyle/>
          <a:p>
            <a:pPr indent="0" marL="0">
              <a:buNone/>
            </a:pPr>
            <a:r>
              <a:rPr lang="en-US" sz="2400" b="1" dirty="0">
                <a:solidFill>
                  <a:srgbClr val="15202B"/>
                </a:solidFill>
              </a:rPr>
              <a:t>P(d) = log₁₀(1 + 1/d)</a:t>
            </a:r>
            <a:endParaRPr lang="en-US" sz="2400" dirty="0"/>
          </a:p>
        </p:txBody>
      </p:sp>
      <p:sp>
        <p:nvSpPr>
          <p:cNvPr id="27" name="Text 25"/>
          <p:cNvSpPr/>
          <p:nvPr/>
        </p:nvSpPr>
        <p:spPr>
          <a:xfrm>
            <a:off x="6446520" y="1508760"/>
            <a:ext cx="2743200" cy="237744"/>
          </a:xfrm>
          <a:prstGeom prst="rect">
            <a:avLst/>
          </a:prstGeom>
          <a:noFill/>
          <a:ln/>
        </p:spPr>
        <p:txBody>
          <a:bodyPr wrap="square" lIns="0" tIns="0" rIns="0" bIns="0" rtlCol="0" anchor="ctr"/>
          <a:lstStyle/>
          <a:p>
            <a:pPr indent="0" marL="0">
              <a:buNone/>
            </a:pPr>
            <a:r>
              <a:rPr lang="en-US" sz="2000" b="1" dirty="0">
                <a:solidFill>
                  <a:srgbClr val="08747A"/>
                </a:solidFill>
              </a:rPr>
              <a:t>Ne zaman işe yarar?</a:t>
            </a:r>
            <a:endParaRPr lang="en-US" sz="2000" dirty="0"/>
          </a:p>
        </p:txBody>
      </p:sp>
      <p:sp>
        <p:nvSpPr>
          <p:cNvPr id="28" name="Text 26"/>
          <p:cNvSpPr/>
          <p:nvPr/>
        </p:nvSpPr>
        <p:spPr>
          <a:xfrm>
            <a:off x="6473952" y="1947672"/>
            <a:ext cx="3840480" cy="566928"/>
          </a:xfrm>
          <a:prstGeom prst="rect">
            <a:avLst/>
          </a:prstGeom>
          <a:noFill/>
          <a:ln/>
        </p:spPr>
        <p:txBody>
          <a:bodyPr wrap="square" lIns="0" tIns="0" rIns="0" bIns="0" rtlCol="0" anchor="ctr">
            <a:normAutofit/>
          </a:bodyPr>
          <a:lstStyle/>
          <a:p>
            <a:pPr indent="0" marL="0">
              <a:buNone/>
            </a:pPr>
            <a:r>
              <a:rPr lang="en-US" sz="1450" dirty="0">
                <a:solidFill>
                  <a:srgbClr val="334155"/>
                </a:solidFill>
              </a:rPr>
              <a:t>Satış, ödeme, fatura tutarı gibi geniş aralıklı ve doğal oluşan veri setlerinde bir tarama testi olarak kullanılabilir.</a:t>
            </a:r>
            <a:endParaRPr lang="en-US" sz="1450" dirty="0"/>
          </a:p>
        </p:txBody>
      </p:sp>
      <p:sp>
        <p:nvSpPr>
          <p:cNvPr id="29" name="Text 27"/>
          <p:cNvSpPr/>
          <p:nvPr/>
        </p:nvSpPr>
        <p:spPr>
          <a:xfrm>
            <a:off x="6446520" y="3017520"/>
            <a:ext cx="2743200" cy="237744"/>
          </a:xfrm>
          <a:prstGeom prst="rect">
            <a:avLst/>
          </a:prstGeom>
          <a:noFill/>
          <a:ln/>
        </p:spPr>
        <p:txBody>
          <a:bodyPr wrap="square" lIns="0" tIns="0" rIns="0" bIns="0" rtlCol="0" anchor="ctr"/>
          <a:lstStyle/>
          <a:p>
            <a:pPr indent="0" marL="0">
              <a:buNone/>
            </a:pPr>
            <a:r>
              <a:rPr lang="en-US" sz="2000" b="1" dirty="0">
                <a:solidFill>
                  <a:srgbClr val="D9294F"/>
                </a:solidFill>
              </a:rPr>
              <a:t>Ne zaman yanıltır?</a:t>
            </a:r>
            <a:endParaRPr lang="en-US" sz="2000" dirty="0"/>
          </a:p>
        </p:txBody>
      </p:sp>
      <p:sp>
        <p:nvSpPr>
          <p:cNvPr id="30" name="Text 28"/>
          <p:cNvSpPr/>
          <p:nvPr/>
        </p:nvSpPr>
        <p:spPr>
          <a:xfrm>
            <a:off x="6473952" y="3456432"/>
            <a:ext cx="3840480" cy="566928"/>
          </a:xfrm>
          <a:prstGeom prst="rect">
            <a:avLst/>
          </a:prstGeom>
          <a:noFill/>
          <a:ln/>
        </p:spPr>
        <p:txBody>
          <a:bodyPr wrap="square" lIns="0" tIns="0" rIns="0" bIns="0" rtlCol="0" anchor="ctr">
            <a:normAutofit/>
          </a:bodyPr>
          <a:lstStyle/>
          <a:p>
            <a:pPr indent="0" marL="0">
              <a:buNone/>
            </a:pPr>
            <a:r>
              <a:rPr lang="en-US" sz="1450" dirty="0">
                <a:solidFill>
                  <a:srgbClr val="334155"/>
                </a:solidFill>
              </a:rPr>
              <a:t>Sabit fiyat listeleri, kodlar, limitlenmiş tutarlar, küçük örneklem veya insan eliyle belirlenmiş eşiklerde dikkat gerekir.</a:t>
            </a:r>
            <a:endParaRPr lang="en-US" sz="1450" dirty="0"/>
          </a:p>
        </p:txBody>
      </p:sp>
      <p:sp>
        <p:nvSpPr>
          <p:cNvPr id="31" name="Text 29"/>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14</a:t>
            </a:r>
            <a:endParaRPr lang="en-US" sz="800" dirty="0"/>
          </a:p>
        </p:txBody>
      </p:sp>
      <p:sp>
        <p:nvSpPr>
          <p:cNvPr id="32" name="Text 30"/>
          <p:cNvSpPr/>
          <p:nvPr/>
        </p:nvSpPr>
        <p:spPr>
          <a:xfrm>
            <a:off x="502920" y="6419088"/>
            <a:ext cx="9875520" cy="228600"/>
          </a:xfrm>
          <a:prstGeom prst="rect">
            <a:avLst/>
          </a:prstGeom>
          <a:noFill/>
          <a:ln/>
        </p:spPr>
        <p:txBody>
          <a:bodyPr wrap="square" lIns="0" tIns="0" rIns="0" bIns="0" rtlCol="0" anchor="ctr"/>
          <a:lstStyle/>
          <a:p>
            <a:pPr indent="0" marL="0">
              <a:buNone/>
            </a:pPr>
            <a:r>
              <a:rPr lang="en-US" sz="720" dirty="0">
                <a:solidFill>
                  <a:srgbClr val="64748B"/>
                </a:solidFill>
              </a:rPr>
              <a:t>Kaynak: Benford/Nigrini literatürü; Sayıştay denetim yayınları Benford’un hile riski taramalarında kullanımını tartışır.</a:t>
            </a:r>
            <a:endParaRPr lang="en-US" sz="7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Metinlerde arama: birebir eşleşme yetmez</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Denetim verisi çoğu zaman “kirli metin” olarak gelir.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Text 3"/>
          <p:cNvSpPr/>
          <p:nvPr/>
        </p:nvSpPr>
        <p:spPr>
          <a:xfrm>
            <a:off x="804672" y="1444752"/>
            <a:ext cx="4297680" cy="237744"/>
          </a:xfrm>
          <a:prstGeom prst="rect">
            <a:avLst/>
          </a:prstGeom>
          <a:noFill/>
          <a:ln/>
        </p:spPr>
        <p:txBody>
          <a:bodyPr wrap="square" lIns="0" tIns="0" rIns="0" bIns="0" rtlCol="0" anchor="ctr"/>
          <a:lstStyle/>
          <a:p>
            <a:pPr indent="0" marL="0">
              <a:buNone/>
            </a:pPr>
            <a:r>
              <a:rPr lang="en-US" sz="2100" b="1" dirty="0">
                <a:solidFill>
                  <a:srgbClr val="15202B"/>
                </a:solidFill>
              </a:rPr>
              <a:t>Aynı tedarikçi, üç farklı yazım:</a:t>
            </a:r>
            <a:endParaRPr lang="en-US" sz="2100" dirty="0"/>
          </a:p>
        </p:txBody>
      </p:sp>
      <p:sp>
        <p:nvSpPr>
          <p:cNvPr id="6" name="Shape 4"/>
          <p:cNvSpPr/>
          <p:nvPr/>
        </p:nvSpPr>
        <p:spPr>
          <a:xfrm>
            <a:off x="960120" y="1975104"/>
            <a:ext cx="3566160" cy="393192"/>
          </a:xfrm>
          <a:prstGeom prst="roundRect">
            <a:avLst>
              <a:gd name="adj" fmla="val 23256"/>
            </a:avLst>
          </a:prstGeom>
          <a:solidFill>
            <a:srgbClr val="FFFFFF"/>
          </a:solidFill>
          <a:ln w="12700">
            <a:solidFill>
              <a:srgbClr val="EFEAE0"/>
            </a:solidFill>
            <a:prstDash val="solid"/>
          </a:ln>
        </p:spPr>
      </p:sp>
      <p:sp>
        <p:nvSpPr>
          <p:cNvPr id="7" name="Text 5"/>
          <p:cNvSpPr/>
          <p:nvPr/>
        </p:nvSpPr>
        <p:spPr>
          <a:xfrm>
            <a:off x="1143000" y="2093976"/>
            <a:ext cx="3200400" cy="128016"/>
          </a:xfrm>
          <a:prstGeom prst="rect">
            <a:avLst/>
          </a:prstGeom>
          <a:noFill/>
          <a:ln/>
        </p:spPr>
        <p:txBody>
          <a:bodyPr wrap="square" lIns="0" tIns="0" rIns="0" bIns="0" rtlCol="0" anchor="ctr">
            <a:normAutofit/>
          </a:bodyPr>
          <a:lstStyle/>
          <a:p>
            <a:pPr algn="ctr" indent="0" marL="0">
              <a:buNone/>
            </a:pPr>
            <a:r>
              <a:rPr lang="en-US" sz="1180" dirty="0">
                <a:solidFill>
                  <a:srgbClr val="334155"/>
                </a:solidFill>
              </a:rPr>
              <a:t>ABC İnşaat Ltd. Şti.</a:t>
            </a:r>
            <a:endParaRPr lang="en-US" sz="1180" dirty="0"/>
          </a:p>
        </p:txBody>
      </p:sp>
      <p:sp>
        <p:nvSpPr>
          <p:cNvPr id="8" name="Shape 6"/>
          <p:cNvSpPr/>
          <p:nvPr/>
        </p:nvSpPr>
        <p:spPr>
          <a:xfrm>
            <a:off x="960120" y="2569464"/>
            <a:ext cx="3566160" cy="393192"/>
          </a:xfrm>
          <a:prstGeom prst="roundRect">
            <a:avLst>
              <a:gd name="adj" fmla="val 23256"/>
            </a:avLst>
          </a:prstGeom>
          <a:solidFill>
            <a:srgbClr val="FFFFFF"/>
          </a:solidFill>
          <a:ln w="12700">
            <a:solidFill>
              <a:srgbClr val="EFEAE0"/>
            </a:solidFill>
            <a:prstDash val="solid"/>
          </a:ln>
        </p:spPr>
      </p:sp>
      <p:sp>
        <p:nvSpPr>
          <p:cNvPr id="9" name="Text 7"/>
          <p:cNvSpPr/>
          <p:nvPr/>
        </p:nvSpPr>
        <p:spPr>
          <a:xfrm>
            <a:off x="1143000" y="2688336"/>
            <a:ext cx="3200400" cy="128016"/>
          </a:xfrm>
          <a:prstGeom prst="rect">
            <a:avLst/>
          </a:prstGeom>
          <a:noFill/>
          <a:ln/>
        </p:spPr>
        <p:txBody>
          <a:bodyPr wrap="square" lIns="0" tIns="0" rIns="0" bIns="0" rtlCol="0" anchor="ctr">
            <a:normAutofit/>
          </a:bodyPr>
          <a:lstStyle/>
          <a:p>
            <a:pPr algn="ctr" indent="0" marL="0">
              <a:buNone/>
            </a:pPr>
            <a:r>
              <a:rPr lang="en-US" sz="1180" dirty="0">
                <a:solidFill>
                  <a:srgbClr val="334155"/>
                </a:solidFill>
              </a:rPr>
              <a:t>A.B.C. Insaat Limited</a:t>
            </a:r>
            <a:endParaRPr lang="en-US" sz="1180" dirty="0"/>
          </a:p>
        </p:txBody>
      </p:sp>
      <p:sp>
        <p:nvSpPr>
          <p:cNvPr id="10" name="Shape 8"/>
          <p:cNvSpPr/>
          <p:nvPr/>
        </p:nvSpPr>
        <p:spPr>
          <a:xfrm>
            <a:off x="960120" y="3163824"/>
            <a:ext cx="3566160" cy="393192"/>
          </a:xfrm>
          <a:prstGeom prst="roundRect">
            <a:avLst>
              <a:gd name="adj" fmla="val 23256"/>
            </a:avLst>
          </a:prstGeom>
          <a:solidFill>
            <a:srgbClr val="FFFFFF"/>
          </a:solidFill>
          <a:ln w="12700">
            <a:solidFill>
              <a:srgbClr val="EFEAE0"/>
            </a:solidFill>
            <a:prstDash val="solid"/>
          </a:ln>
        </p:spPr>
      </p:sp>
      <p:sp>
        <p:nvSpPr>
          <p:cNvPr id="11" name="Text 9"/>
          <p:cNvSpPr/>
          <p:nvPr/>
        </p:nvSpPr>
        <p:spPr>
          <a:xfrm>
            <a:off x="1143000" y="3282696"/>
            <a:ext cx="3200400" cy="128016"/>
          </a:xfrm>
          <a:prstGeom prst="rect">
            <a:avLst/>
          </a:prstGeom>
          <a:noFill/>
          <a:ln/>
        </p:spPr>
        <p:txBody>
          <a:bodyPr wrap="square" lIns="0" tIns="0" rIns="0" bIns="0" rtlCol="0" anchor="ctr">
            <a:normAutofit/>
          </a:bodyPr>
          <a:lstStyle/>
          <a:p>
            <a:pPr algn="ctr" indent="0" marL="0">
              <a:buNone/>
            </a:pPr>
            <a:r>
              <a:rPr lang="en-US" sz="1180" dirty="0">
                <a:solidFill>
                  <a:srgbClr val="334155"/>
                </a:solidFill>
              </a:rPr>
              <a:t>ABC İNŞ. LTD</a:t>
            </a:r>
            <a:endParaRPr lang="en-US" sz="1180" dirty="0"/>
          </a:p>
        </p:txBody>
      </p:sp>
      <p:sp>
        <p:nvSpPr>
          <p:cNvPr id="12" name="Shape 10"/>
          <p:cNvSpPr/>
          <p:nvPr/>
        </p:nvSpPr>
        <p:spPr>
          <a:xfrm>
            <a:off x="4846320" y="2697480"/>
            <a:ext cx="914400" cy="0"/>
          </a:xfrm>
          <a:prstGeom prst="line">
            <a:avLst/>
          </a:prstGeom>
          <a:noFill/>
          <a:ln w="25400">
            <a:solidFill>
              <a:srgbClr val="079EA4"/>
            </a:solidFill>
            <a:prstDash val="solid"/>
            <a:tailEnd type="triangle"/>
          </a:ln>
        </p:spPr>
      </p:sp>
      <p:sp>
        <p:nvSpPr>
          <p:cNvPr id="13" name="Shape 11"/>
          <p:cNvSpPr/>
          <p:nvPr/>
        </p:nvSpPr>
        <p:spPr>
          <a:xfrm>
            <a:off x="5989320" y="2240280"/>
            <a:ext cx="1874520" cy="822960"/>
          </a:xfrm>
          <a:prstGeom prst="roundRect">
            <a:avLst>
              <a:gd name="adj" fmla="val 13333"/>
            </a:avLst>
          </a:prstGeom>
          <a:solidFill>
            <a:srgbClr val="DBF2EF"/>
          </a:solidFill>
          <a:ln w="12700">
            <a:solidFill>
              <a:srgbClr val="DBF2EF"/>
            </a:solidFill>
            <a:prstDash val="solid"/>
          </a:ln>
        </p:spPr>
      </p:sp>
      <p:sp>
        <p:nvSpPr>
          <p:cNvPr id="14" name="Text 12"/>
          <p:cNvSpPr/>
          <p:nvPr/>
        </p:nvSpPr>
        <p:spPr>
          <a:xfrm>
            <a:off x="6327648" y="2441448"/>
            <a:ext cx="1188720" cy="274320"/>
          </a:xfrm>
          <a:prstGeom prst="rect">
            <a:avLst/>
          </a:prstGeom>
          <a:noFill/>
          <a:ln/>
        </p:spPr>
        <p:txBody>
          <a:bodyPr wrap="square" lIns="0" tIns="0" rIns="0" bIns="0" rtlCol="0" anchor="ctr">
            <a:normAutofit/>
          </a:bodyPr>
          <a:lstStyle/>
          <a:p>
            <a:pPr algn="ctr" indent="0" marL="0">
              <a:buNone/>
            </a:pPr>
            <a:r>
              <a:rPr lang="en-US" sz="1700" b="1" dirty="0">
                <a:solidFill>
                  <a:srgbClr val="08747A"/>
                </a:solidFill>
              </a:rPr>
              <a:t>Fuzzy</a:t>
            </a:r>
            <a:endParaRPr lang="en-US" sz="1700" dirty="0"/>
          </a:p>
          <a:p>
            <a:pPr algn="ctr" indent="0" marL="0">
              <a:buNone/>
            </a:pPr>
            <a:r>
              <a:rPr lang="en-US" sz="1700" b="1" dirty="0">
                <a:solidFill>
                  <a:srgbClr val="08747A"/>
                </a:solidFill>
              </a:rPr>
              <a:t>match</a:t>
            </a:r>
            <a:endParaRPr lang="en-US" sz="1700" dirty="0"/>
          </a:p>
        </p:txBody>
      </p:sp>
      <p:sp>
        <p:nvSpPr>
          <p:cNvPr id="15" name="Shape 13"/>
          <p:cNvSpPr/>
          <p:nvPr/>
        </p:nvSpPr>
        <p:spPr>
          <a:xfrm>
            <a:off x="8092440" y="2697480"/>
            <a:ext cx="914400" cy="0"/>
          </a:xfrm>
          <a:prstGeom prst="line">
            <a:avLst/>
          </a:prstGeom>
          <a:noFill/>
          <a:ln w="25400">
            <a:solidFill>
              <a:srgbClr val="079EA4"/>
            </a:solidFill>
            <a:prstDash val="solid"/>
            <a:tailEnd type="triangle"/>
          </a:ln>
        </p:spPr>
      </p:sp>
      <p:sp>
        <p:nvSpPr>
          <p:cNvPr id="16" name="Shape 14"/>
          <p:cNvSpPr/>
          <p:nvPr/>
        </p:nvSpPr>
        <p:spPr>
          <a:xfrm>
            <a:off x="9235440" y="2240280"/>
            <a:ext cx="1828800" cy="822960"/>
          </a:xfrm>
          <a:prstGeom prst="roundRect">
            <a:avLst>
              <a:gd name="adj" fmla="val 13333"/>
            </a:avLst>
          </a:prstGeom>
          <a:solidFill>
            <a:srgbClr val="D9294F"/>
          </a:solidFill>
          <a:ln w="12700">
            <a:solidFill>
              <a:srgbClr val="D9294F"/>
            </a:solidFill>
            <a:prstDash val="solid"/>
          </a:ln>
        </p:spPr>
      </p:sp>
      <p:sp>
        <p:nvSpPr>
          <p:cNvPr id="17" name="Text 15"/>
          <p:cNvSpPr/>
          <p:nvPr/>
        </p:nvSpPr>
        <p:spPr>
          <a:xfrm>
            <a:off x="9528048" y="2441448"/>
            <a:ext cx="1234440" cy="2743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tekil</a:t>
            </a:r>
            <a:endParaRPr lang="en-US" sz="1700" dirty="0"/>
          </a:p>
          <a:p>
            <a:pPr algn="ctr" indent="0" marL="0">
              <a:buNone/>
            </a:pPr>
            <a:r>
              <a:rPr lang="en-US" sz="1700" b="1" dirty="0">
                <a:solidFill>
                  <a:srgbClr val="FFFFFF"/>
                </a:solidFill>
              </a:rPr>
              <a:t>varlık</a:t>
            </a:r>
            <a:endParaRPr lang="en-US" sz="1700" dirty="0"/>
          </a:p>
        </p:txBody>
      </p:sp>
      <p:sp>
        <p:nvSpPr>
          <p:cNvPr id="18" name="Text 16"/>
          <p:cNvSpPr/>
          <p:nvPr/>
        </p:nvSpPr>
        <p:spPr>
          <a:xfrm>
            <a:off x="960120" y="4754880"/>
            <a:ext cx="5120640" cy="256032"/>
          </a:xfrm>
          <a:prstGeom prst="rect">
            <a:avLst/>
          </a:prstGeom>
          <a:noFill/>
          <a:ln/>
        </p:spPr>
        <p:txBody>
          <a:bodyPr wrap="square" lIns="0" tIns="0" rIns="0" bIns="0" rtlCol="0" anchor="ctr"/>
          <a:lstStyle/>
          <a:p>
            <a:pPr indent="0" marL="0">
              <a:buNone/>
            </a:pPr>
            <a:r>
              <a:rPr lang="en-US" sz="2000" b="1" dirty="0">
                <a:solidFill>
                  <a:srgbClr val="15202B"/>
                </a:solidFill>
              </a:rPr>
              <a:t>Semantic search ise “kelime” değil “anlam” arar.</a:t>
            </a:r>
            <a:endParaRPr lang="en-US" sz="2000" dirty="0"/>
          </a:p>
        </p:txBody>
      </p:sp>
      <p:sp>
        <p:nvSpPr>
          <p:cNvPr id="19" name="Text 17"/>
          <p:cNvSpPr/>
          <p:nvPr/>
        </p:nvSpPr>
        <p:spPr>
          <a:xfrm>
            <a:off x="960120" y="5193792"/>
            <a:ext cx="8915400" cy="320040"/>
          </a:xfrm>
          <a:prstGeom prst="rect">
            <a:avLst/>
          </a:prstGeom>
          <a:noFill/>
          <a:ln/>
        </p:spPr>
        <p:txBody>
          <a:bodyPr wrap="square" lIns="0" tIns="0" rIns="0" bIns="0" rtlCol="0" anchor="ctr">
            <a:normAutofit/>
          </a:bodyPr>
          <a:lstStyle/>
          <a:p>
            <a:pPr indent="0" marL="0">
              <a:buNone/>
            </a:pPr>
            <a:r>
              <a:rPr lang="en-US" sz="1450" dirty="0">
                <a:solidFill>
                  <a:srgbClr val="334155"/>
                </a:solidFill>
              </a:rPr>
              <a:t>Örneğin sözleşmelerde “menfaat çatışması”, “yakın akraba”, “doğrudan temin” gibi ifadeler farklı kelimelerle geçebilir.</a:t>
            </a:r>
            <a:endParaRPr lang="en-US" sz="1450" dirty="0"/>
          </a:p>
        </p:txBody>
      </p:sp>
      <p:sp>
        <p:nvSpPr>
          <p:cNvPr id="20" name="Text 18"/>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Network analizi: “ortağın ortağı” meselesi</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Denetimde ilişki bazen işlem tutarından daha önemlidir.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1554480" y="1819656"/>
            <a:ext cx="2743200" cy="-457200"/>
          </a:xfrm>
          <a:prstGeom prst="line">
            <a:avLst/>
          </a:prstGeom>
          <a:noFill/>
          <a:ln w="15240">
            <a:solidFill>
              <a:srgbClr val="64748B">
                <a:alpha val="78000"/>
              </a:srgbClr>
            </a:solidFill>
            <a:prstDash val="solid"/>
            <a:tailEnd type="triangle"/>
          </a:ln>
        </p:spPr>
      </p:sp>
      <p:sp>
        <p:nvSpPr>
          <p:cNvPr id="6" name="Shape 4"/>
          <p:cNvSpPr/>
          <p:nvPr/>
        </p:nvSpPr>
        <p:spPr>
          <a:xfrm>
            <a:off x="4297680" y="1362456"/>
            <a:ext cx="2834640" cy="502920"/>
          </a:xfrm>
          <a:prstGeom prst="line">
            <a:avLst/>
          </a:prstGeom>
          <a:noFill/>
          <a:ln w="15240">
            <a:solidFill>
              <a:srgbClr val="64748B">
                <a:alpha val="78000"/>
              </a:srgbClr>
            </a:solidFill>
            <a:prstDash val="solid"/>
            <a:tailEnd type="triangle"/>
          </a:ln>
        </p:spPr>
      </p:sp>
      <p:sp>
        <p:nvSpPr>
          <p:cNvPr id="7" name="Shape 5"/>
          <p:cNvSpPr/>
          <p:nvPr/>
        </p:nvSpPr>
        <p:spPr>
          <a:xfrm>
            <a:off x="4297680" y="1362456"/>
            <a:ext cx="45720" cy="3017520"/>
          </a:xfrm>
          <a:prstGeom prst="line">
            <a:avLst/>
          </a:prstGeom>
          <a:noFill/>
          <a:ln w="15240">
            <a:solidFill>
              <a:srgbClr val="64748B">
                <a:alpha val="78000"/>
              </a:srgbClr>
            </a:solidFill>
            <a:prstDash val="solid"/>
            <a:tailEnd type="triangle"/>
          </a:ln>
        </p:spPr>
      </p:sp>
      <p:sp>
        <p:nvSpPr>
          <p:cNvPr id="8" name="Shape 6"/>
          <p:cNvSpPr/>
          <p:nvPr/>
        </p:nvSpPr>
        <p:spPr>
          <a:xfrm>
            <a:off x="7132320" y="1865376"/>
            <a:ext cx="1005840" cy="2240280"/>
          </a:xfrm>
          <a:prstGeom prst="line">
            <a:avLst/>
          </a:prstGeom>
          <a:noFill/>
          <a:ln w="15240">
            <a:solidFill>
              <a:srgbClr val="64748B">
                <a:alpha val="78000"/>
              </a:srgbClr>
            </a:solidFill>
            <a:prstDash val="solid"/>
            <a:tailEnd type="triangle"/>
          </a:ln>
        </p:spPr>
      </p:sp>
      <p:sp>
        <p:nvSpPr>
          <p:cNvPr id="9" name="Shape 7"/>
          <p:cNvSpPr/>
          <p:nvPr/>
        </p:nvSpPr>
        <p:spPr>
          <a:xfrm>
            <a:off x="8138160" y="4105656"/>
            <a:ext cx="2468880" cy="-1554480"/>
          </a:xfrm>
          <a:prstGeom prst="line">
            <a:avLst/>
          </a:prstGeom>
          <a:noFill/>
          <a:ln w="15240">
            <a:solidFill>
              <a:srgbClr val="64748B">
                <a:alpha val="78000"/>
              </a:srgbClr>
            </a:solidFill>
            <a:prstDash val="solid"/>
            <a:tailEnd type="triangle"/>
          </a:ln>
        </p:spPr>
      </p:sp>
      <p:sp>
        <p:nvSpPr>
          <p:cNvPr id="10" name="Shape 8"/>
          <p:cNvSpPr/>
          <p:nvPr/>
        </p:nvSpPr>
        <p:spPr>
          <a:xfrm>
            <a:off x="4343400" y="4379976"/>
            <a:ext cx="3794760" cy="-274320"/>
          </a:xfrm>
          <a:prstGeom prst="line">
            <a:avLst/>
          </a:prstGeom>
          <a:noFill/>
          <a:ln w="15240">
            <a:solidFill>
              <a:srgbClr val="64748B">
                <a:alpha val="78000"/>
              </a:srgbClr>
            </a:solidFill>
            <a:prstDash val="solid"/>
            <a:tailEnd type="triangle"/>
          </a:ln>
        </p:spPr>
      </p:sp>
      <p:sp>
        <p:nvSpPr>
          <p:cNvPr id="11" name="Shape 9"/>
          <p:cNvSpPr/>
          <p:nvPr/>
        </p:nvSpPr>
        <p:spPr>
          <a:xfrm>
            <a:off x="1051560" y="1600200"/>
            <a:ext cx="1005840" cy="512064"/>
          </a:xfrm>
          <a:prstGeom prst="ellipse">
            <a:avLst/>
          </a:prstGeom>
          <a:solidFill>
            <a:srgbClr val="079EA4"/>
          </a:solidFill>
          <a:ln w="12700">
            <a:solidFill>
              <a:srgbClr val="079EA4"/>
            </a:solidFill>
            <a:prstDash val="solid"/>
          </a:ln>
        </p:spPr>
      </p:sp>
      <p:sp>
        <p:nvSpPr>
          <p:cNvPr id="12" name="Text 10"/>
          <p:cNvSpPr/>
          <p:nvPr/>
        </p:nvSpPr>
        <p:spPr>
          <a:xfrm>
            <a:off x="1124712" y="1783080"/>
            <a:ext cx="859536" cy="11887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Personel A</a:t>
            </a:r>
            <a:endParaRPr lang="en-US" sz="850" dirty="0"/>
          </a:p>
        </p:txBody>
      </p:sp>
      <p:sp>
        <p:nvSpPr>
          <p:cNvPr id="13" name="Shape 11"/>
          <p:cNvSpPr/>
          <p:nvPr/>
        </p:nvSpPr>
        <p:spPr>
          <a:xfrm>
            <a:off x="3794760" y="1143000"/>
            <a:ext cx="1005840" cy="512064"/>
          </a:xfrm>
          <a:prstGeom prst="ellipse">
            <a:avLst/>
          </a:prstGeom>
          <a:solidFill>
            <a:srgbClr val="D9294F"/>
          </a:solidFill>
          <a:ln w="12700">
            <a:solidFill>
              <a:srgbClr val="D9294F"/>
            </a:solidFill>
            <a:prstDash val="solid"/>
          </a:ln>
        </p:spPr>
      </p:sp>
      <p:sp>
        <p:nvSpPr>
          <p:cNvPr id="14" name="Text 12"/>
          <p:cNvSpPr/>
          <p:nvPr/>
        </p:nvSpPr>
        <p:spPr>
          <a:xfrm>
            <a:off x="3867912" y="1325880"/>
            <a:ext cx="859536" cy="11887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Şirket X</a:t>
            </a:r>
            <a:endParaRPr lang="en-US" sz="850" dirty="0"/>
          </a:p>
        </p:txBody>
      </p:sp>
      <p:sp>
        <p:nvSpPr>
          <p:cNvPr id="15" name="Shape 13"/>
          <p:cNvSpPr/>
          <p:nvPr/>
        </p:nvSpPr>
        <p:spPr>
          <a:xfrm>
            <a:off x="6629400" y="1645920"/>
            <a:ext cx="1005840" cy="512064"/>
          </a:xfrm>
          <a:prstGeom prst="ellipse">
            <a:avLst/>
          </a:prstGeom>
          <a:solidFill>
            <a:srgbClr val="F2B84B"/>
          </a:solidFill>
          <a:ln w="12700">
            <a:solidFill>
              <a:srgbClr val="F2B84B"/>
            </a:solidFill>
            <a:prstDash val="solid"/>
          </a:ln>
        </p:spPr>
      </p:sp>
      <p:sp>
        <p:nvSpPr>
          <p:cNvPr id="16" name="Text 14"/>
          <p:cNvSpPr/>
          <p:nvPr/>
        </p:nvSpPr>
        <p:spPr>
          <a:xfrm>
            <a:off x="6702552" y="1828800"/>
            <a:ext cx="859536" cy="118872"/>
          </a:xfrm>
          <a:prstGeom prst="rect">
            <a:avLst/>
          </a:prstGeom>
          <a:noFill/>
          <a:ln/>
        </p:spPr>
        <p:txBody>
          <a:bodyPr wrap="square" lIns="0" tIns="0" rIns="0" bIns="0" rtlCol="0" anchor="ctr">
            <a:normAutofit/>
          </a:bodyPr>
          <a:lstStyle/>
          <a:p>
            <a:pPr algn="ctr" indent="0" marL="0">
              <a:buNone/>
            </a:pPr>
            <a:r>
              <a:rPr lang="en-US" sz="850" b="1" dirty="0">
                <a:solidFill>
                  <a:srgbClr val="15202B"/>
                </a:solidFill>
              </a:rPr>
              <a:t>Ortak B</a:t>
            </a:r>
            <a:endParaRPr lang="en-US" sz="850" dirty="0"/>
          </a:p>
        </p:txBody>
      </p:sp>
      <p:sp>
        <p:nvSpPr>
          <p:cNvPr id="17" name="Shape 15"/>
          <p:cNvSpPr/>
          <p:nvPr/>
        </p:nvSpPr>
        <p:spPr>
          <a:xfrm>
            <a:off x="3840480" y="4160520"/>
            <a:ext cx="1005840" cy="512064"/>
          </a:xfrm>
          <a:prstGeom prst="ellipse">
            <a:avLst/>
          </a:prstGeom>
          <a:solidFill>
            <a:srgbClr val="0B1F33"/>
          </a:solidFill>
          <a:ln w="12700">
            <a:solidFill>
              <a:srgbClr val="0B1F33"/>
            </a:solidFill>
            <a:prstDash val="solid"/>
          </a:ln>
        </p:spPr>
      </p:sp>
      <p:sp>
        <p:nvSpPr>
          <p:cNvPr id="18" name="Text 16"/>
          <p:cNvSpPr/>
          <p:nvPr/>
        </p:nvSpPr>
        <p:spPr>
          <a:xfrm>
            <a:off x="3913632" y="4343400"/>
            <a:ext cx="859536" cy="11887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İhale 17</a:t>
            </a:r>
            <a:endParaRPr lang="en-US" sz="850" dirty="0"/>
          </a:p>
        </p:txBody>
      </p:sp>
      <p:sp>
        <p:nvSpPr>
          <p:cNvPr id="19" name="Shape 17"/>
          <p:cNvSpPr/>
          <p:nvPr/>
        </p:nvSpPr>
        <p:spPr>
          <a:xfrm>
            <a:off x="7635240" y="3886200"/>
            <a:ext cx="1005840" cy="512064"/>
          </a:xfrm>
          <a:prstGeom prst="ellipse">
            <a:avLst/>
          </a:prstGeom>
          <a:solidFill>
            <a:srgbClr val="D9294F"/>
          </a:solidFill>
          <a:ln w="12700">
            <a:solidFill>
              <a:srgbClr val="D9294F"/>
            </a:solidFill>
            <a:prstDash val="solid"/>
          </a:ln>
        </p:spPr>
      </p:sp>
      <p:sp>
        <p:nvSpPr>
          <p:cNvPr id="20" name="Text 18"/>
          <p:cNvSpPr/>
          <p:nvPr/>
        </p:nvSpPr>
        <p:spPr>
          <a:xfrm>
            <a:off x="7708392" y="4069080"/>
            <a:ext cx="859536" cy="11887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Şirket Y</a:t>
            </a:r>
            <a:endParaRPr lang="en-US" sz="850" dirty="0"/>
          </a:p>
        </p:txBody>
      </p:sp>
      <p:sp>
        <p:nvSpPr>
          <p:cNvPr id="21" name="Shape 19"/>
          <p:cNvSpPr/>
          <p:nvPr/>
        </p:nvSpPr>
        <p:spPr>
          <a:xfrm>
            <a:off x="10104120" y="2331720"/>
            <a:ext cx="1005840" cy="512064"/>
          </a:xfrm>
          <a:prstGeom prst="ellipse">
            <a:avLst/>
          </a:prstGeom>
          <a:solidFill>
            <a:srgbClr val="64748B"/>
          </a:solidFill>
          <a:ln w="12700">
            <a:solidFill>
              <a:srgbClr val="64748B"/>
            </a:solidFill>
            <a:prstDash val="solid"/>
          </a:ln>
        </p:spPr>
      </p:sp>
      <p:sp>
        <p:nvSpPr>
          <p:cNvPr id="22" name="Text 20"/>
          <p:cNvSpPr/>
          <p:nvPr/>
        </p:nvSpPr>
        <p:spPr>
          <a:xfrm>
            <a:off x="10177272" y="2514600"/>
            <a:ext cx="859536" cy="11887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Adres</a:t>
            </a:r>
            <a:endParaRPr lang="en-US" sz="850" dirty="0"/>
          </a:p>
        </p:txBody>
      </p:sp>
      <p:sp>
        <p:nvSpPr>
          <p:cNvPr id="23" name="Text 21"/>
          <p:cNvSpPr/>
          <p:nvPr/>
        </p:nvSpPr>
        <p:spPr>
          <a:xfrm>
            <a:off x="914400" y="5029200"/>
            <a:ext cx="4434840" cy="219456"/>
          </a:xfrm>
          <a:prstGeom prst="rect">
            <a:avLst/>
          </a:prstGeom>
          <a:noFill/>
          <a:ln/>
        </p:spPr>
        <p:txBody>
          <a:bodyPr wrap="square" lIns="0" tIns="0" rIns="0" bIns="0" rtlCol="0" anchor="ctr"/>
          <a:lstStyle/>
          <a:p>
            <a:pPr indent="0" marL="0">
              <a:buNone/>
            </a:pPr>
            <a:r>
              <a:rPr lang="en-US" sz="1800" b="1" dirty="0">
                <a:solidFill>
                  <a:srgbClr val="15202B"/>
                </a:solidFill>
              </a:rPr>
              <a:t>Ağ metrikleri denetim sorusuna dönüşür:</a:t>
            </a:r>
            <a:endParaRPr lang="en-US" sz="1800" dirty="0"/>
          </a:p>
        </p:txBody>
      </p:sp>
      <p:sp>
        <p:nvSpPr>
          <p:cNvPr id="24" name="Text 22"/>
          <p:cNvSpPr/>
          <p:nvPr/>
        </p:nvSpPr>
        <p:spPr>
          <a:xfrm>
            <a:off x="914400" y="5458968"/>
            <a:ext cx="10058400" cy="228600"/>
          </a:xfrm>
          <a:prstGeom prst="rect">
            <a:avLst/>
          </a:prstGeom>
          <a:noFill/>
          <a:ln/>
        </p:spPr>
        <p:txBody>
          <a:bodyPr wrap="square" lIns="0" tIns="0" rIns="0" bIns="0" rtlCol="0" anchor="ctr">
            <a:normAutofit/>
          </a:bodyPr>
          <a:lstStyle/>
          <a:p>
            <a:pPr indent="0" marL="0">
              <a:buNone/>
            </a:pPr>
            <a:r>
              <a:rPr lang="en-US" sz="1350" dirty="0">
                <a:solidFill>
                  <a:srgbClr val="334155"/>
                </a:solidFill>
              </a:rPr>
              <a:t>merkezilik → kim çok bağlantılı?   |   topluluk → hangi kümeler oluşmuş?   |   kısa yol → iki taraf kaç adım uzakta?</a:t>
            </a:r>
            <a:endParaRPr lang="en-US" sz="1350" dirty="0"/>
          </a:p>
        </p:txBody>
      </p:sp>
      <p:sp>
        <p:nvSpPr>
          <p:cNvPr id="25" name="Text 23"/>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777240" y="685800"/>
            <a:ext cx="3657600" cy="457200"/>
          </a:xfrm>
          <a:prstGeom prst="rect">
            <a:avLst/>
          </a:prstGeom>
          <a:noFill/>
          <a:ln/>
        </p:spPr>
        <p:txBody>
          <a:bodyPr wrap="square" lIns="0" tIns="0" rIns="0" bIns="0" rtlCol="0" anchor="ct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Bugünün rotası</a:t>
            </a:r>
            <a:endParaRPr lang="en-US" sz="3800" dirty="0"/>
          </a:p>
        </p:txBody>
      </p:sp>
      <p:sp>
        <p:nvSpPr>
          <p:cNvPr id="3" name="Shape 1"/>
          <p:cNvSpPr/>
          <p:nvPr/>
        </p:nvSpPr>
        <p:spPr>
          <a:xfrm>
            <a:off x="804672" y="1307592"/>
            <a:ext cx="2011680" cy="0"/>
          </a:xfrm>
          <a:prstGeom prst="line">
            <a:avLst/>
          </a:prstGeom>
          <a:noFill/>
          <a:ln w="50800">
            <a:solidFill>
              <a:srgbClr val="079EA4"/>
            </a:solidFill>
            <a:prstDash val="solid"/>
          </a:ln>
        </p:spPr>
      </p:sp>
      <p:sp>
        <p:nvSpPr>
          <p:cNvPr id="4" name="Shape 2"/>
          <p:cNvSpPr/>
          <p:nvPr/>
        </p:nvSpPr>
        <p:spPr>
          <a:xfrm>
            <a:off x="914400" y="1828800"/>
            <a:ext cx="393192" cy="393192"/>
          </a:xfrm>
          <a:prstGeom prst="ellipse">
            <a:avLst/>
          </a:prstGeom>
          <a:solidFill>
            <a:srgbClr val="079EA4"/>
          </a:solidFill>
          <a:ln w="12700">
            <a:solidFill>
              <a:srgbClr val="079EA4"/>
            </a:solidFill>
            <a:prstDash val="solid"/>
          </a:ln>
        </p:spPr>
      </p:sp>
      <p:sp>
        <p:nvSpPr>
          <p:cNvPr id="5" name="Text 3"/>
          <p:cNvSpPr/>
          <p:nvPr/>
        </p:nvSpPr>
        <p:spPr>
          <a:xfrm>
            <a:off x="914400" y="1938528"/>
            <a:ext cx="393192" cy="11887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6" name="Text 4"/>
          <p:cNvSpPr/>
          <p:nvPr/>
        </p:nvSpPr>
        <p:spPr>
          <a:xfrm>
            <a:off x="1536192" y="1810512"/>
            <a:ext cx="1828800" cy="201168"/>
          </a:xfrm>
          <a:prstGeom prst="rect">
            <a:avLst/>
          </a:prstGeom>
          <a:noFill/>
          <a:ln/>
        </p:spPr>
        <p:txBody>
          <a:bodyPr wrap="square" lIns="0" tIns="0" rIns="0" bIns="0" rtlCol="0" anchor="ctr"/>
          <a:lstStyle/>
          <a:p>
            <a:pPr indent="0" marL="0">
              <a:buNone/>
            </a:pPr>
            <a:r>
              <a:rPr lang="en-US" sz="1650" b="1" dirty="0">
                <a:solidFill>
                  <a:srgbClr val="FFFFFF"/>
                </a:solidFill>
              </a:rPr>
              <a:t>Zihin modeli</a:t>
            </a:r>
            <a:endParaRPr lang="en-US" sz="1650" dirty="0"/>
          </a:p>
        </p:txBody>
      </p:sp>
      <p:sp>
        <p:nvSpPr>
          <p:cNvPr id="7" name="Text 5"/>
          <p:cNvSpPr/>
          <p:nvPr/>
        </p:nvSpPr>
        <p:spPr>
          <a:xfrm>
            <a:off x="3383280" y="1847088"/>
            <a:ext cx="5303520" cy="164592"/>
          </a:xfrm>
          <a:prstGeom prst="rect">
            <a:avLst/>
          </a:prstGeom>
          <a:noFill/>
          <a:ln/>
        </p:spPr>
        <p:txBody>
          <a:bodyPr wrap="square" lIns="0" tIns="0" rIns="0" bIns="0" rtlCol="0" anchor="ctr">
            <a:normAutofit/>
          </a:bodyPr>
          <a:lstStyle/>
          <a:p>
            <a:pPr indent="0" marL="0">
              <a:buNone/>
            </a:pPr>
            <a:r>
              <a:rPr lang="en-US" sz="1320" dirty="0">
                <a:solidFill>
                  <a:srgbClr val="D5E0EA"/>
                </a:solidFill>
              </a:rPr>
              <a:t>Veri analizi ≠ yalnızca istatistik</a:t>
            </a:r>
            <a:endParaRPr lang="en-US" sz="1320" dirty="0"/>
          </a:p>
        </p:txBody>
      </p:sp>
      <p:sp>
        <p:nvSpPr>
          <p:cNvPr id="8" name="Shape 6"/>
          <p:cNvSpPr/>
          <p:nvPr/>
        </p:nvSpPr>
        <p:spPr>
          <a:xfrm>
            <a:off x="914400" y="2514600"/>
            <a:ext cx="393192" cy="393192"/>
          </a:xfrm>
          <a:prstGeom prst="ellipse">
            <a:avLst/>
          </a:prstGeom>
          <a:solidFill>
            <a:srgbClr val="079EA4"/>
          </a:solidFill>
          <a:ln w="12700">
            <a:solidFill>
              <a:srgbClr val="079EA4"/>
            </a:solidFill>
            <a:prstDash val="solid"/>
          </a:ln>
        </p:spPr>
      </p:sp>
      <p:sp>
        <p:nvSpPr>
          <p:cNvPr id="9" name="Text 7"/>
          <p:cNvSpPr/>
          <p:nvPr/>
        </p:nvSpPr>
        <p:spPr>
          <a:xfrm>
            <a:off x="914400" y="2624328"/>
            <a:ext cx="393192" cy="11887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0" name="Text 8"/>
          <p:cNvSpPr/>
          <p:nvPr/>
        </p:nvSpPr>
        <p:spPr>
          <a:xfrm>
            <a:off x="1536192" y="2496312"/>
            <a:ext cx="1828800" cy="201168"/>
          </a:xfrm>
          <a:prstGeom prst="rect">
            <a:avLst/>
          </a:prstGeom>
          <a:noFill/>
          <a:ln/>
        </p:spPr>
        <p:txBody>
          <a:bodyPr wrap="square" lIns="0" tIns="0" rIns="0" bIns="0" rtlCol="0" anchor="ctr"/>
          <a:lstStyle/>
          <a:p>
            <a:pPr indent="0" marL="0">
              <a:buNone/>
            </a:pPr>
            <a:r>
              <a:rPr lang="en-US" sz="1650" b="1" dirty="0">
                <a:solidFill>
                  <a:srgbClr val="FFFFFF"/>
                </a:solidFill>
              </a:rPr>
              <a:t>Araç</a:t>
            </a:r>
            <a:endParaRPr lang="en-US" sz="1650" dirty="0"/>
          </a:p>
        </p:txBody>
      </p:sp>
      <p:sp>
        <p:nvSpPr>
          <p:cNvPr id="11" name="Text 9"/>
          <p:cNvSpPr/>
          <p:nvPr/>
        </p:nvSpPr>
        <p:spPr>
          <a:xfrm>
            <a:off x="3383280" y="2532888"/>
            <a:ext cx="5303520" cy="164592"/>
          </a:xfrm>
          <a:prstGeom prst="rect">
            <a:avLst/>
          </a:prstGeom>
          <a:noFill/>
          <a:ln/>
        </p:spPr>
        <p:txBody>
          <a:bodyPr wrap="square" lIns="0" tIns="0" rIns="0" bIns="0" rtlCol="0" anchor="ctr">
            <a:normAutofit/>
          </a:bodyPr>
          <a:lstStyle/>
          <a:p>
            <a:pPr indent="0" marL="0">
              <a:buNone/>
            </a:pPr>
            <a:r>
              <a:rPr lang="en-US" sz="1320" dirty="0">
                <a:solidFill>
                  <a:srgbClr val="D5E0EA"/>
                </a:solidFill>
              </a:rPr>
              <a:t>Python ve yapay zekâ destekli geliştirme</a:t>
            </a:r>
            <a:endParaRPr lang="en-US" sz="1320" dirty="0"/>
          </a:p>
        </p:txBody>
      </p:sp>
      <p:sp>
        <p:nvSpPr>
          <p:cNvPr id="12" name="Shape 10"/>
          <p:cNvSpPr/>
          <p:nvPr/>
        </p:nvSpPr>
        <p:spPr>
          <a:xfrm>
            <a:off x="914400" y="3200400"/>
            <a:ext cx="393192" cy="393192"/>
          </a:xfrm>
          <a:prstGeom prst="ellipse">
            <a:avLst/>
          </a:prstGeom>
          <a:solidFill>
            <a:srgbClr val="079EA4"/>
          </a:solidFill>
          <a:ln w="12700">
            <a:solidFill>
              <a:srgbClr val="079EA4"/>
            </a:solidFill>
            <a:prstDash val="solid"/>
          </a:ln>
        </p:spPr>
      </p:sp>
      <p:sp>
        <p:nvSpPr>
          <p:cNvPr id="13" name="Text 11"/>
          <p:cNvSpPr/>
          <p:nvPr/>
        </p:nvSpPr>
        <p:spPr>
          <a:xfrm>
            <a:off x="914400" y="3310128"/>
            <a:ext cx="393192" cy="11887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4" name="Text 12"/>
          <p:cNvSpPr/>
          <p:nvPr/>
        </p:nvSpPr>
        <p:spPr>
          <a:xfrm>
            <a:off x="1536192" y="3182112"/>
            <a:ext cx="1828800" cy="201168"/>
          </a:xfrm>
          <a:prstGeom prst="rect">
            <a:avLst/>
          </a:prstGeom>
          <a:noFill/>
          <a:ln/>
        </p:spPr>
        <p:txBody>
          <a:bodyPr wrap="square" lIns="0" tIns="0" rIns="0" bIns="0" rtlCol="0" anchor="ctr"/>
          <a:lstStyle/>
          <a:p>
            <a:pPr indent="0" marL="0">
              <a:buNone/>
            </a:pPr>
            <a:r>
              <a:rPr lang="en-US" sz="1650" b="1" dirty="0">
                <a:solidFill>
                  <a:srgbClr val="FFFFFF"/>
                </a:solidFill>
              </a:rPr>
              <a:t>Ortam</a:t>
            </a:r>
            <a:endParaRPr lang="en-US" sz="1650" dirty="0"/>
          </a:p>
        </p:txBody>
      </p:sp>
      <p:sp>
        <p:nvSpPr>
          <p:cNvPr id="15" name="Text 13"/>
          <p:cNvSpPr/>
          <p:nvPr/>
        </p:nvSpPr>
        <p:spPr>
          <a:xfrm>
            <a:off x="3383280" y="3218688"/>
            <a:ext cx="5303520" cy="164592"/>
          </a:xfrm>
          <a:prstGeom prst="rect">
            <a:avLst/>
          </a:prstGeom>
          <a:noFill/>
          <a:ln/>
        </p:spPr>
        <p:txBody>
          <a:bodyPr wrap="square" lIns="0" tIns="0" rIns="0" bIns="0" rtlCol="0" anchor="ctr">
            <a:normAutofit/>
          </a:bodyPr>
          <a:lstStyle/>
          <a:p>
            <a:pPr indent="0" marL="0">
              <a:buNone/>
            </a:pPr>
            <a:r>
              <a:rPr lang="en-US" sz="1320" dirty="0">
                <a:solidFill>
                  <a:srgbClr val="D5E0EA"/>
                </a:solidFill>
              </a:rPr>
              <a:t>Jupyter/Colab ile izlenebilir pipeline</a:t>
            </a:r>
            <a:endParaRPr lang="en-US" sz="1320" dirty="0"/>
          </a:p>
        </p:txBody>
      </p:sp>
      <p:sp>
        <p:nvSpPr>
          <p:cNvPr id="16" name="Shape 14"/>
          <p:cNvSpPr/>
          <p:nvPr/>
        </p:nvSpPr>
        <p:spPr>
          <a:xfrm>
            <a:off x="914400" y="3886200"/>
            <a:ext cx="393192" cy="393192"/>
          </a:xfrm>
          <a:prstGeom prst="ellipse">
            <a:avLst/>
          </a:prstGeom>
          <a:solidFill>
            <a:srgbClr val="079EA4"/>
          </a:solidFill>
          <a:ln w="12700">
            <a:solidFill>
              <a:srgbClr val="079EA4"/>
            </a:solidFill>
            <a:prstDash val="solid"/>
          </a:ln>
        </p:spPr>
      </p:sp>
      <p:sp>
        <p:nvSpPr>
          <p:cNvPr id="17" name="Text 15"/>
          <p:cNvSpPr/>
          <p:nvPr/>
        </p:nvSpPr>
        <p:spPr>
          <a:xfrm>
            <a:off x="914400" y="3995928"/>
            <a:ext cx="393192" cy="11887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8" name="Text 16"/>
          <p:cNvSpPr/>
          <p:nvPr/>
        </p:nvSpPr>
        <p:spPr>
          <a:xfrm>
            <a:off x="1536192" y="3867912"/>
            <a:ext cx="1828800" cy="201168"/>
          </a:xfrm>
          <a:prstGeom prst="rect">
            <a:avLst/>
          </a:prstGeom>
          <a:noFill/>
          <a:ln/>
        </p:spPr>
        <p:txBody>
          <a:bodyPr wrap="square" lIns="0" tIns="0" rIns="0" bIns="0" rtlCol="0" anchor="ctr"/>
          <a:lstStyle/>
          <a:p>
            <a:pPr indent="0" marL="0">
              <a:buNone/>
            </a:pPr>
            <a:r>
              <a:rPr lang="en-US" sz="1650" b="1" dirty="0">
                <a:solidFill>
                  <a:srgbClr val="FFFFFF"/>
                </a:solidFill>
              </a:rPr>
              <a:t>Teknikler</a:t>
            </a:r>
            <a:endParaRPr lang="en-US" sz="1650" dirty="0"/>
          </a:p>
        </p:txBody>
      </p:sp>
      <p:sp>
        <p:nvSpPr>
          <p:cNvPr id="19" name="Text 17"/>
          <p:cNvSpPr/>
          <p:nvPr/>
        </p:nvSpPr>
        <p:spPr>
          <a:xfrm>
            <a:off x="3383280" y="3904488"/>
            <a:ext cx="5303520" cy="164592"/>
          </a:xfrm>
          <a:prstGeom prst="rect">
            <a:avLst/>
          </a:prstGeom>
          <a:noFill/>
          <a:ln/>
        </p:spPr>
        <p:txBody>
          <a:bodyPr wrap="square" lIns="0" tIns="0" rIns="0" bIns="0" rtlCol="0" anchor="ctr">
            <a:normAutofit/>
          </a:bodyPr>
          <a:lstStyle/>
          <a:p>
            <a:pPr indent="0" marL="0">
              <a:buNone/>
            </a:pPr>
            <a:r>
              <a:rPr lang="en-US" sz="1320" dirty="0">
                <a:solidFill>
                  <a:srgbClr val="D5E0EA"/>
                </a:solidFill>
              </a:rPr>
              <a:t>Aykırı değer, Benford, metin arama, ağ analizi</a:t>
            </a:r>
            <a:endParaRPr lang="en-US" sz="1320" dirty="0"/>
          </a:p>
        </p:txBody>
      </p:sp>
      <p:sp>
        <p:nvSpPr>
          <p:cNvPr id="20" name="Shape 18"/>
          <p:cNvSpPr/>
          <p:nvPr/>
        </p:nvSpPr>
        <p:spPr>
          <a:xfrm>
            <a:off x="914400" y="4572000"/>
            <a:ext cx="393192" cy="393192"/>
          </a:xfrm>
          <a:prstGeom prst="ellipse">
            <a:avLst/>
          </a:prstGeom>
          <a:solidFill>
            <a:srgbClr val="D9294F"/>
          </a:solidFill>
          <a:ln w="12700">
            <a:solidFill>
              <a:srgbClr val="D9294F"/>
            </a:solidFill>
            <a:prstDash val="solid"/>
          </a:ln>
        </p:spPr>
      </p:sp>
      <p:sp>
        <p:nvSpPr>
          <p:cNvPr id="21" name="Text 19"/>
          <p:cNvSpPr/>
          <p:nvPr/>
        </p:nvSpPr>
        <p:spPr>
          <a:xfrm>
            <a:off x="914400" y="4681728"/>
            <a:ext cx="393192" cy="11887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2" name="Text 20"/>
          <p:cNvSpPr/>
          <p:nvPr/>
        </p:nvSpPr>
        <p:spPr>
          <a:xfrm>
            <a:off x="1536192" y="4553712"/>
            <a:ext cx="1828800" cy="201168"/>
          </a:xfrm>
          <a:prstGeom prst="rect">
            <a:avLst/>
          </a:prstGeom>
          <a:noFill/>
          <a:ln/>
        </p:spPr>
        <p:txBody>
          <a:bodyPr wrap="square" lIns="0" tIns="0" rIns="0" bIns="0" rtlCol="0" anchor="ctr"/>
          <a:lstStyle/>
          <a:p>
            <a:pPr indent="0" marL="0">
              <a:buNone/>
            </a:pPr>
            <a:r>
              <a:rPr lang="en-US" sz="1650" b="1" dirty="0">
                <a:solidFill>
                  <a:srgbClr val="FFFFFF"/>
                </a:solidFill>
              </a:rPr>
              <a:t>Uygulama</a:t>
            </a:r>
            <a:endParaRPr lang="en-US" sz="1650" dirty="0"/>
          </a:p>
        </p:txBody>
      </p:sp>
      <p:sp>
        <p:nvSpPr>
          <p:cNvPr id="23" name="Text 21"/>
          <p:cNvSpPr/>
          <p:nvPr/>
        </p:nvSpPr>
        <p:spPr>
          <a:xfrm>
            <a:off x="3383280" y="4590288"/>
            <a:ext cx="5303520" cy="164592"/>
          </a:xfrm>
          <a:prstGeom prst="rect">
            <a:avLst/>
          </a:prstGeom>
          <a:noFill/>
          <a:ln/>
        </p:spPr>
        <p:txBody>
          <a:bodyPr wrap="square" lIns="0" tIns="0" rIns="0" bIns="0" rtlCol="0" anchor="ctr">
            <a:normAutofit/>
          </a:bodyPr>
          <a:lstStyle/>
          <a:p>
            <a:pPr indent="0" marL="0">
              <a:buNone/>
            </a:pPr>
            <a:r>
              <a:rPr lang="en-US" sz="1320" dirty="0">
                <a:solidFill>
                  <a:srgbClr val="D5E0EA"/>
                </a:solidFill>
              </a:rPr>
              <a:t>Sonraki bölümde kodlayarak deneyeceğiz</a:t>
            </a:r>
            <a:endParaRPr lang="en-US" sz="1320" dirty="0"/>
          </a:p>
        </p:txBody>
      </p:sp>
      <p:sp>
        <p:nvSpPr>
          <p:cNvPr id="24" name="Text 22"/>
          <p:cNvSpPr/>
          <p:nvPr/>
        </p:nvSpPr>
        <p:spPr>
          <a:xfrm>
            <a:off x="7818120" y="4937760"/>
            <a:ext cx="2011680" cy="228600"/>
          </a:xfrm>
          <a:prstGeom prst="rect">
            <a:avLst/>
          </a:prstGeom>
          <a:noFill/>
          <a:ln/>
        </p:spPr>
        <p:txBody>
          <a:bodyPr wrap="square" lIns="0" tIns="0" rIns="0" bIns="0" rtlCol="0" anchor="ctr"/>
          <a:lstStyle/>
          <a:p>
            <a:pPr indent="0" marL="0">
              <a:buNone/>
            </a:pPr>
            <a:r>
              <a:rPr lang="en-US" sz="1700" b="1" dirty="0">
                <a:solidFill>
                  <a:srgbClr val="F2B84B"/>
                </a:solidFill>
              </a:rPr>
              <a:t>Son cümle:</a:t>
            </a:r>
            <a:endParaRPr lang="en-US" sz="1700" dirty="0"/>
          </a:p>
        </p:txBody>
      </p:sp>
      <p:sp>
        <p:nvSpPr>
          <p:cNvPr id="25" name="Text 23"/>
          <p:cNvSpPr/>
          <p:nvPr/>
        </p:nvSpPr>
        <p:spPr>
          <a:xfrm>
            <a:off x="7818120" y="5349240"/>
            <a:ext cx="3200400" cy="658368"/>
          </a:xfrm>
          <a:prstGeom prst="rect">
            <a:avLst/>
          </a:prstGeom>
          <a:noFill/>
          <a:ln/>
        </p:spPr>
        <p:txBody>
          <a:bodyPr wrap="square" lIns="0" tIns="0" rIns="0" bIns="0" rtlCol="0" anchor="ctr">
            <a:normAutofit/>
          </a:bodyPr>
          <a:lstStyle/>
          <a:p>
            <a:pPr indent="0" marL="0">
              <a:buNone/>
            </a:pPr>
            <a:r>
              <a:rPr lang="en-US" sz="1900" b="1" dirty="0">
                <a:solidFill>
                  <a:srgbClr val="FFFFFF"/>
                </a:solidFill>
              </a:rPr>
              <a:t>Veriye bakan denetçi sadece daha hızlı değil, daha izlenebilir ve daha ikna edici denetim yapar.</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D"/>
        </a:solidFill>
      </p:bgPr>
    </p:bg>
    <p:spTree>
      <p:nvGrpSpPr>
        <p:cNvPr id="1" name=""/>
        <p:cNvGrpSpPr/>
        <p:nvPr/>
      </p:nvGrpSpPr>
      <p:grpSpPr>
        <a:xfrm>
          <a:off x="0" y="0"/>
          <a:ext cx="0" cy="0"/>
          <a:chOff x="0" y="0"/>
          <a:chExt cx="0" cy="0"/>
        </a:xfrm>
      </p:grpSpPr>
      <p:sp>
        <p:nvSpPr>
          <p:cNvPr id="2" name="Text 0"/>
          <p:cNvSpPr/>
          <p:nvPr/>
        </p:nvSpPr>
        <p:spPr>
          <a:xfrm>
            <a:off x="502920" y="347472"/>
            <a:ext cx="7498080" cy="411480"/>
          </a:xfrm>
          <a:prstGeom prst="rect">
            <a:avLst/>
          </a:prstGeom>
          <a:noFill/>
          <a:ln/>
        </p:spPr>
        <p:txBody>
          <a:bodyPr wrap="square" lIns="0" tIns="0" rIns="0" bIns="0" rtlCol="0" anchor="ctr"/>
          <a:lstStyle/>
          <a:p>
            <a:pPr indent="0" marL="0">
              <a:buNone/>
            </a:pPr>
            <a:r>
              <a:rPr lang="en-US" sz="3100" b="1" dirty="0">
                <a:solidFill>
                  <a:srgbClr val="15202B"/>
                </a:solidFill>
                <a:latin typeface="Aptos Display" pitchFamily="34" charset="0"/>
                <a:ea typeface="Aptos Display" pitchFamily="34" charset="-122"/>
                <a:cs typeface="Aptos Display" pitchFamily="34" charset="-120"/>
              </a:rPr>
              <a:t>Kaynaklar ve konuşmacı notu</a:t>
            </a:r>
            <a:endParaRPr lang="en-US" sz="3100" dirty="0"/>
          </a:p>
        </p:txBody>
      </p:sp>
      <p:sp>
        <p:nvSpPr>
          <p:cNvPr id="3" name="Text 1"/>
          <p:cNvSpPr/>
          <p:nvPr/>
        </p:nvSpPr>
        <p:spPr>
          <a:xfrm>
            <a:off x="530352" y="786384"/>
            <a:ext cx="8686800" cy="292608"/>
          </a:xfrm>
          <a:prstGeom prst="rect">
            <a:avLst/>
          </a:prstGeom>
          <a:noFill/>
          <a:ln/>
        </p:spPr>
        <p:txBody>
          <a:bodyPr wrap="square" lIns="0" tIns="0" rIns="0" bIns="0" rtlCol="0" anchor="ctr"/>
          <a:lstStyle/>
          <a:p>
            <a:pPr indent="0" marL="0">
              <a:buNone/>
            </a:pPr>
            <a:r>
              <a:rPr lang="en-US" sz="1050" dirty="0">
                <a:solidFill>
                  <a:srgbClr val="64748B"/>
                </a:solidFill>
              </a:rPr>
              <a:t>Sunumda geçen örneklerin dayandığı başlıca kaynaklar.</a:t>
            </a:r>
            <a:endParaRPr lang="en-US" sz="1050" dirty="0"/>
          </a:p>
        </p:txBody>
      </p:sp>
      <p:sp>
        <p:nvSpPr>
          <p:cNvPr id="4" name="Shape 2"/>
          <p:cNvSpPr/>
          <p:nvPr/>
        </p:nvSpPr>
        <p:spPr>
          <a:xfrm>
            <a:off x="502920" y="1115568"/>
            <a:ext cx="11201400" cy="0"/>
          </a:xfrm>
          <a:prstGeom prst="line">
            <a:avLst/>
          </a:prstGeom>
          <a:noFill/>
          <a:ln w="15240">
            <a:solidFill>
              <a:srgbClr val="EFEAE0"/>
            </a:solidFill>
            <a:prstDash val="solid"/>
          </a:ln>
        </p:spPr>
      </p:sp>
      <p:sp>
        <p:nvSpPr>
          <p:cNvPr id="5" name="Shape 3"/>
          <p:cNvSpPr/>
          <p:nvPr/>
        </p:nvSpPr>
        <p:spPr>
          <a:xfrm>
            <a:off x="777240" y="1463040"/>
            <a:ext cx="411480" cy="0"/>
          </a:xfrm>
          <a:prstGeom prst="line">
            <a:avLst/>
          </a:prstGeom>
          <a:noFill/>
          <a:ln w="25400">
            <a:solidFill>
              <a:srgbClr val="079EA4"/>
            </a:solidFill>
            <a:prstDash val="solid"/>
          </a:ln>
        </p:spPr>
      </p:sp>
      <p:sp>
        <p:nvSpPr>
          <p:cNvPr id="6" name="Text 4"/>
          <p:cNvSpPr/>
          <p:nvPr/>
        </p:nvSpPr>
        <p:spPr>
          <a:xfrm>
            <a:off x="1325880" y="1353312"/>
            <a:ext cx="9966960" cy="292608"/>
          </a:xfrm>
          <a:prstGeom prst="rect">
            <a:avLst/>
          </a:prstGeom>
          <a:noFill/>
          <a:ln/>
        </p:spPr>
        <p:txBody>
          <a:bodyPr wrap="square" lIns="0" tIns="0" rIns="0" bIns="0" rtlCol="0" anchor="ctr">
            <a:normAutofit/>
          </a:bodyPr>
          <a:lstStyle/>
          <a:p>
            <a:pPr indent="0" marL="0">
              <a:buNone/>
            </a:pPr>
            <a:r>
              <a:rPr lang="en-US" sz="1220" dirty="0">
                <a:solidFill>
                  <a:srgbClr val="334155"/>
                </a:solidFill>
              </a:rPr>
              <a:t>Project Jupyter — jupyter.org: Notebook; kod, denklem, anlatı ve görsel çıktıları bir araya getiren etkileşimli hesaplama ortamı.</a:t>
            </a:r>
            <a:endParaRPr lang="en-US" sz="1220" dirty="0"/>
          </a:p>
        </p:txBody>
      </p:sp>
      <p:sp>
        <p:nvSpPr>
          <p:cNvPr id="7" name="Shape 5"/>
          <p:cNvSpPr/>
          <p:nvPr/>
        </p:nvSpPr>
        <p:spPr>
          <a:xfrm>
            <a:off x="777240" y="2121408"/>
            <a:ext cx="411480" cy="0"/>
          </a:xfrm>
          <a:prstGeom prst="line">
            <a:avLst/>
          </a:prstGeom>
          <a:noFill/>
          <a:ln w="25400">
            <a:solidFill>
              <a:srgbClr val="079EA4"/>
            </a:solidFill>
            <a:prstDash val="solid"/>
          </a:ln>
        </p:spPr>
      </p:sp>
      <p:sp>
        <p:nvSpPr>
          <p:cNvPr id="8" name="Text 6"/>
          <p:cNvSpPr/>
          <p:nvPr/>
        </p:nvSpPr>
        <p:spPr>
          <a:xfrm>
            <a:off x="1325880" y="2011680"/>
            <a:ext cx="9966960" cy="292608"/>
          </a:xfrm>
          <a:prstGeom prst="rect">
            <a:avLst/>
          </a:prstGeom>
          <a:noFill/>
          <a:ln/>
        </p:spPr>
        <p:txBody>
          <a:bodyPr wrap="square" lIns="0" tIns="0" rIns="0" bIns="0" rtlCol="0" anchor="ctr">
            <a:normAutofit/>
          </a:bodyPr>
          <a:lstStyle/>
          <a:p>
            <a:pPr indent="0" marL="0">
              <a:buNone/>
            </a:pPr>
            <a:r>
              <a:rPr lang="en-US" sz="1220" dirty="0">
                <a:solidFill>
                  <a:srgbClr val="334155"/>
                </a:solidFill>
              </a:rPr>
              <a:t>Google Colab / Google for Developers: kurulumsuz, tarayıcı tabanlı, kod ve zengin metni aynı belgede birleştiren notebook hizmeti.</a:t>
            </a:r>
            <a:endParaRPr lang="en-US" sz="1220" dirty="0"/>
          </a:p>
        </p:txBody>
      </p:sp>
      <p:sp>
        <p:nvSpPr>
          <p:cNvPr id="9" name="Shape 7"/>
          <p:cNvSpPr/>
          <p:nvPr/>
        </p:nvSpPr>
        <p:spPr>
          <a:xfrm>
            <a:off x="777240" y="2779776"/>
            <a:ext cx="411480" cy="0"/>
          </a:xfrm>
          <a:prstGeom prst="line">
            <a:avLst/>
          </a:prstGeom>
          <a:noFill/>
          <a:ln w="25400">
            <a:solidFill>
              <a:srgbClr val="079EA4"/>
            </a:solidFill>
            <a:prstDash val="solid"/>
          </a:ln>
        </p:spPr>
      </p:sp>
      <p:sp>
        <p:nvSpPr>
          <p:cNvPr id="10" name="Text 8"/>
          <p:cNvSpPr/>
          <p:nvPr/>
        </p:nvSpPr>
        <p:spPr>
          <a:xfrm>
            <a:off x="1325880" y="2670048"/>
            <a:ext cx="9966960" cy="292608"/>
          </a:xfrm>
          <a:prstGeom prst="rect">
            <a:avLst/>
          </a:prstGeom>
          <a:noFill/>
          <a:ln/>
        </p:spPr>
        <p:txBody>
          <a:bodyPr wrap="square" lIns="0" tIns="0" rIns="0" bIns="0" rtlCol="0" anchor="ctr">
            <a:normAutofit/>
          </a:bodyPr>
          <a:lstStyle/>
          <a:p>
            <a:pPr indent="0" marL="0">
              <a:buNone/>
            </a:pPr>
            <a:r>
              <a:rPr lang="en-US" sz="1220" dirty="0">
                <a:solidFill>
                  <a:srgbClr val="334155"/>
                </a:solidFill>
              </a:rPr>
              <a:t>ACFE, Report to the Nations 2024: 1.921 vaka, 138 ülke/bölge üzerinden mesleki suistimal incelemesi.</a:t>
            </a:r>
            <a:endParaRPr lang="en-US" sz="1220" dirty="0"/>
          </a:p>
        </p:txBody>
      </p:sp>
      <p:sp>
        <p:nvSpPr>
          <p:cNvPr id="11" name="Shape 9"/>
          <p:cNvSpPr/>
          <p:nvPr/>
        </p:nvSpPr>
        <p:spPr>
          <a:xfrm>
            <a:off x="777240" y="3438144"/>
            <a:ext cx="411480" cy="0"/>
          </a:xfrm>
          <a:prstGeom prst="line">
            <a:avLst/>
          </a:prstGeom>
          <a:noFill/>
          <a:ln w="25400">
            <a:solidFill>
              <a:srgbClr val="079EA4"/>
            </a:solidFill>
            <a:prstDash val="solid"/>
          </a:ln>
        </p:spPr>
      </p:sp>
      <p:sp>
        <p:nvSpPr>
          <p:cNvPr id="12" name="Text 10"/>
          <p:cNvSpPr/>
          <p:nvPr/>
        </p:nvSpPr>
        <p:spPr>
          <a:xfrm>
            <a:off x="1325880" y="3328416"/>
            <a:ext cx="9966960" cy="292608"/>
          </a:xfrm>
          <a:prstGeom prst="rect">
            <a:avLst/>
          </a:prstGeom>
          <a:noFill/>
          <a:ln/>
        </p:spPr>
        <p:txBody>
          <a:bodyPr wrap="square" lIns="0" tIns="0" rIns="0" bIns="0" rtlCol="0" anchor="ctr">
            <a:normAutofit/>
          </a:bodyPr>
          <a:lstStyle/>
          <a:p>
            <a:pPr indent="0" marL="0">
              <a:buNone/>
            </a:pPr>
            <a:r>
              <a:rPr lang="en-US" sz="1220" dirty="0">
                <a:solidFill>
                  <a:srgbClr val="334155"/>
                </a:solidFill>
              </a:rPr>
              <a:t>J. W. Tukey, Exploratory Data Analysis; “veriye soru sorma” yaklaşımı.</a:t>
            </a:r>
            <a:endParaRPr lang="en-US" sz="1220" dirty="0"/>
          </a:p>
        </p:txBody>
      </p:sp>
      <p:sp>
        <p:nvSpPr>
          <p:cNvPr id="13" name="Shape 11"/>
          <p:cNvSpPr/>
          <p:nvPr/>
        </p:nvSpPr>
        <p:spPr>
          <a:xfrm>
            <a:off x="777240" y="4096512"/>
            <a:ext cx="411480" cy="0"/>
          </a:xfrm>
          <a:prstGeom prst="line">
            <a:avLst/>
          </a:prstGeom>
          <a:noFill/>
          <a:ln w="25400">
            <a:solidFill>
              <a:srgbClr val="079EA4"/>
            </a:solidFill>
            <a:prstDash val="solid"/>
          </a:ln>
        </p:spPr>
      </p:sp>
      <p:sp>
        <p:nvSpPr>
          <p:cNvPr id="14" name="Text 12"/>
          <p:cNvSpPr/>
          <p:nvPr/>
        </p:nvSpPr>
        <p:spPr>
          <a:xfrm>
            <a:off x="1325880" y="3986784"/>
            <a:ext cx="9966960" cy="292608"/>
          </a:xfrm>
          <a:prstGeom prst="rect">
            <a:avLst/>
          </a:prstGeom>
          <a:noFill/>
          <a:ln/>
        </p:spPr>
        <p:txBody>
          <a:bodyPr wrap="square" lIns="0" tIns="0" rIns="0" bIns="0" rtlCol="0" anchor="ctr">
            <a:normAutofit/>
          </a:bodyPr>
          <a:lstStyle/>
          <a:p>
            <a:pPr indent="0" marL="0">
              <a:buNone/>
            </a:pPr>
            <a:r>
              <a:rPr lang="en-US" sz="1220" dirty="0">
                <a:solidFill>
                  <a:srgbClr val="334155"/>
                </a:solidFill>
              </a:rPr>
              <a:t>Mark Nigrini ve Benford Yasası literatürü; Sayıştay yayınlarında muhasebe verilerinde hile riski taraması tartışmaları.</a:t>
            </a:r>
            <a:endParaRPr lang="en-US" sz="1220" dirty="0"/>
          </a:p>
        </p:txBody>
      </p:sp>
      <p:sp>
        <p:nvSpPr>
          <p:cNvPr id="15" name="Shape 13"/>
          <p:cNvSpPr/>
          <p:nvPr/>
        </p:nvSpPr>
        <p:spPr>
          <a:xfrm>
            <a:off x="777240" y="4754880"/>
            <a:ext cx="411480" cy="0"/>
          </a:xfrm>
          <a:prstGeom prst="line">
            <a:avLst/>
          </a:prstGeom>
          <a:noFill/>
          <a:ln w="25400">
            <a:solidFill>
              <a:srgbClr val="D9294F"/>
            </a:solidFill>
            <a:prstDash val="solid"/>
          </a:ln>
        </p:spPr>
      </p:sp>
      <p:sp>
        <p:nvSpPr>
          <p:cNvPr id="16" name="Text 14"/>
          <p:cNvSpPr/>
          <p:nvPr/>
        </p:nvSpPr>
        <p:spPr>
          <a:xfrm>
            <a:off x="1325880" y="4645152"/>
            <a:ext cx="9966960" cy="292608"/>
          </a:xfrm>
          <a:prstGeom prst="rect">
            <a:avLst/>
          </a:prstGeom>
          <a:noFill/>
          <a:ln/>
        </p:spPr>
        <p:txBody>
          <a:bodyPr wrap="square" lIns="0" tIns="0" rIns="0" bIns="0" rtlCol="0" anchor="ctr">
            <a:normAutofit/>
          </a:bodyPr>
          <a:lstStyle/>
          <a:p>
            <a:pPr indent="0" marL="0">
              <a:buNone/>
            </a:pPr>
            <a:r>
              <a:rPr lang="en-US" sz="1220" dirty="0">
                <a:solidFill>
                  <a:srgbClr val="334155"/>
                </a:solidFill>
              </a:rPr>
              <a:t>ATO Dış Ticaret Analizi: Gmail’de bulunan 2023 tarihli ekler; ağ diyagramı ve interaktif ihracat haritası.</a:t>
            </a:r>
            <a:endParaRPr lang="en-US" sz="1220" dirty="0"/>
          </a:p>
        </p:txBody>
      </p:sp>
      <p:sp>
        <p:nvSpPr>
          <p:cNvPr id="17" name="Shape 15"/>
          <p:cNvSpPr/>
          <p:nvPr/>
        </p:nvSpPr>
        <p:spPr>
          <a:xfrm>
            <a:off x="1234440" y="5623560"/>
            <a:ext cx="9418320" cy="411480"/>
          </a:xfrm>
          <a:prstGeom prst="roundRect">
            <a:avLst>
              <a:gd name="adj" fmla="val 22222"/>
            </a:avLst>
          </a:prstGeom>
          <a:solidFill>
            <a:srgbClr val="DBF2EF"/>
          </a:solidFill>
          <a:ln w="12700">
            <a:solidFill>
              <a:srgbClr val="DBF2EF"/>
            </a:solidFill>
            <a:prstDash val="solid"/>
          </a:ln>
        </p:spPr>
      </p:sp>
      <p:sp>
        <p:nvSpPr>
          <p:cNvPr id="18" name="Text 16"/>
          <p:cNvSpPr/>
          <p:nvPr/>
        </p:nvSpPr>
        <p:spPr>
          <a:xfrm>
            <a:off x="1508760" y="5751576"/>
            <a:ext cx="8869680" cy="118872"/>
          </a:xfrm>
          <a:prstGeom prst="rect">
            <a:avLst/>
          </a:prstGeom>
          <a:noFill/>
          <a:ln/>
        </p:spPr>
        <p:txBody>
          <a:bodyPr wrap="square" lIns="0" tIns="0" rIns="0" bIns="0" rtlCol="0" anchor="ctr">
            <a:normAutofit/>
          </a:bodyPr>
          <a:lstStyle/>
          <a:p>
            <a:pPr algn="ctr" indent="0" marL="0">
              <a:buNone/>
            </a:pPr>
            <a:r>
              <a:rPr lang="en-US" sz="1050" b="1" dirty="0">
                <a:solidFill>
                  <a:srgbClr val="08747A"/>
                </a:solidFill>
              </a:rPr>
              <a:t>Not: teknik ayrıntılar ve Markdown/Jupyter hücre kullanımı uygulamalı bölümde gösterilecektir.</a:t>
            </a:r>
            <a:endParaRPr lang="en-US" sz="1050" dirty="0"/>
          </a:p>
        </p:txBody>
      </p:sp>
      <p:sp>
        <p:nvSpPr>
          <p:cNvPr id="19" name="Text 17"/>
          <p:cNvSpPr/>
          <p:nvPr/>
        </p:nvSpPr>
        <p:spPr>
          <a:xfrm>
            <a:off x="11475720" y="6437376"/>
            <a:ext cx="228600" cy="182880"/>
          </a:xfrm>
          <a:prstGeom prst="rect">
            <a:avLst/>
          </a:prstGeom>
          <a:noFill/>
          <a:ln/>
        </p:spPr>
        <p:txBody>
          <a:bodyPr wrap="square" lIns="0" tIns="0" rIns="0" bIns="0" rtlCol="0" anchor="ctr"/>
          <a:lstStyle/>
          <a:p>
            <a:pPr algn="r" indent="0" marL="0">
              <a:buNone/>
            </a:pPr>
            <a:r>
              <a:rPr lang="en-US" sz="800" dirty="0">
                <a:solidFill>
                  <a:srgbClr val="64748B"/>
                </a:solidFill>
              </a:rPr>
              <a:t>18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İç Denetim Koordinatörlüğü</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Denetimde Veri Analizi: Python, Jupyter ve Yeni Denetçi Kasları</dc:title>
  <dc:subject>İç denetimde veri analizi teknikleri - sözel açılış</dc:subject>
  <dc:creator>Suat ATAN</dc:creator>
  <cp:lastModifiedBy>Suat ATAN</cp:lastModifiedBy>
  <cp:revision>1</cp:revision>
  <dcterms:created xsi:type="dcterms:W3CDTF">2026-10-05T06:57:32Z</dcterms:created>
  <dcterms:modified xsi:type="dcterms:W3CDTF">2026-10-05T06:57:32Z</dcterms:modified>
</cp:coreProperties>
</file>